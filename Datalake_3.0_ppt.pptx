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4" d="100"/>
          <a:sy n="94" d="100"/>
        </p:scale>
        <p:origin x="55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88198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6949440" y="-1005840"/>
            <a:ext cx="3840480" cy="3840480"/>
          </a:xfrm>
          <a:prstGeom prst="ellipse">
            <a:avLst/>
          </a:prstGeom>
          <a:solidFill>
            <a:srgbClr val="001E3C"/>
          </a:solidFill>
          <a:ln w="12700">
            <a:solidFill>
              <a:srgbClr val="001E3C"/>
            </a:solidFill>
            <a:prstDash val="solid"/>
          </a:ln>
        </p:spPr>
      </p:sp>
      <p:sp>
        <p:nvSpPr>
          <p:cNvPr id="3" name="Shape 1"/>
          <p:cNvSpPr/>
          <p:nvPr/>
        </p:nvSpPr>
        <p:spPr>
          <a:xfrm>
            <a:off x="7406640" y="-365760"/>
            <a:ext cx="2377440" cy="2377440"/>
          </a:xfrm>
          <a:prstGeom prst="ellipse">
            <a:avLst/>
          </a:prstGeom>
          <a:solidFill>
            <a:srgbClr val="00D4AA">
              <a:alpha val="10000"/>
            </a:srgbClr>
          </a:solidFill>
          <a:ln w="12700">
            <a:solidFill>
              <a:srgbClr val="00D4AA">
                <a:alpha val="35000"/>
              </a:srgbClr>
            </a:solidFill>
            <a:prstDash val="solid"/>
          </a:ln>
        </p:spPr>
      </p:sp>
      <p:sp>
        <p:nvSpPr>
          <p:cNvPr id="4" name="Shape 2"/>
          <p:cNvSpPr/>
          <p:nvPr/>
        </p:nvSpPr>
        <p:spPr>
          <a:xfrm>
            <a:off x="-822960" y="3345688"/>
            <a:ext cx="2194560" cy="2194560"/>
          </a:xfrm>
          <a:prstGeom prst="ellipse">
            <a:avLst/>
          </a:prstGeom>
          <a:solidFill>
            <a:srgbClr val="4A9EFF">
              <a:alpha val="12000"/>
            </a:srgbClr>
          </a:solidFill>
          <a:ln w="12700">
            <a:solidFill>
              <a:srgbClr val="4A9EFF">
                <a:alpha val="40000"/>
              </a:srgbClr>
            </a:solidFill>
            <a:prstDash val="solid"/>
          </a:ln>
        </p:spPr>
      </p:sp>
      <p:sp>
        <p:nvSpPr>
          <p:cNvPr id="5" name="Shape 3"/>
          <p:cNvSpPr/>
          <p:nvPr/>
        </p:nvSpPr>
        <p:spPr>
          <a:xfrm>
            <a:off x="457200" y="384048"/>
            <a:ext cx="2560320" cy="274320"/>
          </a:xfrm>
          <a:prstGeom prst="roundRect">
            <a:avLst>
              <a:gd name="adj" fmla="val 23333"/>
            </a:avLst>
          </a:prstGeom>
          <a:solidFill>
            <a:srgbClr val="4A9EFF"/>
          </a:solidFill>
          <a:ln w="12700">
            <a:solidFill>
              <a:srgbClr val="4A9EFF"/>
            </a:solidFill>
            <a:prstDash val="solid"/>
          </a:ln>
        </p:spPr>
      </p:sp>
      <p:sp>
        <p:nvSpPr>
          <p:cNvPr id="6" name="Text 4"/>
          <p:cNvSpPr/>
          <p:nvPr/>
        </p:nvSpPr>
        <p:spPr>
          <a:xfrm>
            <a:off x="457200" y="384048"/>
            <a:ext cx="2560320" cy="274320"/>
          </a:xfrm>
          <a:prstGeom prst="rect">
            <a:avLst/>
          </a:prstGeom>
          <a:noFill/>
          <a:ln/>
        </p:spPr>
        <p:txBody>
          <a:bodyPr wrap="square" lIns="0" tIns="0" rIns="0" bIns="0" rtlCol="0" anchor="ctr"/>
          <a:lstStyle/>
          <a:p>
            <a:pPr marL="0" indent="0" algn="ctr">
              <a:buNone/>
            </a:pPr>
            <a:r>
              <a:rPr lang="en-US" sz="950" b="1" dirty="0">
                <a:solidFill>
                  <a:srgbClr val="0A1628"/>
                </a:solidFill>
              </a:rPr>
              <a:t>HACKATHON 7.0 SUBMISSION</a:t>
            </a:r>
            <a:endParaRPr lang="en-US" sz="950" dirty="0"/>
          </a:p>
        </p:txBody>
      </p:sp>
      <p:sp>
        <p:nvSpPr>
          <p:cNvPr id="7" name="Text 5"/>
          <p:cNvSpPr/>
          <p:nvPr/>
        </p:nvSpPr>
        <p:spPr>
          <a:xfrm>
            <a:off x="457200" y="868680"/>
            <a:ext cx="7772400" cy="1051560"/>
          </a:xfrm>
          <a:prstGeom prst="rect">
            <a:avLst/>
          </a:prstGeom>
          <a:noFill/>
          <a:ln/>
        </p:spPr>
        <p:txBody>
          <a:bodyPr wrap="square" lIns="0" tIns="0" rIns="0" bIns="0" rtlCol="0" anchor="ctr"/>
          <a:lstStyle/>
          <a:p>
            <a:pPr marL="0" indent="0">
              <a:buNone/>
            </a:pPr>
            <a:r>
              <a:rPr lang="en-US" sz="5000" b="1" dirty="0">
                <a:solidFill>
                  <a:srgbClr val="FFFFFF"/>
                </a:solidFill>
                <a:latin typeface="Calibri" pitchFamily="34" charset="0"/>
                <a:ea typeface="Calibri" pitchFamily="34" charset="-122"/>
                <a:cs typeface="Calibri" pitchFamily="34" charset="-120"/>
              </a:rPr>
              <a:t>Datalake 3.0</a:t>
            </a:r>
            <a:endParaRPr lang="en-US" sz="5000" dirty="0"/>
          </a:p>
        </p:txBody>
      </p:sp>
      <p:sp>
        <p:nvSpPr>
          <p:cNvPr id="8" name="Text 6"/>
          <p:cNvSpPr/>
          <p:nvPr/>
        </p:nvSpPr>
        <p:spPr>
          <a:xfrm>
            <a:off x="457200" y="1920240"/>
            <a:ext cx="6766560" cy="457200"/>
          </a:xfrm>
          <a:prstGeom prst="rect">
            <a:avLst/>
          </a:prstGeom>
          <a:noFill/>
          <a:ln/>
        </p:spPr>
        <p:txBody>
          <a:bodyPr wrap="square" lIns="0" tIns="0" rIns="0" bIns="0" rtlCol="0" anchor="ctr"/>
          <a:lstStyle/>
          <a:p>
            <a:pPr marL="0" indent="0">
              <a:buNone/>
            </a:pPr>
            <a:r>
              <a:rPr lang="en-US" sz="1700" dirty="0">
                <a:solidFill>
                  <a:srgbClr val="00D4AA"/>
                </a:solidFill>
              </a:rPr>
              <a:t>Offline Facial Recognition &amp; Liveness Detection System</a:t>
            </a:r>
            <a:endParaRPr lang="en-US" sz="1700" dirty="0"/>
          </a:p>
        </p:txBody>
      </p:sp>
      <p:sp>
        <p:nvSpPr>
          <p:cNvPr id="9" name="Shape 7"/>
          <p:cNvSpPr/>
          <p:nvPr/>
        </p:nvSpPr>
        <p:spPr>
          <a:xfrm>
            <a:off x="457200" y="2404872"/>
            <a:ext cx="6492240" cy="438912"/>
          </a:xfrm>
          <a:prstGeom prst="rect">
            <a:avLst/>
          </a:prstGeom>
          <a:solidFill>
            <a:srgbClr val="0D2137"/>
          </a:solidFill>
          <a:ln w="12700">
            <a:solidFill>
              <a:srgbClr val="00D4AA"/>
            </a:solidFill>
            <a:prstDash val="solid"/>
          </a:ln>
        </p:spPr>
      </p:sp>
      <p:sp>
        <p:nvSpPr>
          <p:cNvPr id="10" name="Text 8"/>
          <p:cNvSpPr/>
          <p:nvPr/>
        </p:nvSpPr>
        <p:spPr>
          <a:xfrm>
            <a:off x="457200" y="2395728"/>
            <a:ext cx="6492240" cy="438912"/>
          </a:xfrm>
          <a:prstGeom prst="rect">
            <a:avLst/>
          </a:prstGeom>
          <a:noFill/>
          <a:ln/>
        </p:spPr>
        <p:txBody>
          <a:bodyPr wrap="square" lIns="0" tIns="0" rIns="0" bIns="0" rtlCol="0" anchor="ctr"/>
          <a:lstStyle/>
          <a:p>
            <a:pPr marL="0" indent="0" algn="ctr">
              <a:buNone/>
            </a:pPr>
            <a:r>
              <a:rPr lang="en-US" sz="1250" i="1" dirty="0">
                <a:solidFill>
                  <a:srgbClr val="B8D0F0"/>
                </a:solidFill>
              </a:rPr>
              <a:t>"Secure Authentication in Zero-Network Environments"</a:t>
            </a:r>
            <a:endParaRPr lang="en-US" sz="1250" dirty="0"/>
          </a:p>
        </p:txBody>
      </p:sp>
      <p:sp>
        <p:nvSpPr>
          <p:cNvPr id="11" name="Shape 9"/>
          <p:cNvSpPr/>
          <p:nvPr/>
        </p:nvSpPr>
        <p:spPr>
          <a:xfrm>
            <a:off x="457200" y="2953512"/>
            <a:ext cx="6492240" cy="804672"/>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12" name="Text 10"/>
          <p:cNvSpPr/>
          <p:nvPr/>
        </p:nvSpPr>
        <p:spPr>
          <a:xfrm>
            <a:off x="530352" y="2990088"/>
            <a:ext cx="6355080" cy="713232"/>
          </a:xfrm>
          <a:prstGeom prst="rect">
            <a:avLst/>
          </a:prstGeom>
          <a:noFill/>
          <a:ln/>
        </p:spPr>
        <p:txBody>
          <a:bodyPr wrap="square" lIns="50800" tIns="50800" rIns="50800" bIns="50800" rtlCol="0" anchor="ctr"/>
          <a:lstStyle/>
          <a:p>
            <a:pPr marL="0" indent="0">
              <a:buNone/>
            </a:pPr>
            <a:r>
              <a:rPr lang="en-US" sz="1100" dirty="0">
                <a:solidFill>
                  <a:srgbClr val="C8DCF5"/>
                </a:solidFill>
              </a:rPr>
              <a:t>Datalake 3.0 is a fully offline identity verification platform built for environments with no internet access. It combines face recognition, liveness detection, encrypted storage, and tamper-evident audit logging — all running locally on-device without any cloud dependency.</a:t>
            </a:r>
            <a:endParaRPr lang="en-US" sz="1100" dirty="0"/>
          </a:p>
        </p:txBody>
      </p:sp>
      <p:sp>
        <p:nvSpPr>
          <p:cNvPr id="13" name="Text 11"/>
          <p:cNvSpPr/>
          <p:nvPr/>
        </p:nvSpPr>
        <p:spPr>
          <a:xfrm>
            <a:off x="457200" y="3848608"/>
            <a:ext cx="2194560" cy="237744"/>
          </a:xfrm>
          <a:prstGeom prst="rect">
            <a:avLst/>
          </a:prstGeom>
          <a:noFill/>
          <a:ln/>
        </p:spPr>
        <p:txBody>
          <a:bodyPr wrap="square" lIns="0" tIns="0" rIns="0" bIns="0" rtlCol="0" anchor="ctr"/>
          <a:lstStyle/>
          <a:p>
            <a:pPr marL="0" indent="0">
              <a:buNone/>
            </a:pPr>
            <a:r>
              <a:rPr lang="en-US" sz="1050" b="1" dirty="0">
                <a:solidFill>
                  <a:srgbClr val="6B8BB0"/>
                </a:solidFill>
              </a:rPr>
              <a:t>Team Members</a:t>
            </a:r>
            <a:endParaRPr lang="en-US" sz="1050" dirty="0"/>
          </a:p>
        </p:txBody>
      </p:sp>
      <p:sp>
        <p:nvSpPr>
          <p:cNvPr id="14" name="Shape 12"/>
          <p:cNvSpPr/>
          <p:nvPr/>
        </p:nvSpPr>
        <p:spPr>
          <a:xfrm>
            <a:off x="530352" y="4122928"/>
            <a:ext cx="109728" cy="99568"/>
          </a:xfrm>
          <a:prstGeom prst="ellipse">
            <a:avLst/>
          </a:prstGeom>
          <a:solidFill>
            <a:srgbClr val="00D4AA"/>
          </a:solidFill>
          <a:ln w="12700">
            <a:solidFill>
              <a:srgbClr val="00D4AA"/>
            </a:solidFill>
            <a:prstDash val="solid"/>
          </a:ln>
        </p:spPr>
      </p:sp>
      <p:sp>
        <p:nvSpPr>
          <p:cNvPr id="15" name="Text 13"/>
          <p:cNvSpPr/>
          <p:nvPr/>
        </p:nvSpPr>
        <p:spPr>
          <a:xfrm>
            <a:off x="731520" y="4049776"/>
            <a:ext cx="2286000" cy="201168"/>
          </a:xfrm>
          <a:prstGeom prst="rect">
            <a:avLst/>
          </a:prstGeom>
          <a:noFill/>
          <a:ln/>
        </p:spPr>
        <p:txBody>
          <a:bodyPr wrap="square" lIns="0" tIns="0" rIns="0" bIns="0" rtlCol="0" anchor="ctr"/>
          <a:lstStyle/>
          <a:p>
            <a:pPr marL="0" indent="0">
              <a:buNone/>
            </a:pPr>
            <a:r>
              <a:rPr lang="en-US" sz="1200" dirty="0" smtClean="0">
                <a:solidFill>
                  <a:srgbClr val="FFFFFF"/>
                </a:solidFill>
              </a:rPr>
              <a:t>Joeshini</a:t>
            </a:r>
            <a:endParaRPr lang="en-US" sz="1200" dirty="0"/>
          </a:p>
        </p:txBody>
      </p:sp>
      <p:sp>
        <p:nvSpPr>
          <p:cNvPr id="17" name="Text 15"/>
          <p:cNvSpPr/>
          <p:nvPr/>
        </p:nvSpPr>
        <p:spPr>
          <a:xfrm>
            <a:off x="731520" y="4313936"/>
            <a:ext cx="2286000" cy="201168"/>
          </a:xfrm>
          <a:prstGeom prst="rect">
            <a:avLst/>
          </a:prstGeom>
          <a:noFill/>
          <a:ln/>
        </p:spPr>
        <p:txBody>
          <a:bodyPr wrap="square" lIns="0" tIns="0" rIns="0" bIns="0" rtlCol="0" anchor="ctr"/>
          <a:lstStyle/>
          <a:p>
            <a:pPr marL="0" indent="0">
              <a:buNone/>
            </a:pPr>
            <a:r>
              <a:rPr lang="en-US" sz="1200" dirty="0" smtClean="0">
                <a:solidFill>
                  <a:srgbClr val="FFFFFF"/>
                </a:solidFill>
              </a:rPr>
              <a:t>Hasini V</a:t>
            </a:r>
            <a:endParaRPr lang="en-US" sz="1200" dirty="0"/>
          </a:p>
        </p:txBody>
      </p:sp>
      <p:sp>
        <p:nvSpPr>
          <p:cNvPr id="19" name="Text 17"/>
          <p:cNvSpPr/>
          <p:nvPr/>
        </p:nvSpPr>
        <p:spPr>
          <a:xfrm>
            <a:off x="731520" y="4582160"/>
            <a:ext cx="2286000" cy="201168"/>
          </a:xfrm>
          <a:prstGeom prst="rect">
            <a:avLst/>
          </a:prstGeom>
          <a:noFill/>
          <a:ln/>
        </p:spPr>
        <p:txBody>
          <a:bodyPr wrap="square" lIns="0" tIns="0" rIns="0" bIns="0" rtlCol="0" anchor="ctr"/>
          <a:lstStyle/>
          <a:p>
            <a:pPr marL="0" indent="0">
              <a:buNone/>
            </a:pPr>
            <a:r>
              <a:rPr lang="en-US" sz="1200" dirty="0" smtClean="0">
                <a:solidFill>
                  <a:srgbClr val="FFFFFF"/>
                </a:solidFill>
              </a:rPr>
              <a:t>Deepshikha Jain</a:t>
            </a:r>
            <a:endParaRPr lang="en-US" sz="1200" dirty="0"/>
          </a:p>
        </p:txBody>
      </p:sp>
      <p:sp>
        <p:nvSpPr>
          <p:cNvPr id="20" name="Shape 18"/>
          <p:cNvSpPr/>
          <p:nvPr/>
        </p:nvSpPr>
        <p:spPr>
          <a:xfrm>
            <a:off x="7040880" y="1051560"/>
            <a:ext cx="1828800" cy="1828800"/>
          </a:xfrm>
          <a:prstGeom prst="rect">
            <a:avLst/>
          </a:prstGeom>
          <a:solidFill>
            <a:srgbClr val="061525"/>
          </a:solidFill>
          <a:ln w="19050">
            <a:solidFill>
              <a:srgbClr val="00D4AA"/>
            </a:solidFill>
            <a:prstDash val="solid"/>
          </a:ln>
        </p:spPr>
      </p:sp>
      <p:sp>
        <p:nvSpPr>
          <p:cNvPr id="21" name="Shape 19"/>
          <p:cNvSpPr/>
          <p:nvPr/>
        </p:nvSpPr>
        <p:spPr>
          <a:xfrm>
            <a:off x="7040880" y="1051560"/>
            <a:ext cx="201168" cy="41148"/>
          </a:xfrm>
          <a:prstGeom prst="rect">
            <a:avLst/>
          </a:prstGeom>
          <a:solidFill>
            <a:srgbClr val="00D4AA"/>
          </a:solidFill>
          <a:ln w="12700">
            <a:solidFill>
              <a:srgbClr val="00D4AA"/>
            </a:solidFill>
            <a:prstDash val="solid"/>
          </a:ln>
        </p:spPr>
      </p:sp>
      <p:sp>
        <p:nvSpPr>
          <p:cNvPr id="22" name="Shape 20"/>
          <p:cNvSpPr/>
          <p:nvPr/>
        </p:nvSpPr>
        <p:spPr>
          <a:xfrm>
            <a:off x="7040880" y="1051560"/>
            <a:ext cx="41148" cy="201168"/>
          </a:xfrm>
          <a:prstGeom prst="rect">
            <a:avLst/>
          </a:prstGeom>
          <a:solidFill>
            <a:srgbClr val="00D4AA"/>
          </a:solidFill>
          <a:ln w="12700">
            <a:solidFill>
              <a:srgbClr val="00D4AA"/>
            </a:solidFill>
            <a:prstDash val="solid"/>
          </a:ln>
        </p:spPr>
      </p:sp>
      <p:sp>
        <p:nvSpPr>
          <p:cNvPr id="23" name="Shape 21"/>
          <p:cNvSpPr/>
          <p:nvPr/>
        </p:nvSpPr>
        <p:spPr>
          <a:xfrm>
            <a:off x="8485632" y="1051560"/>
            <a:ext cx="201168" cy="41148"/>
          </a:xfrm>
          <a:prstGeom prst="rect">
            <a:avLst/>
          </a:prstGeom>
          <a:solidFill>
            <a:srgbClr val="00D4AA"/>
          </a:solidFill>
          <a:ln w="12700">
            <a:solidFill>
              <a:srgbClr val="00D4AA"/>
            </a:solidFill>
            <a:prstDash val="solid"/>
          </a:ln>
        </p:spPr>
      </p:sp>
      <p:sp>
        <p:nvSpPr>
          <p:cNvPr id="24" name="Shape 22"/>
          <p:cNvSpPr/>
          <p:nvPr/>
        </p:nvSpPr>
        <p:spPr>
          <a:xfrm>
            <a:off x="8485632" y="1051560"/>
            <a:ext cx="41148" cy="201168"/>
          </a:xfrm>
          <a:prstGeom prst="rect">
            <a:avLst/>
          </a:prstGeom>
          <a:solidFill>
            <a:srgbClr val="00D4AA"/>
          </a:solidFill>
          <a:ln w="12700">
            <a:solidFill>
              <a:srgbClr val="00D4AA"/>
            </a:solidFill>
            <a:prstDash val="solid"/>
          </a:ln>
        </p:spPr>
      </p:sp>
      <p:sp>
        <p:nvSpPr>
          <p:cNvPr id="25" name="Shape 23"/>
          <p:cNvSpPr/>
          <p:nvPr/>
        </p:nvSpPr>
        <p:spPr>
          <a:xfrm>
            <a:off x="7040880" y="2496312"/>
            <a:ext cx="201168" cy="41148"/>
          </a:xfrm>
          <a:prstGeom prst="rect">
            <a:avLst/>
          </a:prstGeom>
          <a:solidFill>
            <a:srgbClr val="00D4AA"/>
          </a:solidFill>
          <a:ln w="12700">
            <a:solidFill>
              <a:srgbClr val="00D4AA"/>
            </a:solidFill>
            <a:prstDash val="solid"/>
          </a:ln>
        </p:spPr>
      </p:sp>
      <p:sp>
        <p:nvSpPr>
          <p:cNvPr id="26" name="Shape 24"/>
          <p:cNvSpPr/>
          <p:nvPr/>
        </p:nvSpPr>
        <p:spPr>
          <a:xfrm>
            <a:off x="7040880" y="2496312"/>
            <a:ext cx="41148" cy="201168"/>
          </a:xfrm>
          <a:prstGeom prst="rect">
            <a:avLst/>
          </a:prstGeom>
          <a:solidFill>
            <a:srgbClr val="00D4AA"/>
          </a:solidFill>
          <a:ln w="12700">
            <a:solidFill>
              <a:srgbClr val="00D4AA"/>
            </a:solidFill>
            <a:prstDash val="solid"/>
          </a:ln>
        </p:spPr>
      </p:sp>
      <p:sp>
        <p:nvSpPr>
          <p:cNvPr id="27" name="Shape 25"/>
          <p:cNvSpPr/>
          <p:nvPr/>
        </p:nvSpPr>
        <p:spPr>
          <a:xfrm>
            <a:off x="8485632" y="2496312"/>
            <a:ext cx="201168" cy="41148"/>
          </a:xfrm>
          <a:prstGeom prst="rect">
            <a:avLst/>
          </a:prstGeom>
          <a:solidFill>
            <a:srgbClr val="00D4AA"/>
          </a:solidFill>
          <a:ln w="12700">
            <a:solidFill>
              <a:srgbClr val="00D4AA"/>
            </a:solidFill>
            <a:prstDash val="solid"/>
          </a:ln>
        </p:spPr>
      </p:sp>
      <p:sp>
        <p:nvSpPr>
          <p:cNvPr id="28" name="Shape 26"/>
          <p:cNvSpPr/>
          <p:nvPr/>
        </p:nvSpPr>
        <p:spPr>
          <a:xfrm>
            <a:off x="8485632" y="2496312"/>
            <a:ext cx="41148" cy="201168"/>
          </a:xfrm>
          <a:prstGeom prst="rect">
            <a:avLst/>
          </a:prstGeom>
          <a:solidFill>
            <a:srgbClr val="00D4AA"/>
          </a:solidFill>
          <a:ln w="12700">
            <a:solidFill>
              <a:srgbClr val="00D4AA"/>
            </a:solidFill>
            <a:prstDash val="solid"/>
          </a:ln>
        </p:spPr>
      </p:sp>
      <p:sp>
        <p:nvSpPr>
          <p:cNvPr id="29" name="Text 27"/>
          <p:cNvSpPr/>
          <p:nvPr/>
        </p:nvSpPr>
        <p:spPr>
          <a:xfrm>
            <a:off x="7040880" y="1572768"/>
            <a:ext cx="1828800" cy="502920"/>
          </a:xfrm>
          <a:prstGeom prst="rect">
            <a:avLst/>
          </a:prstGeom>
          <a:noFill/>
          <a:ln/>
        </p:spPr>
        <p:txBody>
          <a:bodyPr wrap="square" lIns="0" tIns="0" rIns="0" bIns="0" rtlCol="0" anchor="ctr"/>
          <a:lstStyle/>
          <a:p>
            <a:pPr marL="0" indent="0" algn="ctr">
              <a:buNone/>
            </a:pPr>
            <a:r>
              <a:rPr lang="en-US" sz="1300" b="1" dirty="0">
                <a:solidFill>
                  <a:srgbClr val="00D4AA"/>
                </a:solidFill>
              </a:rPr>
              <a:t>SCANNING</a:t>
            </a:r>
            <a:endParaRPr lang="en-US" sz="1300" dirty="0"/>
          </a:p>
          <a:p>
            <a:pPr marL="0" indent="0" algn="ctr">
              <a:buNone/>
            </a:pPr>
            <a:r>
              <a:rPr lang="en-US" sz="1300" b="1" dirty="0">
                <a:solidFill>
                  <a:srgbClr val="00D4AA"/>
                </a:solidFill>
              </a:rPr>
              <a:t>FACE...</a:t>
            </a:r>
            <a:endParaRPr lang="en-US" sz="1300" dirty="0"/>
          </a:p>
        </p:txBody>
      </p:sp>
      <p:sp>
        <p:nvSpPr>
          <p:cNvPr id="30" name="Shape 28"/>
          <p:cNvSpPr/>
          <p:nvPr/>
        </p:nvSpPr>
        <p:spPr>
          <a:xfrm>
            <a:off x="7086600" y="1947672"/>
            <a:ext cx="1737360" cy="18288"/>
          </a:xfrm>
          <a:prstGeom prst="rect">
            <a:avLst/>
          </a:prstGeom>
          <a:solidFill>
            <a:srgbClr val="00D4AA">
              <a:alpha val="70000"/>
            </a:srgbClr>
          </a:solidFill>
          <a:ln w="12700">
            <a:solidFill>
              <a:srgbClr val="00D4AA"/>
            </a:solidFill>
            <a:prstDash val="solid"/>
          </a:ln>
        </p:spPr>
      </p:sp>
      <p:sp>
        <p:nvSpPr>
          <p:cNvPr id="31" name="Text 29"/>
          <p:cNvSpPr/>
          <p:nvPr/>
        </p:nvSpPr>
        <p:spPr>
          <a:xfrm>
            <a:off x="7040880" y="2514600"/>
            <a:ext cx="1828800" cy="201168"/>
          </a:xfrm>
          <a:prstGeom prst="rect">
            <a:avLst/>
          </a:prstGeom>
          <a:noFill/>
          <a:ln/>
        </p:spPr>
        <p:txBody>
          <a:bodyPr wrap="square" lIns="0" tIns="0" rIns="0" bIns="0" rtlCol="0" anchor="ctr"/>
          <a:lstStyle/>
          <a:p>
            <a:pPr marL="0" indent="0" algn="ctr">
              <a:buNone/>
            </a:pPr>
            <a:r>
              <a:rPr lang="en-US" sz="900" dirty="0">
                <a:solidFill>
                  <a:srgbClr val="00C896"/>
                </a:solidFill>
              </a:rPr>
              <a:t>✓ AUTHENTICATED</a:t>
            </a:r>
            <a:endParaRPr lang="en-US" sz="900" dirty="0"/>
          </a:p>
        </p:txBody>
      </p:sp>
      <p:sp>
        <p:nvSpPr>
          <p:cNvPr id="32" name="Text 17"/>
          <p:cNvSpPr/>
          <p:nvPr/>
        </p:nvSpPr>
        <p:spPr>
          <a:xfrm>
            <a:off x="731520" y="4850384"/>
            <a:ext cx="2286000" cy="201168"/>
          </a:xfrm>
          <a:prstGeom prst="rect">
            <a:avLst/>
          </a:prstGeom>
          <a:noFill/>
          <a:ln/>
        </p:spPr>
        <p:txBody>
          <a:bodyPr wrap="square" lIns="0" tIns="0" rIns="0" bIns="0" rtlCol="0" anchor="ctr"/>
          <a:lstStyle/>
          <a:p>
            <a:pPr marL="0" indent="0">
              <a:buNone/>
            </a:pPr>
            <a:r>
              <a:rPr lang="en-US" sz="1200" dirty="0" smtClean="0">
                <a:solidFill>
                  <a:srgbClr val="FFFFFF"/>
                </a:solidFill>
              </a:rPr>
              <a:t>Chandana </a:t>
            </a:r>
            <a:r>
              <a:rPr lang="en-US" sz="1200" dirty="0">
                <a:solidFill>
                  <a:srgbClr val="FFFFFF"/>
                </a:solidFill>
              </a:rPr>
              <a:t>S</a:t>
            </a:r>
            <a:r>
              <a:rPr lang="en-US" sz="1200" dirty="0" smtClean="0">
                <a:solidFill>
                  <a:srgbClr val="FFFFFF"/>
                </a:solidFill>
              </a:rPr>
              <a:t>rinivasan</a:t>
            </a:r>
            <a:endParaRPr lang="en-US" sz="1200" dirty="0"/>
          </a:p>
        </p:txBody>
      </p:sp>
      <p:sp>
        <p:nvSpPr>
          <p:cNvPr id="33" name="Shape 12"/>
          <p:cNvSpPr/>
          <p:nvPr/>
        </p:nvSpPr>
        <p:spPr>
          <a:xfrm>
            <a:off x="530352" y="4377944"/>
            <a:ext cx="109728" cy="99568"/>
          </a:xfrm>
          <a:prstGeom prst="ellipse">
            <a:avLst/>
          </a:prstGeom>
          <a:solidFill>
            <a:srgbClr val="00D4AA"/>
          </a:solidFill>
          <a:ln w="12700">
            <a:solidFill>
              <a:srgbClr val="00D4AA"/>
            </a:solidFill>
            <a:prstDash val="solid"/>
          </a:ln>
        </p:spPr>
      </p:sp>
      <p:sp>
        <p:nvSpPr>
          <p:cNvPr id="35" name="Shape 12"/>
          <p:cNvSpPr/>
          <p:nvPr/>
        </p:nvSpPr>
        <p:spPr>
          <a:xfrm>
            <a:off x="530352" y="4643628"/>
            <a:ext cx="109728" cy="99568"/>
          </a:xfrm>
          <a:prstGeom prst="ellipse">
            <a:avLst/>
          </a:prstGeom>
          <a:solidFill>
            <a:srgbClr val="00D4AA"/>
          </a:solidFill>
          <a:ln w="12700">
            <a:solidFill>
              <a:srgbClr val="00D4AA"/>
            </a:solidFill>
            <a:prstDash val="solid"/>
          </a:ln>
        </p:spPr>
      </p:sp>
      <p:sp>
        <p:nvSpPr>
          <p:cNvPr id="36" name="Shape 12"/>
          <p:cNvSpPr/>
          <p:nvPr/>
        </p:nvSpPr>
        <p:spPr>
          <a:xfrm>
            <a:off x="530352" y="4909312"/>
            <a:ext cx="109728" cy="99568"/>
          </a:xfrm>
          <a:prstGeom prst="ellipse">
            <a:avLst/>
          </a:prstGeom>
          <a:solidFill>
            <a:srgbClr val="00D4AA"/>
          </a:solidFill>
          <a:ln w="12700">
            <a:solidFill>
              <a:srgbClr val="00D4A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2240"/>
        </a:solidFill>
        <a:effectLst/>
      </p:bgPr>
    </p:bg>
    <p:spTree>
      <p:nvGrpSpPr>
        <p:cNvPr id="1" name=""/>
        <p:cNvGrpSpPr/>
        <p:nvPr/>
      </p:nvGrpSpPr>
      <p:grpSpPr>
        <a:xfrm>
          <a:off x="0" y="0"/>
          <a:ext cx="0" cy="0"/>
          <a:chOff x="0" y="0"/>
          <a:chExt cx="0" cy="0"/>
        </a:xfrm>
      </p:grpSpPr>
      <p:sp>
        <p:nvSpPr>
          <p:cNvPr id="2" name="Shape 0"/>
          <p:cNvSpPr/>
          <p:nvPr/>
        </p:nvSpPr>
        <p:spPr>
          <a:xfrm>
            <a:off x="365760" y="256032"/>
            <a:ext cx="50292" cy="868680"/>
          </a:xfrm>
          <a:prstGeom prst="rect">
            <a:avLst/>
          </a:prstGeom>
          <a:solidFill>
            <a:srgbClr val="FF6B6B"/>
          </a:solidFill>
          <a:ln w="12700">
            <a:solidFill>
              <a:srgbClr val="FF6B6B"/>
            </a:solidFill>
            <a:prstDash val="solid"/>
          </a:ln>
        </p:spPr>
      </p:sp>
      <p:sp>
        <p:nvSpPr>
          <p:cNvPr id="3" name="Text 1"/>
          <p:cNvSpPr/>
          <p:nvPr/>
        </p:nvSpPr>
        <p:spPr>
          <a:xfrm>
            <a:off x="548640" y="237744"/>
            <a:ext cx="8229600" cy="320040"/>
          </a:xfrm>
          <a:prstGeom prst="rect">
            <a:avLst/>
          </a:prstGeom>
          <a:noFill/>
          <a:ln/>
        </p:spPr>
        <p:txBody>
          <a:bodyPr wrap="square" lIns="0" tIns="0" rIns="0" bIns="0" rtlCol="0" anchor="ctr"/>
          <a:lstStyle/>
          <a:p>
            <a:pPr marL="0" indent="0">
              <a:buNone/>
            </a:pPr>
            <a:r>
              <a:rPr lang="en-US" sz="1050" b="1" dirty="0">
                <a:solidFill>
                  <a:srgbClr val="FF6B6B"/>
                </a:solidFill>
              </a:rPr>
              <a:t>Problem Statement</a:t>
            </a:r>
            <a:endParaRPr lang="en-US" sz="1050" dirty="0"/>
          </a:p>
        </p:txBody>
      </p:sp>
      <p:sp>
        <p:nvSpPr>
          <p:cNvPr id="4" name="Text 2"/>
          <p:cNvSpPr/>
          <p:nvPr/>
        </p:nvSpPr>
        <p:spPr>
          <a:xfrm>
            <a:off x="548640" y="530352"/>
            <a:ext cx="8321040" cy="566928"/>
          </a:xfrm>
          <a:prstGeom prst="rect">
            <a:avLst/>
          </a:prstGeom>
          <a:noFill/>
          <a:ln/>
        </p:spPr>
        <p:txBody>
          <a:bodyPr wrap="square" lIns="0" tIns="0" rIns="0" bIns="0"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Challenges in Zero-Network Environments</a:t>
            </a:r>
            <a:endParaRPr lang="en-US" sz="2500" dirty="0"/>
          </a:p>
        </p:txBody>
      </p:sp>
      <p:sp>
        <p:nvSpPr>
          <p:cNvPr id="5" name="Shape 3"/>
          <p:cNvSpPr/>
          <p:nvPr/>
        </p:nvSpPr>
        <p:spPr>
          <a:xfrm>
            <a:off x="365760" y="1234440"/>
            <a:ext cx="8412480" cy="658368"/>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6" name="Text 4"/>
          <p:cNvSpPr/>
          <p:nvPr/>
        </p:nvSpPr>
        <p:spPr>
          <a:xfrm>
            <a:off x="411480" y="1261872"/>
            <a:ext cx="8321040" cy="603504"/>
          </a:xfrm>
          <a:prstGeom prst="rect">
            <a:avLst/>
          </a:prstGeom>
          <a:noFill/>
          <a:ln/>
        </p:spPr>
        <p:txBody>
          <a:bodyPr wrap="square" lIns="76200" tIns="76200" rIns="76200" bIns="76200" rtlCol="0" anchor="t"/>
          <a:lstStyle/>
          <a:p>
            <a:pPr marL="0" indent="0" algn="l">
              <a:buNone/>
            </a:pPr>
            <a:r>
              <a:rPr lang="en-US" sz="1150" dirty="0">
                <a:solidFill>
                  <a:srgbClr val="C8DCF5"/>
                </a:solidFill>
                <a:latin typeface="Calibri" pitchFamily="34" charset="0"/>
                <a:ea typeface="Calibri" pitchFamily="34" charset="-122"/>
                <a:cs typeface="Calibri" pitchFamily="34" charset="-120"/>
              </a:rPr>
              <a:t>Most modern authentication systems are designed with the assumption of constant internet connectivity. They rely on cloud servers to verify identities, store credentials, and log access events. This makes them entirely unusable in remote, industrial, or emergency environments where network access is unavailable or unreliable.</a:t>
            </a:r>
            <a:endParaRPr lang="en-US" sz="1150" dirty="0"/>
          </a:p>
        </p:txBody>
      </p:sp>
      <p:sp>
        <p:nvSpPr>
          <p:cNvPr id="7" name="Shape 5"/>
          <p:cNvSpPr/>
          <p:nvPr/>
        </p:nvSpPr>
        <p:spPr>
          <a:xfrm>
            <a:off x="365760" y="2011680"/>
            <a:ext cx="4023360" cy="2697480"/>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8" name="Shape 6"/>
          <p:cNvSpPr/>
          <p:nvPr/>
        </p:nvSpPr>
        <p:spPr>
          <a:xfrm>
            <a:off x="365760" y="2011680"/>
            <a:ext cx="50292" cy="2697480"/>
          </a:xfrm>
          <a:prstGeom prst="rect">
            <a:avLst/>
          </a:prstGeom>
          <a:solidFill>
            <a:srgbClr val="FF6B6B"/>
          </a:solidFill>
          <a:ln w="12700">
            <a:solidFill>
              <a:srgbClr val="FF6B6B"/>
            </a:solidFill>
            <a:prstDash val="solid"/>
          </a:ln>
        </p:spPr>
      </p:sp>
      <p:sp>
        <p:nvSpPr>
          <p:cNvPr id="9" name="Text 7"/>
          <p:cNvSpPr/>
          <p:nvPr/>
        </p:nvSpPr>
        <p:spPr>
          <a:xfrm>
            <a:off x="530352" y="2084832"/>
            <a:ext cx="3749040" cy="292608"/>
          </a:xfrm>
          <a:prstGeom prst="rect">
            <a:avLst/>
          </a:prstGeom>
          <a:noFill/>
          <a:ln/>
        </p:spPr>
        <p:txBody>
          <a:bodyPr wrap="square" lIns="0" tIns="0" rIns="0" bIns="0" rtlCol="0" anchor="ctr"/>
          <a:lstStyle/>
          <a:p>
            <a:pPr marL="0" indent="0">
              <a:buNone/>
            </a:pPr>
            <a:r>
              <a:rPr lang="en-US" sz="1250" b="1" dirty="0">
                <a:solidFill>
                  <a:srgbClr val="FF6B6B"/>
                </a:solidFill>
              </a:rPr>
              <a:t>Current Systems Require:</a:t>
            </a:r>
            <a:endParaRPr lang="en-US" sz="1250" dirty="0"/>
          </a:p>
        </p:txBody>
      </p:sp>
      <p:sp>
        <p:nvSpPr>
          <p:cNvPr id="10" name="Shape 8"/>
          <p:cNvSpPr/>
          <p:nvPr/>
        </p:nvSpPr>
        <p:spPr>
          <a:xfrm>
            <a:off x="530352" y="2423160"/>
            <a:ext cx="118872" cy="126296"/>
          </a:xfrm>
          <a:prstGeom prst="rect">
            <a:avLst/>
          </a:prstGeom>
          <a:solidFill>
            <a:srgbClr val="FF6B6B"/>
          </a:solidFill>
          <a:ln w="12700">
            <a:solidFill>
              <a:srgbClr val="FF6B6B"/>
            </a:solidFill>
            <a:prstDash val="solid"/>
          </a:ln>
        </p:spPr>
      </p:sp>
      <p:sp>
        <p:nvSpPr>
          <p:cNvPr id="11" name="Text 9"/>
          <p:cNvSpPr/>
          <p:nvPr/>
        </p:nvSpPr>
        <p:spPr>
          <a:xfrm>
            <a:off x="731520" y="2359152"/>
            <a:ext cx="3520440" cy="219456"/>
          </a:xfrm>
          <a:prstGeom prst="rect">
            <a:avLst/>
          </a:prstGeom>
          <a:noFill/>
          <a:ln/>
        </p:spPr>
        <p:txBody>
          <a:bodyPr wrap="square" lIns="0" tIns="0" rIns="0" bIns="0" rtlCol="0" anchor="ctr"/>
          <a:lstStyle/>
          <a:p>
            <a:pPr marL="0" indent="0">
              <a:buNone/>
            </a:pPr>
            <a:r>
              <a:rPr lang="en-US" sz="1200" dirty="0">
                <a:solidFill>
                  <a:srgbClr val="B8D0F0"/>
                </a:solidFill>
              </a:rPr>
              <a:t>Internet Connectivity</a:t>
            </a:r>
            <a:endParaRPr lang="en-US" sz="1200" dirty="0"/>
          </a:p>
        </p:txBody>
      </p:sp>
      <p:sp>
        <p:nvSpPr>
          <p:cNvPr id="13" name="Text 11"/>
          <p:cNvSpPr/>
          <p:nvPr/>
        </p:nvSpPr>
        <p:spPr>
          <a:xfrm>
            <a:off x="731520" y="2668327"/>
            <a:ext cx="3520440" cy="219456"/>
          </a:xfrm>
          <a:prstGeom prst="rect">
            <a:avLst/>
          </a:prstGeom>
          <a:noFill/>
          <a:ln/>
        </p:spPr>
        <p:txBody>
          <a:bodyPr wrap="square" lIns="0" tIns="0" rIns="0" bIns="0" rtlCol="0" anchor="ctr"/>
          <a:lstStyle/>
          <a:p>
            <a:pPr marL="0" indent="0">
              <a:buNone/>
            </a:pPr>
            <a:r>
              <a:rPr lang="en-US" sz="1200" dirty="0">
                <a:solidFill>
                  <a:srgbClr val="B8D0F0"/>
                </a:solidFill>
              </a:rPr>
              <a:t>Cloud-Based Verification</a:t>
            </a:r>
            <a:endParaRPr lang="en-US" sz="1200" dirty="0"/>
          </a:p>
        </p:txBody>
      </p:sp>
      <p:sp>
        <p:nvSpPr>
          <p:cNvPr id="15" name="Text 13"/>
          <p:cNvSpPr/>
          <p:nvPr/>
        </p:nvSpPr>
        <p:spPr>
          <a:xfrm>
            <a:off x="731520" y="2977502"/>
            <a:ext cx="3520440" cy="219456"/>
          </a:xfrm>
          <a:prstGeom prst="rect">
            <a:avLst/>
          </a:prstGeom>
          <a:noFill/>
          <a:ln/>
        </p:spPr>
        <p:txBody>
          <a:bodyPr wrap="square" lIns="0" tIns="0" rIns="0" bIns="0" rtlCol="0" anchor="ctr"/>
          <a:lstStyle/>
          <a:p>
            <a:pPr marL="0" indent="0">
              <a:buNone/>
            </a:pPr>
            <a:r>
              <a:rPr lang="en-US" sz="1200" dirty="0">
                <a:solidFill>
                  <a:srgbClr val="B8D0F0"/>
                </a:solidFill>
              </a:rPr>
              <a:t>Continuous Server Access</a:t>
            </a:r>
            <a:endParaRPr lang="en-US" sz="1200" dirty="0"/>
          </a:p>
        </p:txBody>
      </p:sp>
      <p:sp>
        <p:nvSpPr>
          <p:cNvPr id="16" name="Text 14"/>
          <p:cNvSpPr/>
          <p:nvPr/>
        </p:nvSpPr>
        <p:spPr>
          <a:xfrm>
            <a:off x="530352" y="3317551"/>
            <a:ext cx="3749040" cy="274320"/>
          </a:xfrm>
          <a:prstGeom prst="rect">
            <a:avLst/>
          </a:prstGeom>
          <a:noFill/>
          <a:ln/>
        </p:spPr>
        <p:txBody>
          <a:bodyPr wrap="square" lIns="0" tIns="0" rIns="0" bIns="0" rtlCol="0" anchor="ctr"/>
          <a:lstStyle/>
          <a:p>
            <a:pPr marL="0" indent="0">
              <a:buNone/>
            </a:pPr>
            <a:r>
              <a:rPr lang="en-US" sz="1250" b="1" dirty="0">
                <a:solidFill>
                  <a:srgbClr val="FF6B6B"/>
                </a:solidFill>
              </a:rPr>
              <a:t>Deployment Challenges:</a:t>
            </a:r>
            <a:endParaRPr lang="en-US" sz="1250" dirty="0"/>
          </a:p>
        </p:txBody>
      </p:sp>
      <p:sp>
        <p:nvSpPr>
          <p:cNvPr id="17" name="Shape 15"/>
          <p:cNvSpPr/>
          <p:nvPr/>
        </p:nvSpPr>
        <p:spPr>
          <a:xfrm>
            <a:off x="548640" y="3602736"/>
            <a:ext cx="100584" cy="100584"/>
          </a:xfrm>
          <a:prstGeom prst="ellipse">
            <a:avLst/>
          </a:prstGeom>
          <a:solidFill>
            <a:srgbClr val="6B8BB0"/>
          </a:solidFill>
          <a:ln w="12700">
            <a:solidFill>
              <a:srgbClr val="6B8BB0"/>
            </a:solidFill>
            <a:prstDash val="solid"/>
          </a:ln>
        </p:spPr>
      </p:sp>
      <p:sp>
        <p:nvSpPr>
          <p:cNvPr id="18" name="Text 16"/>
          <p:cNvSpPr/>
          <p:nvPr/>
        </p:nvSpPr>
        <p:spPr>
          <a:xfrm>
            <a:off x="731520" y="3575304"/>
            <a:ext cx="3520440" cy="219456"/>
          </a:xfrm>
          <a:prstGeom prst="rect">
            <a:avLst/>
          </a:prstGeom>
          <a:noFill/>
          <a:ln/>
        </p:spPr>
        <p:txBody>
          <a:bodyPr wrap="square" lIns="0" tIns="0" rIns="0" bIns="0" rtlCol="0" anchor="ctr"/>
          <a:lstStyle/>
          <a:p>
            <a:pPr marL="0" indent="0">
              <a:buNone/>
            </a:pPr>
            <a:r>
              <a:rPr lang="en-US" sz="1150" dirty="0">
                <a:solidFill>
                  <a:srgbClr val="B8D0F0"/>
                </a:solidFill>
              </a:rPr>
              <a:t>Remote Deployment Areas</a:t>
            </a:r>
            <a:endParaRPr lang="en-US" sz="1150" dirty="0"/>
          </a:p>
        </p:txBody>
      </p:sp>
      <p:sp>
        <p:nvSpPr>
          <p:cNvPr id="19" name="Shape 17"/>
          <p:cNvSpPr/>
          <p:nvPr/>
        </p:nvSpPr>
        <p:spPr>
          <a:xfrm>
            <a:off x="548640" y="3886200"/>
            <a:ext cx="100584" cy="100584"/>
          </a:xfrm>
          <a:prstGeom prst="ellipse">
            <a:avLst/>
          </a:prstGeom>
          <a:solidFill>
            <a:srgbClr val="6B8BB0"/>
          </a:solidFill>
          <a:ln w="12700">
            <a:solidFill>
              <a:srgbClr val="6B8BB0"/>
            </a:solidFill>
            <a:prstDash val="solid"/>
          </a:ln>
        </p:spPr>
      </p:sp>
      <p:sp>
        <p:nvSpPr>
          <p:cNvPr id="20" name="Text 18"/>
          <p:cNvSpPr/>
          <p:nvPr/>
        </p:nvSpPr>
        <p:spPr>
          <a:xfrm>
            <a:off x="731520" y="3858768"/>
            <a:ext cx="3520440" cy="219456"/>
          </a:xfrm>
          <a:prstGeom prst="rect">
            <a:avLst/>
          </a:prstGeom>
          <a:noFill/>
          <a:ln/>
        </p:spPr>
        <p:txBody>
          <a:bodyPr wrap="square" lIns="0" tIns="0" rIns="0" bIns="0" rtlCol="0" anchor="ctr"/>
          <a:lstStyle/>
          <a:p>
            <a:pPr marL="0" indent="0">
              <a:buNone/>
            </a:pPr>
            <a:r>
              <a:rPr lang="en-US" sz="1150" dirty="0">
                <a:solidFill>
                  <a:srgbClr val="B8D0F0"/>
                </a:solidFill>
              </a:rPr>
              <a:t>Industrial Zones</a:t>
            </a:r>
            <a:endParaRPr lang="en-US" sz="1150" dirty="0"/>
          </a:p>
        </p:txBody>
      </p:sp>
      <p:sp>
        <p:nvSpPr>
          <p:cNvPr id="21" name="Shape 19"/>
          <p:cNvSpPr/>
          <p:nvPr/>
        </p:nvSpPr>
        <p:spPr>
          <a:xfrm>
            <a:off x="548640" y="4169664"/>
            <a:ext cx="100584" cy="100584"/>
          </a:xfrm>
          <a:prstGeom prst="ellipse">
            <a:avLst/>
          </a:prstGeom>
          <a:solidFill>
            <a:srgbClr val="6B8BB0"/>
          </a:solidFill>
          <a:ln w="12700">
            <a:solidFill>
              <a:srgbClr val="6B8BB0"/>
            </a:solidFill>
            <a:prstDash val="solid"/>
          </a:ln>
        </p:spPr>
      </p:sp>
      <p:sp>
        <p:nvSpPr>
          <p:cNvPr id="22" name="Text 20"/>
          <p:cNvSpPr/>
          <p:nvPr/>
        </p:nvSpPr>
        <p:spPr>
          <a:xfrm>
            <a:off x="731520" y="4142232"/>
            <a:ext cx="3520440" cy="219456"/>
          </a:xfrm>
          <a:prstGeom prst="rect">
            <a:avLst/>
          </a:prstGeom>
          <a:noFill/>
          <a:ln/>
        </p:spPr>
        <p:txBody>
          <a:bodyPr wrap="square" lIns="0" tIns="0" rIns="0" bIns="0" rtlCol="0" anchor="ctr"/>
          <a:lstStyle/>
          <a:p>
            <a:pPr marL="0" indent="0">
              <a:buNone/>
            </a:pPr>
            <a:r>
              <a:rPr lang="en-US" sz="1150" dirty="0">
                <a:solidFill>
                  <a:srgbClr val="B8D0F0"/>
                </a:solidFill>
              </a:rPr>
              <a:t>Disaster Recovery Sites</a:t>
            </a:r>
            <a:endParaRPr lang="en-US" sz="1150" dirty="0"/>
          </a:p>
        </p:txBody>
      </p:sp>
      <p:sp>
        <p:nvSpPr>
          <p:cNvPr id="23" name="Shape 21"/>
          <p:cNvSpPr/>
          <p:nvPr/>
        </p:nvSpPr>
        <p:spPr>
          <a:xfrm>
            <a:off x="548640" y="4453128"/>
            <a:ext cx="100584" cy="100584"/>
          </a:xfrm>
          <a:prstGeom prst="ellipse">
            <a:avLst/>
          </a:prstGeom>
          <a:solidFill>
            <a:srgbClr val="6B8BB0"/>
          </a:solidFill>
          <a:ln w="12700">
            <a:solidFill>
              <a:srgbClr val="6B8BB0"/>
            </a:solidFill>
            <a:prstDash val="solid"/>
          </a:ln>
        </p:spPr>
      </p:sp>
      <p:sp>
        <p:nvSpPr>
          <p:cNvPr id="24" name="Text 22"/>
          <p:cNvSpPr/>
          <p:nvPr/>
        </p:nvSpPr>
        <p:spPr>
          <a:xfrm>
            <a:off x="731520" y="4425696"/>
            <a:ext cx="3520440" cy="219456"/>
          </a:xfrm>
          <a:prstGeom prst="rect">
            <a:avLst/>
          </a:prstGeom>
          <a:noFill/>
          <a:ln/>
        </p:spPr>
        <p:txBody>
          <a:bodyPr wrap="square" lIns="0" tIns="0" rIns="0" bIns="0" rtlCol="0" anchor="ctr"/>
          <a:lstStyle/>
          <a:p>
            <a:pPr marL="0" indent="0">
              <a:buNone/>
            </a:pPr>
            <a:r>
              <a:rPr lang="en-US" sz="1150" dirty="0">
                <a:solidFill>
                  <a:srgbClr val="B8D0F0"/>
                </a:solidFill>
              </a:rPr>
              <a:t>Military Installations</a:t>
            </a:r>
            <a:endParaRPr lang="en-US" sz="1150" dirty="0"/>
          </a:p>
        </p:txBody>
      </p:sp>
      <p:sp>
        <p:nvSpPr>
          <p:cNvPr id="25" name="Shape 23"/>
          <p:cNvSpPr/>
          <p:nvPr/>
        </p:nvSpPr>
        <p:spPr>
          <a:xfrm>
            <a:off x="4617720" y="2011680"/>
            <a:ext cx="4160520" cy="2697480"/>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26" name="Shape 24"/>
          <p:cNvSpPr/>
          <p:nvPr/>
        </p:nvSpPr>
        <p:spPr>
          <a:xfrm>
            <a:off x="4617720" y="2011680"/>
            <a:ext cx="50292" cy="2697480"/>
          </a:xfrm>
          <a:prstGeom prst="rect">
            <a:avLst/>
          </a:prstGeom>
          <a:solidFill>
            <a:srgbClr val="00D4AA"/>
          </a:solidFill>
          <a:ln w="12700">
            <a:solidFill>
              <a:srgbClr val="00D4AA"/>
            </a:solidFill>
            <a:prstDash val="solid"/>
          </a:ln>
        </p:spPr>
      </p:sp>
      <p:sp>
        <p:nvSpPr>
          <p:cNvPr id="27" name="Text 25"/>
          <p:cNvSpPr/>
          <p:nvPr/>
        </p:nvSpPr>
        <p:spPr>
          <a:xfrm>
            <a:off x="4782312" y="2084832"/>
            <a:ext cx="3840480" cy="292608"/>
          </a:xfrm>
          <a:prstGeom prst="rect">
            <a:avLst/>
          </a:prstGeom>
          <a:noFill/>
          <a:ln/>
        </p:spPr>
        <p:txBody>
          <a:bodyPr wrap="square" lIns="0" tIns="0" rIns="0" bIns="0" rtlCol="0" anchor="ctr"/>
          <a:lstStyle/>
          <a:p>
            <a:pPr marL="0" indent="0">
              <a:buNone/>
            </a:pPr>
            <a:r>
              <a:rPr lang="en-US" sz="1250" b="1" dirty="0">
                <a:solidFill>
                  <a:srgbClr val="00D4AA"/>
                </a:solidFill>
              </a:rPr>
              <a:t>The Need</a:t>
            </a:r>
            <a:endParaRPr lang="en-US" sz="1250" dirty="0"/>
          </a:p>
        </p:txBody>
      </p:sp>
      <p:sp>
        <p:nvSpPr>
          <p:cNvPr id="28" name="Text 26"/>
          <p:cNvSpPr/>
          <p:nvPr/>
        </p:nvSpPr>
        <p:spPr>
          <a:xfrm>
            <a:off x="4782312" y="2423160"/>
            <a:ext cx="3840480" cy="822960"/>
          </a:xfrm>
          <a:prstGeom prst="rect">
            <a:avLst/>
          </a:prstGeom>
          <a:noFill/>
          <a:ln/>
        </p:spPr>
        <p:txBody>
          <a:bodyPr wrap="square" lIns="76200" tIns="76200" rIns="76200" bIns="76200" rtlCol="0" anchor="t"/>
          <a:lstStyle/>
          <a:p>
            <a:pPr marL="0" indent="0" algn="l">
              <a:buNone/>
            </a:pPr>
            <a:r>
              <a:rPr lang="en-US" sz="1150" dirty="0">
                <a:solidFill>
                  <a:srgbClr val="C8DCF5"/>
                </a:solidFill>
                <a:latin typeface="Calibri" pitchFamily="34" charset="0"/>
                <a:ea typeface="Calibri" pitchFamily="34" charset="-122"/>
                <a:cs typeface="Calibri" pitchFamily="34" charset="-120"/>
              </a:rPr>
              <a:t>These environments need authentication that functions entirely without internet. The system must make recognition decisions locally, store data securely on-device, and operate reliably whether connectivity is present or not.</a:t>
            </a:r>
            <a:endParaRPr lang="en-US" sz="1150" dirty="0"/>
          </a:p>
        </p:txBody>
      </p:sp>
      <p:sp>
        <p:nvSpPr>
          <p:cNvPr id="29" name="Shape 27"/>
          <p:cNvSpPr/>
          <p:nvPr/>
        </p:nvSpPr>
        <p:spPr>
          <a:xfrm>
            <a:off x="4773168" y="3310128"/>
            <a:ext cx="3840480" cy="1280160"/>
          </a:xfrm>
          <a:prstGeom prst="rect">
            <a:avLst/>
          </a:prstGeom>
          <a:solidFill>
            <a:srgbClr val="0A1E35"/>
          </a:solidFill>
          <a:ln w="12700">
            <a:solidFill>
              <a:srgbClr val="00D4AA"/>
            </a:solidFill>
            <a:prstDash val="solid"/>
          </a:ln>
        </p:spPr>
      </p:sp>
      <p:sp>
        <p:nvSpPr>
          <p:cNvPr id="30" name="Text 28"/>
          <p:cNvSpPr/>
          <p:nvPr/>
        </p:nvSpPr>
        <p:spPr>
          <a:xfrm>
            <a:off x="4773168" y="3364992"/>
            <a:ext cx="3840480" cy="621792"/>
          </a:xfrm>
          <a:prstGeom prst="rect">
            <a:avLst/>
          </a:prstGeom>
          <a:noFill/>
          <a:ln/>
        </p:spPr>
        <p:txBody>
          <a:bodyPr wrap="square" lIns="0" tIns="0" rIns="0" bIns="0" rtlCol="0" anchor="ctr"/>
          <a:lstStyle/>
          <a:p>
            <a:pPr marL="0" indent="0" algn="ctr">
              <a:buNone/>
            </a:pPr>
            <a:r>
              <a:rPr lang="en-US" sz="4600" b="1" dirty="0">
                <a:solidFill>
                  <a:srgbClr val="00D4AA"/>
                </a:solidFill>
              </a:rPr>
              <a:t>100%</a:t>
            </a:r>
            <a:endParaRPr lang="en-US" sz="4600" dirty="0"/>
          </a:p>
        </p:txBody>
      </p:sp>
      <p:sp>
        <p:nvSpPr>
          <p:cNvPr id="31" name="Text 29"/>
          <p:cNvSpPr/>
          <p:nvPr/>
        </p:nvSpPr>
        <p:spPr>
          <a:xfrm>
            <a:off x="4773168" y="3950208"/>
            <a:ext cx="3840480" cy="320040"/>
          </a:xfrm>
          <a:prstGeom prst="rect">
            <a:avLst/>
          </a:prstGeom>
          <a:noFill/>
          <a:ln/>
        </p:spPr>
        <p:txBody>
          <a:bodyPr wrap="square" lIns="0" tIns="0" rIns="0" bIns="0" rtlCol="0" anchor="ctr"/>
          <a:lstStyle/>
          <a:p>
            <a:pPr marL="0" indent="0" algn="ctr">
              <a:buNone/>
            </a:pPr>
            <a:r>
              <a:rPr lang="en-US" sz="1100" b="1" dirty="0">
                <a:solidFill>
                  <a:srgbClr val="FFFFFF"/>
                </a:solidFill>
              </a:rPr>
              <a:t>Offline Operation — Zero Cloud Dependency</a:t>
            </a:r>
            <a:endParaRPr lang="en-US" sz="1100" dirty="0"/>
          </a:p>
        </p:txBody>
      </p:sp>
      <p:sp>
        <p:nvSpPr>
          <p:cNvPr id="32" name="Text 30"/>
          <p:cNvSpPr/>
          <p:nvPr/>
        </p:nvSpPr>
        <p:spPr>
          <a:xfrm>
            <a:off x="4773168" y="4261104"/>
            <a:ext cx="3840480" cy="219456"/>
          </a:xfrm>
          <a:prstGeom prst="rect">
            <a:avLst/>
          </a:prstGeom>
          <a:noFill/>
          <a:ln/>
        </p:spPr>
        <p:txBody>
          <a:bodyPr wrap="square" lIns="0" tIns="0" rIns="0" bIns="0" rtlCol="0" anchor="ctr"/>
          <a:lstStyle/>
          <a:p>
            <a:pPr marL="0" indent="0" algn="ctr">
              <a:buNone/>
            </a:pPr>
            <a:r>
              <a:rPr lang="en-US" sz="1000" dirty="0">
                <a:solidFill>
                  <a:srgbClr val="6B8BB0"/>
                </a:solidFill>
              </a:rPr>
              <a:t>No internet required at any stage</a:t>
            </a:r>
            <a:endParaRPr lang="en-US" sz="1000" dirty="0"/>
          </a:p>
        </p:txBody>
      </p:sp>
      <p:sp>
        <p:nvSpPr>
          <p:cNvPr id="33" name="Shape 8"/>
          <p:cNvSpPr/>
          <p:nvPr/>
        </p:nvSpPr>
        <p:spPr>
          <a:xfrm>
            <a:off x="534285" y="2712056"/>
            <a:ext cx="118872" cy="126296"/>
          </a:xfrm>
          <a:prstGeom prst="rect">
            <a:avLst/>
          </a:prstGeom>
          <a:solidFill>
            <a:srgbClr val="FF6B6B"/>
          </a:solidFill>
          <a:ln w="12700">
            <a:solidFill>
              <a:srgbClr val="FF6B6B"/>
            </a:solidFill>
            <a:prstDash val="solid"/>
          </a:ln>
        </p:spPr>
      </p:sp>
      <p:sp>
        <p:nvSpPr>
          <p:cNvPr id="34" name="Shape 8"/>
          <p:cNvSpPr/>
          <p:nvPr/>
        </p:nvSpPr>
        <p:spPr>
          <a:xfrm>
            <a:off x="534285" y="3039519"/>
            <a:ext cx="118872" cy="126296"/>
          </a:xfrm>
          <a:prstGeom prst="rect">
            <a:avLst/>
          </a:prstGeom>
          <a:solidFill>
            <a:srgbClr val="FF6B6B"/>
          </a:solidFill>
          <a:ln w="12700">
            <a:solidFill>
              <a:srgbClr val="FF6B6B"/>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2240"/>
        </a:solidFill>
        <a:effectLst/>
      </p:bgPr>
    </p:bg>
    <p:spTree>
      <p:nvGrpSpPr>
        <p:cNvPr id="1" name=""/>
        <p:cNvGrpSpPr/>
        <p:nvPr/>
      </p:nvGrpSpPr>
      <p:grpSpPr>
        <a:xfrm>
          <a:off x="0" y="0"/>
          <a:ext cx="0" cy="0"/>
          <a:chOff x="0" y="0"/>
          <a:chExt cx="0" cy="0"/>
        </a:xfrm>
      </p:grpSpPr>
      <p:sp>
        <p:nvSpPr>
          <p:cNvPr id="2" name="Shape 0"/>
          <p:cNvSpPr/>
          <p:nvPr/>
        </p:nvSpPr>
        <p:spPr>
          <a:xfrm>
            <a:off x="365760" y="256032"/>
            <a:ext cx="50292" cy="868680"/>
          </a:xfrm>
          <a:prstGeom prst="rect">
            <a:avLst/>
          </a:prstGeom>
          <a:solidFill>
            <a:srgbClr val="00D4AA"/>
          </a:solidFill>
          <a:ln w="12700">
            <a:solidFill>
              <a:srgbClr val="00D4AA"/>
            </a:solidFill>
            <a:prstDash val="solid"/>
          </a:ln>
        </p:spPr>
      </p:sp>
      <p:sp>
        <p:nvSpPr>
          <p:cNvPr id="3" name="Text 1"/>
          <p:cNvSpPr/>
          <p:nvPr/>
        </p:nvSpPr>
        <p:spPr>
          <a:xfrm>
            <a:off x="548640" y="237744"/>
            <a:ext cx="8229600" cy="320040"/>
          </a:xfrm>
          <a:prstGeom prst="rect">
            <a:avLst/>
          </a:prstGeom>
          <a:noFill/>
          <a:ln/>
        </p:spPr>
        <p:txBody>
          <a:bodyPr wrap="square" lIns="0" tIns="0" rIns="0" bIns="0" rtlCol="0" anchor="ctr"/>
          <a:lstStyle/>
          <a:p>
            <a:pPr marL="0" indent="0">
              <a:buNone/>
            </a:pPr>
            <a:r>
              <a:rPr lang="en-US" sz="1050" b="1" dirty="0">
                <a:solidFill>
                  <a:srgbClr val="00D4AA"/>
                </a:solidFill>
              </a:rPr>
              <a:t>Proposed Solution</a:t>
            </a:r>
            <a:endParaRPr lang="en-US" sz="1050" dirty="0"/>
          </a:p>
        </p:txBody>
      </p:sp>
      <p:sp>
        <p:nvSpPr>
          <p:cNvPr id="4" name="Text 2"/>
          <p:cNvSpPr/>
          <p:nvPr/>
        </p:nvSpPr>
        <p:spPr>
          <a:xfrm>
            <a:off x="548640" y="530352"/>
            <a:ext cx="8321040" cy="566928"/>
          </a:xfrm>
          <a:prstGeom prst="rect">
            <a:avLst/>
          </a:prstGeom>
          <a:noFill/>
          <a:ln/>
        </p:spPr>
        <p:txBody>
          <a:bodyPr wrap="square" lIns="0" tIns="0" rIns="0" bIns="0"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Datalake 3.0 Offline Authentication Platform</a:t>
            </a:r>
            <a:endParaRPr lang="en-US" sz="2500" dirty="0"/>
          </a:p>
        </p:txBody>
      </p:sp>
      <p:sp>
        <p:nvSpPr>
          <p:cNvPr id="5" name="Shape 3"/>
          <p:cNvSpPr/>
          <p:nvPr/>
        </p:nvSpPr>
        <p:spPr>
          <a:xfrm>
            <a:off x="365760" y="1234440"/>
            <a:ext cx="8412480" cy="658368"/>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6" name="Text 4"/>
          <p:cNvSpPr/>
          <p:nvPr/>
        </p:nvSpPr>
        <p:spPr>
          <a:xfrm>
            <a:off x="411480" y="1261872"/>
            <a:ext cx="8321040" cy="603504"/>
          </a:xfrm>
          <a:prstGeom prst="rect">
            <a:avLst/>
          </a:prstGeom>
          <a:noFill/>
          <a:ln/>
        </p:spPr>
        <p:txBody>
          <a:bodyPr wrap="square" lIns="76200" tIns="76200" rIns="76200" bIns="76200" rtlCol="0" anchor="t"/>
          <a:lstStyle/>
          <a:p>
            <a:pPr marL="0" indent="0" algn="l">
              <a:buNone/>
            </a:pPr>
            <a:r>
              <a:rPr lang="en-US" sz="1150" dirty="0">
                <a:solidFill>
                  <a:srgbClr val="C8DCF5"/>
                </a:solidFill>
                <a:latin typeface="Calibri" pitchFamily="34" charset="0"/>
                <a:ea typeface="Calibri" pitchFamily="34" charset="-122"/>
                <a:cs typeface="Calibri" pitchFamily="34" charset="-120"/>
              </a:rPr>
              <a:t>Datalake 3.0 addresses these challenges by delivering a complete, self-contained authentication platform. Every stage — from capturing a face and verifying liveness, to storing credentials and logging events — happens locally. There is no network call, no cloud lookup, and no dependency on external infrastructure at any point.</a:t>
            </a:r>
            <a:endParaRPr lang="en-US" sz="1150" dirty="0"/>
          </a:p>
        </p:txBody>
      </p:sp>
      <p:sp>
        <p:nvSpPr>
          <p:cNvPr id="7" name="Shape 5"/>
          <p:cNvSpPr/>
          <p:nvPr/>
        </p:nvSpPr>
        <p:spPr>
          <a:xfrm>
            <a:off x="365760" y="2029968"/>
            <a:ext cx="2724912" cy="1298448"/>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8" name="Shape 6"/>
          <p:cNvSpPr/>
          <p:nvPr/>
        </p:nvSpPr>
        <p:spPr>
          <a:xfrm>
            <a:off x="493776" y="2176272"/>
            <a:ext cx="475488" cy="475488"/>
          </a:xfrm>
          <a:prstGeom prst="ellipse">
            <a:avLst/>
          </a:prstGeom>
          <a:solidFill>
            <a:srgbClr val="00D4AA">
              <a:alpha val="20000"/>
            </a:srgbClr>
          </a:solidFill>
          <a:ln w="12700">
            <a:solidFill>
              <a:srgbClr val="00D4AA"/>
            </a:solidFill>
            <a:prstDash val="solid"/>
          </a:ln>
        </p:spPr>
      </p:sp>
      <p:sp>
        <p:nvSpPr>
          <p:cNvPr id="9" name="Text 7"/>
          <p:cNvSpPr/>
          <p:nvPr/>
        </p:nvSpPr>
        <p:spPr>
          <a:xfrm>
            <a:off x="493776" y="2176272"/>
            <a:ext cx="475488" cy="475488"/>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0" name="Text 8"/>
          <p:cNvSpPr/>
          <p:nvPr/>
        </p:nvSpPr>
        <p:spPr>
          <a:xfrm>
            <a:off x="1060704" y="2167128"/>
            <a:ext cx="1901952" cy="310896"/>
          </a:xfrm>
          <a:prstGeom prst="rect">
            <a:avLst/>
          </a:prstGeom>
          <a:noFill/>
          <a:ln/>
        </p:spPr>
        <p:txBody>
          <a:bodyPr wrap="square" lIns="0" tIns="0" rIns="0" bIns="0" rtlCol="0" anchor="ctr"/>
          <a:lstStyle/>
          <a:p>
            <a:pPr marL="0" indent="0">
              <a:buNone/>
            </a:pPr>
            <a:r>
              <a:rPr lang="en-US" sz="1150" b="1" dirty="0">
                <a:solidFill>
                  <a:srgbClr val="FFFFFF"/>
                </a:solidFill>
              </a:rPr>
              <a:t>Offline Face Recognition</a:t>
            </a:r>
            <a:endParaRPr lang="en-US" sz="1150" dirty="0"/>
          </a:p>
        </p:txBody>
      </p:sp>
      <p:sp>
        <p:nvSpPr>
          <p:cNvPr id="11" name="Text 9"/>
          <p:cNvSpPr/>
          <p:nvPr/>
        </p:nvSpPr>
        <p:spPr>
          <a:xfrm>
            <a:off x="1060704" y="2505456"/>
            <a:ext cx="1901952" cy="658368"/>
          </a:xfrm>
          <a:prstGeom prst="rect">
            <a:avLst/>
          </a:prstGeom>
          <a:noFill/>
          <a:ln/>
        </p:spPr>
        <p:txBody>
          <a:bodyPr wrap="square" lIns="0" tIns="0" rIns="0" bIns="0" rtlCol="0" anchor="ctr"/>
          <a:lstStyle/>
          <a:p>
            <a:pPr marL="0" indent="0">
              <a:buNone/>
            </a:pPr>
            <a:r>
              <a:rPr lang="en-US" sz="1050" dirty="0">
                <a:solidFill>
                  <a:srgbClr val="B8D0F0"/>
                </a:solidFill>
              </a:rPr>
              <a:t>Matches faces against stored embeddings with no internet</a:t>
            </a:r>
            <a:endParaRPr lang="en-US" sz="1050" dirty="0"/>
          </a:p>
        </p:txBody>
      </p:sp>
      <p:sp>
        <p:nvSpPr>
          <p:cNvPr id="12" name="Shape 10"/>
          <p:cNvSpPr/>
          <p:nvPr/>
        </p:nvSpPr>
        <p:spPr>
          <a:xfrm>
            <a:off x="3227832" y="2029968"/>
            <a:ext cx="2724912" cy="1298448"/>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13" name="Shape 11"/>
          <p:cNvSpPr/>
          <p:nvPr/>
        </p:nvSpPr>
        <p:spPr>
          <a:xfrm>
            <a:off x="3355848" y="2176272"/>
            <a:ext cx="475488" cy="475488"/>
          </a:xfrm>
          <a:prstGeom prst="ellipse">
            <a:avLst/>
          </a:prstGeom>
          <a:solidFill>
            <a:srgbClr val="4A9EFF">
              <a:alpha val="20000"/>
            </a:srgbClr>
          </a:solidFill>
          <a:ln w="12700">
            <a:solidFill>
              <a:srgbClr val="4A9EFF"/>
            </a:solidFill>
            <a:prstDash val="solid"/>
          </a:ln>
        </p:spPr>
      </p:sp>
      <p:sp>
        <p:nvSpPr>
          <p:cNvPr id="14" name="Text 12"/>
          <p:cNvSpPr/>
          <p:nvPr/>
        </p:nvSpPr>
        <p:spPr>
          <a:xfrm>
            <a:off x="3355848" y="2176272"/>
            <a:ext cx="475488" cy="475488"/>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5" name="Text 13"/>
          <p:cNvSpPr/>
          <p:nvPr/>
        </p:nvSpPr>
        <p:spPr>
          <a:xfrm>
            <a:off x="3922776" y="2167128"/>
            <a:ext cx="1901952" cy="310896"/>
          </a:xfrm>
          <a:prstGeom prst="rect">
            <a:avLst/>
          </a:prstGeom>
          <a:noFill/>
          <a:ln/>
        </p:spPr>
        <p:txBody>
          <a:bodyPr wrap="square" lIns="0" tIns="0" rIns="0" bIns="0" rtlCol="0" anchor="ctr"/>
          <a:lstStyle/>
          <a:p>
            <a:pPr marL="0" indent="0">
              <a:buNone/>
            </a:pPr>
            <a:r>
              <a:rPr lang="en-US" sz="1150" b="1" dirty="0">
                <a:solidFill>
                  <a:srgbClr val="FFFFFF"/>
                </a:solidFill>
              </a:rPr>
              <a:t>Liveness Detection</a:t>
            </a:r>
            <a:endParaRPr lang="en-US" sz="1150" dirty="0"/>
          </a:p>
        </p:txBody>
      </p:sp>
      <p:sp>
        <p:nvSpPr>
          <p:cNvPr id="16" name="Text 14"/>
          <p:cNvSpPr/>
          <p:nvPr/>
        </p:nvSpPr>
        <p:spPr>
          <a:xfrm>
            <a:off x="3922776" y="2505456"/>
            <a:ext cx="1901952" cy="658368"/>
          </a:xfrm>
          <a:prstGeom prst="rect">
            <a:avLst/>
          </a:prstGeom>
          <a:noFill/>
          <a:ln/>
        </p:spPr>
        <p:txBody>
          <a:bodyPr wrap="square" lIns="0" tIns="0" rIns="0" bIns="0" rtlCol="0" anchor="ctr"/>
          <a:lstStyle/>
          <a:p>
            <a:pPr marL="0" indent="0">
              <a:buNone/>
            </a:pPr>
            <a:r>
              <a:rPr lang="en-US" sz="1050" dirty="0">
                <a:solidFill>
                  <a:srgbClr val="B8D0F0"/>
                </a:solidFill>
              </a:rPr>
              <a:t>Blink, smile &amp; head-turn challenges prevent spoofing</a:t>
            </a:r>
            <a:endParaRPr lang="en-US" sz="1050" dirty="0"/>
          </a:p>
        </p:txBody>
      </p:sp>
      <p:sp>
        <p:nvSpPr>
          <p:cNvPr id="17" name="Shape 15"/>
          <p:cNvSpPr/>
          <p:nvPr/>
        </p:nvSpPr>
        <p:spPr>
          <a:xfrm>
            <a:off x="6089904" y="2029968"/>
            <a:ext cx="2724912" cy="1298448"/>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18" name="Shape 16"/>
          <p:cNvSpPr/>
          <p:nvPr/>
        </p:nvSpPr>
        <p:spPr>
          <a:xfrm>
            <a:off x="6217920" y="2176272"/>
            <a:ext cx="475488" cy="475488"/>
          </a:xfrm>
          <a:prstGeom prst="ellipse">
            <a:avLst/>
          </a:prstGeom>
          <a:solidFill>
            <a:srgbClr val="00D4AA">
              <a:alpha val="20000"/>
            </a:srgbClr>
          </a:solidFill>
          <a:ln w="12700">
            <a:solidFill>
              <a:srgbClr val="00D4AA"/>
            </a:solidFill>
            <a:prstDash val="solid"/>
          </a:ln>
        </p:spPr>
      </p:sp>
      <p:sp>
        <p:nvSpPr>
          <p:cNvPr id="19" name="Text 17"/>
          <p:cNvSpPr/>
          <p:nvPr/>
        </p:nvSpPr>
        <p:spPr>
          <a:xfrm>
            <a:off x="6217920" y="2176272"/>
            <a:ext cx="475488" cy="475488"/>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0" name="Text 18"/>
          <p:cNvSpPr/>
          <p:nvPr/>
        </p:nvSpPr>
        <p:spPr>
          <a:xfrm>
            <a:off x="6784848" y="2167128"/>
            <a:ext cx="1901952" cy="310896"/>
          </a:xfrm>
          <a:prstGeom prst="rect">
            <a:avLst/>
          </a:prstGeom>
          <a:noFill/>
          <a:ln/>
        </p:spPr>
        <p:txBody>
          <a:bodyPr wrap="square" lIns="0" tIns="0" rIns="0" bIns="0" rtlCol="0" anchor="ctr"/>
          <a:lstStyle/>
          <a:p>
            <a:pPr marL="0" indent="0">
              <a:buNone/>
            </a:pPr>
            <a:r>
              <a:rPr lang="en-US" sz="1150" b="1" dirty="0">
                <a:solidFill>
                  <a:srgbClr val="FFFFFF"/>
                </a:solidFill>
              </a:rPr>
              <a:t>Attendance Tracking</a:t>
            </a:r>
            <a:endParaRPr lang="en-US" sz="1150" dirty="0"/>
          </a:p>
        </p:txBody>
      </p:sp>
      <p:sp>
        <p:nvSpPr>
          <p:cNvPr id="21" name="Text 19"/>
          <p:cNvSpPr/>
          <p:nvPr/>
        </p:nvSpPr>
        <p:spPr>
          <a:xfrm>
            <a:off x="6784848" y="2505456"/>
            <a:ext cx="1901952" cy="658368"/>
          </a:xfrm>
          <a:prstGeom prst="rect">
            <a:avLst/>
          </a:prstGeom>
          <a:noFill/>
          <a:ln/>
        </p:spPr>
        <p:txBody>
          <a:bodyPr wrap="square" lIns="0" tIns="0" rIns="0" bIns="0" rtlCol="0" anchor="ctr"/>
          <a:lstStyle/>
          <a:p>
            <a:pPr marL="0" indent="0">
              <a:buNone/>
            </a:pPr>
            <a:r>
              <a:rPr lang="en-US" sz="1050" dirty="0">
                <a:solidFill>
                  <a:srgbClr val="B8D0F0"/>
                </a:solidFill>
              </a:rPr>
              <a:t>Auto-logs verified entries with timestamps, dedup enabled</a:t>
            </a:r>
            <a:endParaRPr lang="en-US" sz="1050" dirty="0"/>
          </a:p>
        </p:txBody>
      </p:sp>
      <p:sp>
        <p:nvSpPr>
          <p:cNvPr id="22" name="Shape 20"/>
          <p:cNvSpPr/>
          <p:nvPr/>
        </p:nvSpPr>
        <p:spPr>
          <a:xfrm>
            <a:off x="365760" y="3447288"/>
            <a:ext cx="2724912" cy="1298448"/>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23" name="Shape 21"/>
          <p:cNvSpPr/>
          <p:nvPr/>
        </p:nvSpPr>
        <p:spPr>
          <a:xfrm>
            <a:off x="493776" y="3593592"/>
            <a:ext cx="475488" cy="475488"/>
          </a:xfrm>
          <a:prstGeom prst="ellipse">
            <a:avLst/>
          </a:prstGeom>
          <a:solidFill>
            <a:srgbClr val="4A9EFF">
              <a:alpha val="20000"/>
            </a:srgbClr>
          </a:solidFill>
          <a:ln w="12700">
            <a:solidFill>
              <a:srgbClr val="4A9EFF"/>
            </a:solidFill>
            <a:prstDash val="solid"/>
          </a:ln>
        </p:spPr>
      </p:sp>
      <p:sp>
        <p:nvSpPr>
          <p:cNvPr id="24" name="Text 22"/>
          <p:cNvSpPr/>
          <p:nvPr/>
        </p:nvSpPr>
        <p:spPr>
          <a:xfrm>
            <a:off x="493776" y="3593592"/>
            <a:ext cx="475488" cy="475488"/>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5" name="Text 23"/>
          <p:cNvSpPr/>
          <p:nvPr/>
        </p:nvSpPr>
        <p:spPr>
          <a:xfrm>
            <a:off x="1060704" y="3584448"/>
            <a:ext cx="1901952" cy="310896"/>
          </a:xfrm>
          <a:prstGeom prst="rect">
            <a:avLst/>
          </a:prstGeom>
          <a:noFill/>
          <a:ln/>
        </p:spPr>
        <p:txBody>
          <a:bodyPr wrap="square" lIns="0" tIns="0" rIns="0" bIns="0" rtlCol="0" anchor="ctr"/>
          <a:lstStyle/>
          <a:p>
            <a:pPr marL="0" indent="0">
              <a:buNone/>
            </a:pPr>
            <a:r>
              <a:rPr lang="en-US" sz="1150" b="1" dirty="0">
                <a:solidFill>
                  <a:srgbClr val="FFFFFF"/>
                </a:solidFill>
              </a:rPr>
              <a:t>Encrypted Local Vault</a:t>
            </a:r>
            <a:endParaRPr lang="en-US" sz="1150" dirty="0"/>
          </a:p>
        </p:txBody>
      </p:sp>
      <p:sp>
        <p:nvSpPr>
          <p:cNvPr id="26" name="Text 24"/>
          <p:cNvSpPr/>
          <p:nvPr/>
        </p:nvSpPr>
        <p:spPr>
          <a:xfrm>
            <a:off x="1060704" y="3922776"/>
            <a:ext cx="1901952" cy="658368"/>
          </a:xfrm>
          <a:prstGeom prst="rect">
            <a:avLst/>
          </a:prstGeom>
          <a:noFill/>
          <a:ln/>
        </p:spPr>
        <p:txBody>
          <a:bodyPr wrap="square" lIns="0" tIns="0" rIns="0" bIns="0" rtlCol="0" anchor="ctr"/>
          <a:lstStyle/>
          <a:p>
            <a:pPr marL="0" indent="0">
              <a:buNone/>
            </a:pPr>
            <a:r>
              <a:rPr lang="en-US" sz="1050" dirty="0">
                <a:solidFill>
                  <a:srgbClr val="B8D0F0"/>
                </a:solidFill>
              </a:rPr>
              <a:t>AES-GCM 256-bit encrypted identity storage on device</a:t>
            </a:r>
            <a:endParaRPr lang="en-US" sz="1050" dirty="0"/>
          </a:p>
        </p:txBody>
      </p:sp>
      <p:sp>
        <p:nvSpPr>
          <p:cNvPr id="27" name="Shape 25"/>
          <p:cNvSpPr/>
          <p:nvPr/>
        </p:nvSpPr>
        <p:spPr>
          <a:xfrm>
            <a:off x="3227832" y="3447288"/>
            <a:ext cx="2724912" cy="1298448"/>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28" name="Shape 26"/>
          <p:cNvSpPr/>
          <p:nvPr/>
        </p:nvSpPr>
        <p:spPr>
          <a:xfrm>
            <a:off x="3355848" y="3593592"/>
            <a:ext cx="475488" cy="475488"/>
          </a:xfrm>
          <a:prstGeom prst="ellipse">
            <a:avLst/>
          </a:prstGeom>
          <a:solidFill>
            <a:srgbClr val="00D4AA">
              <a:alpha val="20000"/>
            </a:srgbClr>
          </a:solidFill>
          <a:ln w="12700">
            <a:solidFill>
              <a:srgbClr val="00D4AA"/>
            </a:solidFill>
            <a:prstDash val="solid"/>
          </a:ln>
        </p:spPr>
      </p:sp>
      <p:sp>
        <p:nvSpPr>
          <p:cNvPr id="29" name="Text 27"/>
          <p:cNvSpPr/>
          <p:nvPr/>
        </p:nvSpPr>
        <p:spPr>
          <a:xfrm>
            <a:off x="3355848" y="3593592"/>
            <a:ext cx="475488" cy="475488"/>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30" name="Text 28"/>
          <p:cNvSpPr/>
          <p:nvPr/>
        </p:nvSpPr>
        <p:spPr>
          <a:xfrm>
            <a:off x="3922776" y="3584448"/>
            <a:ext cx="1901952" cy="310896"/>
          </a:xfrm>
          <a:prstGeom prst="rect">
            <a:avLst/>
          </a:prstGeom>
          <a:noFill/>
          <a:ln/>
        </p:spPr>
        <p:txBody>
          <a:bodyPr wrap="square" lIns="0" tIns="0" rIns="0" bIns="0" rtlCol="0" anchor="ctr"/>
          <a:lstStyle/>
          <a:p>
            <a:pPr marL="0" indent="0">
              <a:buNone/>
            </a:pPr>
            <a:r>
              <a:rPr lang="en-US" sz="1150" b="1" dirty="0">
                <a:solidFill>
                  <a:srgbClr val="FFFFFF"/>
                </a:solidFill>
              </a:rPr>
              <a:t>Tamper-Evident Audit Trail</a:t>
            </a:r>
            <a:endParaRPr lang="en-US" sz="1150" dirty="0"/>
          </a:p>
        </p:txBody>
      </p:sp>
      <p:sp>
        <p:nvSpPr>
          <p:cNvPr id="31" name="Text 29"/>
          <p:cNvSpPr/>
          <p:nvPr/>
        </p:nvSpPr>
        <p:spPr>
          <a:xfrm>
            <a:off x="3922776" y="3922776"/>
            <a:ext cx="1901952" cy="658368"/>
          </a:xfrm>
          <a:prstGeom prst="rect">
            <a:avLst/>
          </a:prstGeom>
          <a:noFill/>
          <a:ln/>
        </p:spPr>
        <p:txBody>
          <a:bodyPr wrap="square" lIns="0" tIns="0" rIns="0" bIns="0" rtlCol="0" anchor="ctr"/>
          <a:lstStyle/>
          <a:p>
            <a:pPr marL="0" indent="0">
              <a:buNone/>
            </a:pPr>
            <a:r>
              <a:rPr lang="en-US" sz="1050" dirty="0">
                <a:solidFill>
                  <a:srgbClr val="B8D0F0"/>
                </a:solidFill>
              </a:rPr>
              <a:t>SHA-256 hash-chained log of every system event</a:t>
            </a:r>
            <a:endParaRPr lang="en-US" sz="1050" dirty="0"/>
          </a:p>
        </p:txBody>
      </p:sp>
      <p:sp>
        <p:nvSpPr>
          <p:cNvPr id="32" name="Shape 30"/>
          <p:cNvSpPr/>
          <p:nvPr/>
        </p:nvSpPr>
        <p:spPr>
          <a:xfrm>
            <a:off x="6089904" y="3447288"/>
            <a:ext cx="2724912" cy="1298448"/>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33" name="Shape 31"/>
          <p:cNvSpPr/>
          <p:nvPr/>
        </p:nvSpPr>
        <p:spPr>
          <a:xfrm>
            <a:off x="6217920" y="3593592"/>
            <a:ext cx="475488" cy="475488"/>
          </a:xfrm>
          <a:prstGeom prst="ellipse">
            <a:avLst/>
          </a:prstGeom>
          <a:solidFill>
            <a:srgbClr val="4A9EFF">
              <a:alpha val="20000"/>
            </a:srgbClr>
          </a:solidFill>
          <a:ln w="12700">
            <a:solidFill>
              <a:srgbClr val="4A9EFF"/>
            </a:solidFill>
            <a:prstDash val="solid"/>
          </a:ln>
        </p:spPr>
      </p:sp>
      <p:sp>
        <p:nvSpPr>
          <p:cNvPr id="34" name="Text 32"/>
          <p:cNvSpPr/>
          <p:nvPr/>
        </p:nvSpPr>
        <p:spPr>
          <a:xfrm>
            <a:off x="6217920" y="3593592"/>
            <a:ext cx="475488" cy="475488"/>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35" name="Text 33"/>
          <p:cNvSpPr/>
          <p:nvPr/>
        </p:nvSpPr>
        <p:spPr>
          <a:xfrm>
            <a:off x="6784848" y="3584448"/>
            <a:ext cx="1901952" cy="310896"/>
          </a:xfrm>
          <a:prstGeom prst="rect">
            <a:avLst/>
          </a:prstGeom>
          <a:noFill/>
          <a:ln/>
        </p:spPr>
        <p:txBody>
          <a:bodyPr wrap="square" lIns="0" tIns="0" rIns="0" bIns="0" rtlCol="0" anchor="ctr"/>
          <a:lstStyle/>
          <a:p>
            <a:pPr marL="0" indent="0">
              <a:buNone/>
            </a:pPr>
            <a:r>
              <a:rPr lang="en-US" sz="1150" b="1" dirty="0">
                <a:solidFill>
                  <a:srgbClr val="FFFFFF"/>
                </a:solidFill>
              </a:rPr>
              <a:t>AWS-Ready Synchronization</a:t>
            </a:r>
            <a:endParaRPr lang="en-US" sz="1150" dirty="0"/>
          </a:p>
        </p:txBody>
      </p:sp>
      <p:sp>
        <p:nvSpPr>
          <p:cNvPr id="36" name="Text 34"/>
          <p:cNvSpPr/>
          <p:nvPr/>
        </p:nvSpPr>
        <p:spPr>
          <a:xfrm>
            <a:off x="6784848" y="3922776"/>
            <a:ext cx="1901952" cy="658368"/>
          </a:xfrm>
          <a:prstGeom prst="rect">
            <a:avLst/>
          </a:prstGeom>
          <a:noFill/>
          <a:ln/>
        </p:spPr>
        <p:txBody>
          <a:bodyPr wrap="square" lIns="0" tIns="0" rIns="0" bIns="0" rtlCol="0" anchor="ctr"/>
          <a:lstStyle/>
          <a:p>
            <a:pPr marL="0" indent="0">
              <a:buNone/>
            </a:pPr>
            <a:r>
              <a:rPr lang="en-US" sz="1050" dirty="0">
                <a:solidFill>
                  <a:srgbClr val="B8D0F0"/>
                </a:solidFill>
              </a:rPr>
              <a:t>Offline queue syncs to cloud when connectivity resumes</a:t>
            </a:r>
            <a:endParaRPr lang="en-US" sz="1050" dirty="0"/>
          </a:p>
        </p:txBody>
      </p:sp>
      <p:sp>
        <p:nvSpPr>
          <p:cNvPr id="37" name="Shape 35"/>
          <p:cNvSpPr/>
          <p:nvPr/>
        </p:nvSpPr>
        <p:spPr>
          <a:xfrm>
            <a:off x="365760" y="4727448"/>
            <a:ext cx="1965960" cy="274320"/>
          </a:xfrm>
          <a:prstGeom prst="roundRect">
            <a:avLst>
              <a:gd name="adj" fmla="val 23333"/>
            </a:avLst>
          </a:prstGeom>
          <a:solidFill>
            <a:srgbClr val="00D4AA"/>
          </a:solidFill>
          <a:ln w="12700">
            <a:solidFill>
              <a:srgbClr val="00D4AA"/>
            </a:solidFill>
            <a:prstDash val="solid"/>
          </a:ln>
        </p:spPr>
      </p:sp>
      <p:sp>
        <p:nvSpPr>
          <p:cNvPr id="38" name="Text 36"/>
          <p:cNvSpPr/>
          <p:nvPr/>
        </p:nvSpPr>
        <p:spPr>
          <a:xfrm>
            <a:off x="365760" y="4727448"/>
            <a:ext cx="1965960" cy="274320"/>
          </a:xfrm>
          <a:prstGeom prst="rect">
            <a:avLst/>
          </a:prstGeom>
          <a:noFill/>
          <a:ln/>
        </p:spPr>
        <p:txBody>
          <a:bodyPr wrap="square" lIns="0" tIns="0" rIns="0" bIns="0" rtlCol="0" anchor="ctr"/>
          <a:lstStyle/>
          <a:p>
            <a:pPr marL="0" indent="0" algn="ctr">
              <a:buNone/>
            </a:pPr>
            <a:r>
              <a:rPr lang="en-US" sz="950" b="1" dirty="0">
                <a:solidFill>
                  <a:srgbClr val="0A1628"/>
                </a:solidFill>
              </a:rPr>
              <a:t>Zero-Network Operation</a:t>
            </a:r>
            <a:endParaRPr lang="en-US" sz="950" dirty="0"/>
          </a:p>
        </p:txBody>
      </p:sp>
      <p:sp>
        <p:nvSpPr>
          <p:cNvPr id="39" name="Shape 37"/>
          <p:cNvSpPr/>
          <p:nvPr/>
        </p:nvSpPr>
        <p:spPr>
          <a:xfrm>
            <a:off x="2514600" y="4727448"/>
            <a:ext cx="1965960" cy="274320"/>
          </a:xfrm>
          <a:prstGeom prst="roundRect">
            <a:avLst>
              <a:gd name="adj" fmla="val 23333"/>
            </a:avLst>
          </a:prstGeom>
          <a:solidFill>
            <a:srgbClr val="4A9EFF"/>
          </a:solidFill>
          <a:ln w="12700">
            <a:solidFill>
              <a:srgbClr val="4A9EFF"/>
            </a:solidFill>
            <a:prstDash val="solid"/>
          </a:ln>
        </p:spPr>
      </p:sp>
      <p:sp>
        <p:nvSpPr>
          <p:cNvPr id="40" name="Text 38"/>
          <p:cNvSpPr/>
          <p:nvPr/>
        </p:nvSpPr>
        <p:spPr>
          <a:xfrm>
            <a:off x="2514600" y="4727448"/>
            <a:ext cx="1965960" cy="274320"/>
          </a:xfrm>
          <a:prstGeom prst="rect">
            <a:avLst/>
          </a:prstGeom>
          <a:noFill/>
          <a:ln/>
        </p:spPr>
        <p:txBody>
          <a:bodyPr wrap="square" lIns="0" tIns="0" rIns="0" bIns="0" rtlCol="0" anchor="ctr"/>
          <a:lstStyle/>
          <a:p>
            <a:pPr marL="0" indent="0" algn="ctr">
              <a:buNone/>
            </a:pPr>
            <a:r>
              <a:rPr lang="en-US" sz="950" b="1" dirty="0">
                <a:solidFill>
                  <a:srgbClr val="0A1628"/>
                </a:solidFill>
              </a:rPr>
              <a:t>Privacy Preserving</a:t>
            </a:r>
            <a:endParaRPr lang="en-US" sz="950" dirty="0"/>
          </a:p>
        </p:txBody>
      </p:sp>
      <p:sp>
        <p:nvSpPr>
          <p:cNvPr id="41" name="Shape 39"/>
          <p:cNvSpPr/>
          <p:nvPr/>
        </p:nvSpPr>
        <p:spPr>
          <a:xfrm>
            <a:off x="4663440" y="4727448"/>
            <a:ext cx="1965960" cy="274320"/>
          </a:xfrm>
          <a:prstGeom prst="roundRect">
            <a:avLst>
              <a:gd name="adj" fmla="val 23333"/>
            </a:avLst>
          </a:prstGeom>
          <a:solidFill>
            <a:srgbClr val="00D4AA"/>
          </a:solidFill>
          <a:ln w="12700">
            <a:solidFill>
              <a:srgbClr val="00D4AA"/>
            </a:solidFill>
            <a:prstDash val="solid"/>
          </a:ln>
        </p:spPr>
      </p:sp>
      <p:sp>
        <p:nvSpPr>
          <p:cNvPr id="42" name="Text 40"/>
          <p:cNvSpPr/>
          <p:nvPr/>
        </p:nvSpPr>
        <p:spPr>
          <a:xfrm>
            <a:off x="4663440" y="4727448"/>
            <a:ext cx="1965960" cy="274320"/>
          </a:xfrm>
          <a:prstGeom prst="rect">
            <a:avLst/>
          </a:prstGeom>
          <a:noFill/>
          <a:ln/>
        </p:spPr>
        <p:txBody>
          <a:bodyPr wrap="square" lIns="0" tIns="0" rIns="0" bIns="0" rtlCol="0" anchor="ctr"/>
          <a:lstStyle/>
          <a:p>
            <a:pPr marL="0" indent="0" algn="ctr">
              <a:buNone/>
            </a:pPr>
            <a:r>
              <a:rPr lang="en-US" sz="950" b="1" dirty="0">
                <a:solidFill>
                  <a:srgbClr val="0A1628"/>
                </a:solidFill>
              </a:rPr>
              <a:t>Fast Authentication</a:t>
            </a:r>
            <a:endParaRPr lang="en-US" sz="950" dirty="0"/>
          </a:p>
        </p:txBody>
      </p:sp>
      <p:sp>
        <p:nvSpPr>
          <p:cNvPr id="43" name="Shape 41"/>
          <p:cNvSpPr/>
          <p:nvPr/>
        </p:nvSpPr>
        <p:spPr>
          <a:xfrm>
            <a:off x="6812280" y="4727448"/>
            <a:ext cx="1965960" cy="274320"/>
          </a:xfrm>
          <a:prstGeom prst="roundRect">
            <a:avLst>
              <a:gd name="adj" fmla="val 23333"/>
            </a:avLst>
          </a:prstGeom>
          <a:solidFill>
            <a:srgbClr val="4A9EFF"/>
          </a:solidFill>
          <a:ln w="12700">
            <a:solidFill>
              <a:srgbClr val="4A9EFF"/>
            </a:solidFill>
            <a:prstDash val="solid"/>
          </a:ln>
        </p:spPr>
      </p:sp>
      <p:sp>
        <p:nvSpPr>
          <p:cNvPr id="44" name="Text 42"/>
          <p:cNvSpPr/>
          <p:nvPr/>
        </p:nvSpPr>
        <p:spPr>
          <a:xfrm>
            <a:off x="6812280" y="4727448"/>
            <a:ext cx="1965960" cy="274320"/>
          </a:xfrm>
          <a:prstGeom prst="rect">
            <a:avLst/>
          </a:prstGeom>
          <a:noFill/>
          <a:ln/>
        </p:spPr>
        <p:txBody>
          <a:bodyPr wrap="square" lIns="0" tIns="0" rIns="0" bIns="0" rtlCol="0" anchor="ctr"/>
          <a:lstStyle/>
          <a:p>
            <a:pPr marL="0" indent="0" algn="ctr">
              <a:buNone/>
            </a:pPr>
            <a:r>
              <a:rPr lang="en-US" sz="950" b="1" dirty="0">
                <a:solidFill>
                  <a:srgbClr val="0A1628"/>
                </a:solidFill>
              </a:rPr>
              <a:t>Local Decision Making</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65760" y="256032"/>
            <a:ext cx="50292" cy="868680"/>
          </a:xfrm>
          <a:prstGeom prst="rect">
            <a:avLst/>
          </a:prstGeom>
          <a:solidFill>
            <a:srgbClr val="4A9EFF"/>
          </a:solidFill>
          <a:ln w="12700">
            <a:solidFill>
              <a:srgbClr val="4A9EFF"/>
            </a:solidFill>
            <a:prstDash val="solid"/>
          </a:ln>
        </p:spPr>
      </p:sp>
      <p:sp>
        <p:nvSpPr>
          <p:cNvPr id="3" name="Text 1"/>
          <p:cNvSpPr/>
          <p:nvPr/>
        </p:nvSpPr>
        <p:spPr>
          <a:xfrm>
            <a:off x="548640" y="237744"/>
            <a:ext cx="8229600" cy="320040"/>
          </a:xfrm>
          <a:prstGeom prst="rect">
            <a:avLst/>
          </a:prstGeom>
          <a:noFill/>
          <a:ln/>
        </p:spPr>
        <p:txBody>
          <a:bodyPr wrap="square" lIns="0" tIns="0" rIns="0" bIns="0" rtlCol="0" anchor="ctr"/>
          <a:lstStyle/>
          <a:p>
            <a:pPr marL="0" indent="0">
              <a:buNone/>
            </a:pPr>
            <a:r>
              <a:rPr lang="en-US" sz="1050" b="1" dirty="0">
                <a:solidFill>
                  <a:srgbClr val="4A9EFF"/>
                </a:solidFill>
              </a:rPr>
              <a:t>System Architecture</a:t>
            </a:r>
            <a:endParaRPr lang="en-US" sz="1050" dirty="0"/>
          </a:p>
        </p:txBody>
      </p:sp>
      <p:sp>
        <p:nvSpPr>
          <p:cNvPr id="4" name="Text 2"/>
          <p:cNvSpPr/>
          <p:nvPr/>
        </p:nvSpPr>
        <p:spPr>
          <a:xfrm>
            <a:off x="548640" y="530352"/>
            <a:ext cx="8321040" cy="566928"/>
          </a:xfrm>
          <a:prstGeom prst="rect">
            <a:avLst/>
          </a:prstGeom>
          <a:noFill/>
          <a:ln/>
        </p:spPr>
        <p:txBody>
          <a:bodyPr wrap="square" lIns="0" tIns="0" rIns="0" bIns="0"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End-to-End Processing Pipeline</a:t>
            </a:r>
            <a:endParaRPr lang="en-US" sz="2500" dirty="0"/>
          </a:p>
        </p:txBody>
      </p:sp>
      <p:sp>
        <p:nvSpPr>
          <p:cNvPr id="5" name="Shape 3"/>
          <p:cNvSpPr/>
          <p:nvPr/>
        </p:nvSpPr>
        <p:spPr>
          <a:xfrm>
            <a:off x="365760" y="1216152"/>
            <a:ext cx="8412480" cy="566928"/>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6" name="Text 4"/>
          <p:cNvSpPr/>
          <p:nvPr/>
        </p:nvSpPr>
        <p:spPr>
          <a:xfrm>
            <a:off x="399583" y="1147572"/>
            <a:ext cx="8321040" cy="512064"/>
          </a:xfrm>
          <a:prstGeom prst="rect">
            <a:avLst/>
          </a:prstGeom>
          <a:noFill/>
          <a:ln/>
        </p:spPr>
        <p:txBody>
          <a:bodyPr wrap="square" lIns="76200" tIns="76200" rIns="76200" bIns="76200" rtlCol="0" anchor="t"/>
          <a:lstStyle/>
          <a:p>
            <a:pPr marL="0" indent="0" algn="l">
              <a:buNone/>
            </a:pPr>
            <a:r>
              <a:rPr lang="en-US" sz="1150" dirty="0">
                <a:solidFill>
                  <a:srgbClr val="C8DCF5"/>
                </a:solidFill>
                <a:latin typeface="Calibri" pitchFamily="34" charset="0"/>
                <a:ea typeface="Calibri" pitchFamily="34" charset="-122"/>
                <a:cs typeface="Calibri" pitchFamily="34" charset="-120"/>
              </a:rPr>
              <a:t>The system follows a linear processing chain from camera input to cloud sync. At each stage, data is processed locally — face detection and embedding generation happen via face-api.js models, liveness is verified through landmark geometry, and recognized events are written to encrypted local storage before being queued for eventual AWS sync.</a:t>
            </a:r>
            <a:endParaRPr lang="en-US" sz="1150" dirty="0"/>
          </a:p>
        </p:txBody>
      </p:sp>
      <p:sp>
        <p:nvSpPr>
          <p:cNvPr id="7" name="Shape 5"/>
          <p:cNvSpPr/>
          <p:nvPr/>
        </p:nvSpPr>
        <p:spPr>
          <a:xfrm>
            <a:off x="3017520" y="1901952"/>
            <a:ext cx="3108960" cy="310896"/>
          </a:xfrm>
          <a:prstGeom prst="rect">
            <a:avLst/>
          </a:prstGeom>
          <a:solidFill>
            <a:srgbClr val="0D2137"/>
          </a:solidFill>
          <a:ln w="19050">
            <a:solidFill>
              <a:srgbClr val="4A9EFF"/>
            </a:solidFill>
            <a:prstDash val="solid"/>
          </a:ln>
        </p:spPr>
      </p:sp>
      <p:sp>
        <p:nvSpPr>
          <p:cNvPr id="8" name="Text 6"/>
          <p:cNvSpPr/>
          <p:nvPr/>
        </p:nvSpPr>
        <p:spPr>
          <a:xfrm>
            <a:off x="3017520" y="1901952"/>
            <a:ext cx="3108960" cy="310896"/>
          </a:xfrm>
          <a:prstGeom prst="rect">
            <a:avLst/>
          </a:prstGeom>
          <a:noFill/>
          <a:ln/>
        </p:spPr>
        <p:txBody>
          <a:bodyPr wrap="square" lIns="0" tIns="0" rIns="0" bIns="0" rtlCol="0" anchor="ctr"/>
          <a:lstStyle/>
          <a:p>
            <a:pPr marL="0" indent="0" algn="ctr">
              <a:buNone/>
            </a:pPr>
            <a:r>
              <a:rPr lang="en-US" sz="1150" dirty="0">
                <a:solidFill>
                  <a:srgbClr val="FFFFFF"/>
                </a:solidFill>
              </a:rPr>
              <a:t>📷 Camera Input</a:t>
            </a:r>
            <a:endParaRPr lang="en-US" sz="1150" dirty="0"/>
          </a:p>
        </p:txBody>
      </p:sp>
      <p:sp>
        <p:nvSpPr>
          <p:cNvPr id="9" name="Text 7"/>
          <p:cNvSpPr/>
          <p:nvPr/>
        </p:nvSpPr>
        <p:spPr>
          <a:xfrm>
            <a:off x="4389120" y="2212848"/>
            <a:ext cx="365760" cy="256032"/>
          </a:xfrm>
          <a:prstGeom prst="rect">
            <a:avLst/>
          </a:prstGeom>
          <a:noFill/>
          <a:ln/>
        </p:spPr>
        <p:txBody>
          <a:bodyPr wrap="square" lIns="0" tIns="0" rIns="0" bIns="0" rtlCol="0" anchor="ctr"/>
          <a:lstStyle/>
          <a:p>
            <a:pPr marL="0" indent="0" algn="ctr">
              <a:buNone/>
            </a:pPr>
            <a:r>
              <a:rPr lang="en-US" sz="1100" dirty="0">
                <a:solidFill>
                  <a:srgbClr val="00D4AA"/>
                </a:solidFill>
              </a:rPr>
              <a:t>▼</a:t>
            </a:r>
            <a:endParaRPr lang="en-US" sz="1100" dirty="0"/>
          </a:p>
        </p:txBody>
      </p:sp>
      <p:sp>
        <p:nvSpPr>
          <p:cNvPr id="10" name="Shape 8"/>
          <p:cNvSpPr/>
          <p:nvPr/>
        </p:nvSpPr>
        <p:spPr>
          <a:xfrm>
            <a:off x="3017520" y="2304288"/>
            <a:ext cx="3108960" cy="310896"/>
          </a:xfrm>
          <a:prstGeom prst="rect">
            <a:avLst/>
          </a:prstGeom>
          <a:solidFill>
            <a:srgbClr val="0D2137"/>
          </a:solidFill>
          <a:ln w="19050">
            <a:solidFill>
              <a:srgbClr val="4A9EFF"/>
            </a:solidFill>
            <a:prstDash val="solid"/>
          </a:ln>
        </p:spPr>
      </p:sp>
      <p:sp>
        <p:nvSpPr>
          <p:cNvPr id="11" name="Text 9"/>
          <p:cNvSpPr/>
          <p:nvPr/>
        </p:nvSpPr>
        <p:spPr>
          <a:xfrm>
            <a:off x="3017520" y="2304288"/>
            <a:ext cx="3108960" cy="310896"/>
          </a:xfrm>
          <a:prstGeom prst="rect">
            <a:avLst/>
          </a:prstGeom>
          <a:noFill/>
          <a:ln/>
        </p:spPr>
        <p:txBody>
          <a:bodyPr wrap="square" lIns="0" tIns="0" rIns="0" bIns="0" rtlCol="0" anchor="ctr"/>
          <a:lstStyle/>
          <a:p>
            <a:pPr marL="0" indent="0" algn="ctr">
              <a:buNone/>
            </a:pPr>
            <a:r>
              <a:rPr lang="en-US" sz="1150" dirty="0">
                <a:solidFill>
                  <a:srgbClr val="FFFFFF"/>
                </a:solidFill>
              </a:rPr>
              <a:t>🔍 Face Detection</a:t>
            </a:r>
            <a:endParaRPr lang="en-US" sz="1150" dirty="0"/>
          </a:p>
        </p:txBody>
      </p:sp>
      <p:sp>
        <p:nvSpPr>
          <p:cNvPr id="12" name="Text 10"/>
          <p:cNvSpPr/>
          <p:nvPr/>
        </p:nvSpPr>
        <p:spPr>
          <a:xfrm>
            <a:off x="4389120" y="2615184"/>
            <a:ext cx="365760" cy="256032"/>
          </a:xfrm>
          <a:prstGeom prst="rect">
            <a:avLst/>
          </a:prstGeom>
          <a:noFill/>
          <a:ln/>
        </p:spPr>
        <p:txBody>
          <a:bodyPr wrap="square" lIns="0" tIns="0" rIns="0" bIns="0" rtlCol="0" anchor="ctr"/>
          <a:lstStyle/>
          <a:p>
            <a:pPr marL="0" indent="0" algn="ctr">
              <a:buNone/>
            </a:pPr>
            <a:r>
              <a:rPr lang="en-US" sz="1100" dirty="0">
                <a:solidFill>
                  <a:srgbClr val="00D4AA"/>
                </a:solidFill>
              </a:rPr>
              <a:t>▼</a:t>
            </a:r>
            <a:endParaRPr lang="en-US" sz="1100" dirty="0"/>
          </a:p>
        </p:txBody>
      </p:sp>
      <p:sp>
        <p:nvSpPr>
          <p:cNvPr id="13" name="Shape 11"/>
          <p:cNvSpPr/>
          <p:nvPr/>
        </p:nvSpPr>
        <p:spPr>
          <a:xfrm>
            <a:off x="3017520" y="2706624"/>
            <a:ext cx="3108960" cy="310896"/>
          </a:xfrm>
          <a:prstGeom prst="rect">
            <a:avLst/>
          </a:prstGeom>
          <a:solidFill>
            <a:srgbClr val="0D2137"/>
          </a:solidFill>
          <a:ln w="19050">
            <a:solidFill>
              <a:srgbClr val="00D4AA"/>
            </a:solidFill>
            <a:prstDash val="solid"/>
          </a:ln>
        </p:spPr>
      </p:sp>
      <p:sp>
        <p:nvSpPr>
          <p:cNvPr id="14" name="Text 12"/>
          <p:cNvSpPr/>
          <p:nvPr/>
        </p:nvSpPr>
        <p:spPr>
          <a:xfrm>
            <a:off x="3017520" y="2706624"/>
            <a:ext cx="3108960" cy="310896"/>
          </a:xfrm>
          <a:prstGeom prst="rect">
            <a:avLst/>
          </a:prstGeom>
          <a:noFill/>
          <a:ln/>
        </p:spPr>
        <p:txBody>
          <a:bodyPr wrap="square" lIns="0" tIns="0" rIns="0" bIns="0" rtlCol="0" anchor="ctr"/>
          <a:lstStyle/>
          <a:p>
            <a:pPr marL="0" indent="0" algn="ctr">
              <a:buNone/>
            </a:pPr>
            <a:r>
              <a:rPr lang="en-US" sz="1150" dirty="0">
                <a:solidFill>
                  <a:srgbClr val="FFFFFF"/>
                </a:solidFill>
              </a:rPr>
              <a:t>🧠 Face Embedding</a:t>
            </a:r>
            <a:endParaRPr lang="en-US" sz="1150" dirty="0"/>
          </a:p>
        </p:txBody>
      </p:sp>
      <p:sp>
        <p:nvSpPr>
          <p:cNvPr id="15" name="Text 13"/>
          <p:cNvSpPr/>
          <p:nvPr/>
        </p:nvSpPr>
        <p:spPr>
          <a:xfrm>
            <a:off x="4389120" y="3017520"/>
            <a:ext cx="365760" cy="256032"/>
          </a:xfrm>
          <a:prstGeom prst="rect">
            <a:avLst/>
          </a:prstGeom>
          <a:noFill/>
          <a:ln/>
        </p:spPr>
        <p:txBody>
          <a:bodyPr wrap="square" lIns="0" tIns="0" rIns="0" bIns="0" rtlCol="0" anchor="ctr"/>
          <a:lstStyle/>
          <a:p>
            <a:pPr marL="0" indent="0" algn="ctr">
              <a:buNone/>
            </a:pPr>
            <a:r>
              <a:rPr lang="en-US" sz="1100" dirty="0">
                <a:solidFill>
                  <a:srgbClr val="00D4AA"/>
                </a:solidFill>
              </a:rPr>
              <a:t>▼</a:t>
            </a:r>
            <a:endParaRPr lang="en-US" sz="1100" dirty="0"/>
          </a:p>
        </p:txBody>
      </p:sp>
      <p:sp>
        <p:nvSpPr>
          <p:cNvPr id="16" name="Shape 14"/>
          <p:cNvSpPr/>
          <p:nvPr/>
        </p:nvSpPr>
        <p:spPr>
          <a:xfrm>
            <a:off x="3017520" y="3108960"/>
            <a:ext cx="3108960" cy="310896"/>
          </a:xfrm>
          <a:prstGeom prst="rect">
            <a:avLst/>
          </a:prstGeom>
          <a:solidFill>
            <a:srgbClr val="0D2137"/>
          </a:solidFill>
          <a:ln w="19050">
            <a:solidFill>
              <a:srgbClr val="00D4AA"/>
            </a:solidFill>
            <a:prstDash val="solid"/>
          </a:ln>
        </p:spPr>
      </p:sp>
      <p:sp>
        <p:nvSpPr>
          <p:cNvPr id="17" name="Text 15"/>
          <p:cNvSpPr/>
          <p:nvPr/>
        </p:nvSpPr>
        <p:spPr>
          <a:xfrm>
            <a:off x="3017520" y="3108960"/>
            <a:ext cx="3108960" cy="310896"/>
          </a:xfrm>
          <a:prstGeom prst="rect">
            <a:avLst/>
          </a:prstGeom>
          <a:noFill/>
          <a:ln/>
        </p:spPr>
        <p:txBody>
          <a:bodyPr wrap="square" lIns="0" tIns="0" rIns="0" bIns="0" rtlCol="0" anchor="ctr"/>
          <a:lstStyle/>
          <a:p>
            <a:pPr marL="0" indent="0" algn="ctr">
              <a:buNone/>
            </a:pPr>
            <a:r>
              <a:rPr lang="en-US" sz="1150" dirty="0">
                <a:solidFill>
                  <a:srgbClr val="FFFFFF"/>
                </a:solidFill>
              </a:rPr>
              <a:t>👁️  Liveness Verification</a:t>
            </a:r>
            <a:endParaRPr lang="en-US" sz="1150" dirty="0"/>
          </a:p>
        </p:txBody>
      </p:sp>
      <p:sp>
        <p:nvSpPr>
          <p:cNvPr id="18" name="Text 16"/>
          <p:cNvSpPr/>
          <p:nvPr/>
        </p:nvSpPr>
        <p:spPr>
          <a:xfrm>
            <a:off x="4389120" y="3419856"/>
            <a:ext cx="365760" cy="256032"/>
          </a:xfrm>
          <a:prstGeom prst="rect">
            <a:avLst/>
          </a:prstGeom>
          <a:noFill/>
          <a:ln/>
        </p:spPr>
        <p:txBody>
          <a:bodyPr wrap="square" lIns="0" tIns="0" rIns="0" bIns="0" rtlCol="0" anchor="ctr"/>
          <a:lstStyle/>
          <a:p>
            <a:pPr marL="0" indent="0" algn="ctr">
              <a:buNone/>
            </a:pPr>
            <a:r>
              <a:rPr lang="en-US" sz="1100" dirty="0">
                <a:solidFill>
                  <a:srgbClr val="00D4AA"/>
                </a:solidFill>
              </a:rPr>
              <a:t>▼</a:t>
            </a:r>
            <a:endParaRPr lang="en-US" sz="1100" dirty="0"/>
          </a:p>
        </p:txBody>
      </p:sp>
      <p:sp>
        <p:nvSpPr>
          <p:cNvPr id="19" name="Shape 17"/>
          <p:cNvSpPr/>
          <p:nvPr/>
        </p:nvSpPr>
        <p:spPr>
          <a:xfrm>
            <a:off x="3017520" y="3511296"/>
            <a:ext cx="3108960" cy="310896"/>
          </a:xfrm>
          <a:prstGeom prst="rect">
            <a:avLst/>
          </a:prstGeom>
          <a:solidFill>
            <a:srgbClr val="0D2137"/>
          </a:solidFill>
          <a:ln w="19050">
            <a:solidFill>
              <a:srgbClr val="00C896"/>
            </a:solidFill>
            <a:prstDash val="solid"/>
          </a:ln>
        </p:spPr>
      </p:sp>
      <p:sp>
        <p:nvSpPr>
          <p:cNvPr id="20" name="Text 18"/>
          <p:cNvSpPr/>
          <p:nvPr/>
        </p:nvSpPr>
        <p:spPr>
          <a:xfrm>
            <a:off x="3017520" y="3511296"/>
            <a:ext cx="3108960" cy="310896"/>
          </a:xfrm>
          <a:prstGeom prst="rect">
            <a:avLst/>
          </a:prstGeom>
          <a:noFill/>
          <a:ln/>
        </p:spPr>
        <p:txBody>
          <a:bodyPr wrap="square" lIns="0" tIns="0" rIns="0" bIns="0" rtlCol="0" anchor="ctr"/>
          <a:lstStyle/>
          <a:p>
            <a:pPr marL="0" indent="0" algn="ctr">
              <a:buNone/>
            </a:pPr>
            <a:r>
              <a:rPr lang="en-US" sz="1150" dirty="0">
                <a:solidFill>
                  <a:srgbClr val="FFFFFF"/>
                </a:solidFill>
              </a:rPr>
              <a:t>✅ Face Recognition</a:t>
            </a:r>
            <a:endParaRPr lang="en-US" sz="1150" dirty="0"/>
          </a:p>
        </p:txBody>
      </p:sp>
      <p:sp>
        <p:nvSpPr>
          <p:cNvPr id="21" name="Text 19"/>
          <p:cNvSpPr/>
          <p:nvPr/>
        </p:nvSpPr>
        <p:spPr>
          <a:xfrm>
            <a:off x="4389120" y="3822192"/>
            <a:ext cx="365760" cy="256032"/>
          </a:xfrm>
          <a:prstGeom prst="rect">
            <a:avLst/>
          </a:prstGeom>
          <a:noFill/>
          <a:ln/>
        </p:spPr>
        <p:txBody>
          <a:bodyPr wrap="square" lIns="0" tIns="0" rIns="0" bIns="0" rtlCol="0" anchor="ctr"/>
          <a:lstStyle/>
          <a:p>
            <a:pPr marL="0" indent="0" algn="ctr">
              <a:buNone/>
            </a:pPr>
            <a:r>
              <a:rPr lang="en-US" sz="1100" dirty="0">
                <a:solidFill>
                  <a:srgbClr val="00D4AA"/>
                </a:solidFill>
              </a:rPr>
              <a:t>▼</a:t>
            </a:r>
            <a:endParaRPr lang="en-US" sz="1100" dirty="0"/>
          </a:p>
        </p:txBody>
      </p:sp>
      <p:sp>
        <p:nvSpPr>
          <p:cNvPr id="22" name="Shape 20"/>
          <p:cNvSpPr/>
          <p:nvPr/>
        </p:nvSpPr>
        <p:spPr>
          <a:xfrm>
            <a:off x="3017520" y="3913632"/>
            <a:ext cx="3108960" cy="310896"/>
          </a:xfrm>
          <a:prstGeom prst="rect">
            <a:avLst/>
          </a:prstGeom>
          <a:solidFill>
            <a:srgbClr val="0D2137"/>
          </a:solidFill>
          <a:ln w="19050">
            <a:solidFill>
              <a:srgbClr val="00C896"/>
            </a:solidFill>
            <a:prstDash val="solid"/>
          </a:ln>
        </p:spPr>
      </p:sp>
      <p:sp>
        <p:nvSpPr>
          <p:cNvPr id="23" name="Text 21"/>
          <p:cNvSpPr/>
          <p:nvPr/>
        </p:nvSpPr>
        <p:spPr>
          <a:xfrm>
            <a:off x="3017520" y="3913632"/>
            <a:ext cx="3108960" cy="310896"/>
          </a:xfrm>
          <a:prstGeom prst="rect">
            <a:avLst/>
          </a:prstGeom>
          <a:noFill/>
          <a:ln/>
        </p:spPr>
        <p:txBody>
          <a:bodyPr wrap="square" lIns="0" tIns="0" rIns="0" bIns="0" rtlCol="0" anchor="ctr"/>
          <a:lstStyle/>
          <a:p>
            <a:pPr marL="0" indent="0" algn="ctr">
              <a:buNone/>
            </a:pPr>
            <a:r>
              <a:rPr lang="en-US" sz="1150" dirty="0">
                <a:solidFill>
                  <a:srgbClr val="FFFFFF"/>
                </a:solidFill>
              </a:rPr>
              <a:t>📋 Attendance Logging</a:t>
            </a:r>
            <a:endParaRPr lang="en-US" sz="1150" dirty="0"/>
          </a:p>
        </p:txBody>
      </p:sp>
      <p:sp>
        <p:nvSpPr>
          <p:cNvPr id="24" name="Text 22"/>
          <p:cNvSpPr/>
          <p:nvPr/>
        </p:nvSpPr>
        <p:spPr>
          <a:xfrm>
            <a:off x="4389120" y="4224528"/>
            <a:ext cx="365760" cy="256032"/>
          </a:xfrm>
          <a:prstGeom prst="rect">
            <a:avLst/>
          </a:prstGeom>
          <a:noFill/>
          <a:ln/>
        </p:spPr>
        <p:txBody>
          <a:bodyPr wrap="square" lIns="0" tIns="0" rIns="0" bIns="0" rtlCol="0" anchor="ctr"/>
          <a:lstStyle/>
          <a:p>
            <a:pPr marL="0" indent="0" algn="ctr">
              <a:buNone/>
            </a:pPr>
            <a:r>
              <a:rPr lang="en-US" sz="1100" dirty="0">
                <a:solidFill>
                  <a:srgbClr val="00D4AA"/>
                </a:solidFill>
              </a:rPr>
              <a:t>▼</a:t>
            </a:r>
            <a:endParaRPr lang="en-US" sz="1100" dirty="0"/>
          </a:p>
        </p:txBody>
      </p:sp>
      <p:sp>
        <p:nvSpPr>
          <p:cNvPr id="25" name="Shape 23"/>
          <p:cNvSpPr/>
          <p:nvPr/>
        </p:nvSpPr>
        <p:spPr>
          <a:xfrm>
            <a:off x="3017520" y="4315968"/>
            <a:ext cx="3108960" cy="310896"/>
          </a:xfrm>
          <a:prstGeom prst="rect">
            <a:avLst/>
          </a:prstGeom>
          <a:solidFill>
            <a:srgbClr val="0D2137"/>
          </a:solidFill>
          <a:ln w="19050">
            <a:solidFill>
              <a:srgbClr val="6B8BB0"/>
            </a:solidFill>
            <a:prstDash val="solid"/>
          </a:ln>
        </p:spPr>
      </p:sp>
      <p:sp>
        <p:nvSpPr>
          <p:cNvPr id="26" name="Text 24"/>
          <p:cNvSpPr/>
          <p:nvPr/>
        </p:nvSpPr>
        <p:spPr>
          <a:xfrm>
            <a:off x="3017520" y="4315968"/>
            <a:ext cx="3108960" cy="310896"/>
          </a:xfrm>
          <a:prstGeom prst="rect">
            <a:avLst/>
          </a:prstGeom>
          <a:noFill/>
          <a:ln/>
        </p:spPr>
        <p:txBody>
          <a:bodyPr wrap="square" lIns="0" tIns="0" rIns="0" bIns="0" rtlCol="0" anchor="ctr"/>
          <a:lstStyle/>
          <a:p>
            <a:pPr marL="0" indent="0" algn="ctr">
              <a:buNone/>
            </a:pPr>
            <a:r>
              <a:rPr lang="en-US" sz="1150" dirty="0">
                <a:solidFill>
                  <a:srgbClr val="FFFFFF"/>
                </a:solidFill>
              </a:rPr>
              <a:t>☁️  Sync Queue → AWS</a:t>
            </a:r>
            <a:endParaRPr lang="en-US" sz="1150" dirty="0"/>
          </a:p>
        </p:txBody>
      </p:sp>
      <p:sp>
        <p:nvSpPr>
          <p:cNvPr id="27" name="Shape 25"/>
          <p:cNvSpPr/>
          <p:nvPr/>
        </p:nvSpPr>
        <p:spPr>
          <a:xfrm>
            <a:off x="274320" y="1920240"/>
            <a:ext cx="2487168" cy="2423160"/>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28" name="Shape 26"/>
          <p:cNvSpPr/>
          <p:nvPr/>
        </p:nvSpPr>
        <p:spPr>
          <a:xfrm>
            <a:off x="274320" y="1920240"/>
            <a:ext cx="50292" cy="2423160"/>
          </a:xfrm>
          <a:prstGeom prst="rect">
            <a:avLst/>
          </a:prstGeom>
          <a:solidFill>
            <a:srgbClr val="00D4AA"/>
          </a:solidFill>
          <a:ln w="12700">
            <a:solidFill>
              <a:srgbClr val="00D4AA"/>
            </a:solidFill>
            <a:prstDash val="solid"/>
          </a:ln>
        </p:spPr>
      </p:sp>
      <p:sp>
        <p:nvSpPr>
          <p:cNvPr id="29" name="Text 27"/>
          <p:cNvSpPr/>
          <p:nvPr/>
        </p:nvSpPr>
        <p:spPr>
          <a:xfrm>
            <a:off x="438912" y="1993392"/>
            <a:ext cx="2240280" cy="256032"/>
          </a:xfrm>
          <a:prstGeom prst="rect">
            <a:avLst/>
          </a:prstGeom>
          <a:noFill/>
          <a:ln/>
        </p:spPr>
        <p:txBody>
          <a:bodyPr wrap="square" lIns="0" tIns="0" rIns="0" bIns="0" rtlCol="0" anchor="ctr"/>
          <a:lstStyle/>
          <a:p>
            <a:pPr marL="0" indent="0">
              <a:buNone/>
            </a:pPr>
            <a:r>
              <a:rPr lang="en-US" sz="1150" b="1" dirty="0">
                <a:solidFill>
                  <a:srgbClr val="00D4AA"/>
                </a:solidFill>
              </a:rPr>
              <a:t>Security Layer</a:t>
            </a:r>
            <a:endParaRPr lang="en-US" sz="1150" dirty="0"/>
          </a:p>
        </p:txBody>
      </p:sp>
      <p:sp>
        <p:nvSpPr>
          <p:cNvPr id="30" name="Text 28"/>
          <p:cNvSpPr/>
          <p:nvPr/>
        </p:nvSpPr>
        <p:spPr>
          <a:xfrm>
            <a:off x="420624" y="2286000"/>
            <a:ext cx="2249424" cy="1097280"/>
          </a:xfrm>
          <a:prstGeom prst="rect">
            <a:avLst/>
          </a:prstGeom>
          <a:noFill/>
          <a:ln/>
        </p:spPr>
        <p:txBody>
          <a:bodyPr wrap="square" lIns="76200" tIns="76200" rIns="76200" bIns="76200" rtlCol="0" anchor="t"/>
          <a:lstStyle/>
          <a:p>
            <a:pPr marL="0" indent="0" algn="l">
              <a:buNone/>
            </a:pPr>
            <a:r>
              <a:rPr lang="en-US" sz="1150" dirty="0">
                <a:solidFill>
                  <a:srgbClr val="C8DCF5"/>
                </a:solidFill>
                <a:latin typeface="Calibri" pitchFamily="34" charset="0"/>
                <a:ea typeface="Calibri" pitchFamily="34" charset="-122"/>
                <a:cs typeface="Calibri" pitchFamily="34" charset="-120"/>
              </a:rPr>
              <a:t>All identity data is encrypted using AES-GCM 256-bit. Keys are derived with PBKDF2-SHA256. Every access event is chained in an audit log using SHA-256 hashes.</a:t>
            </a:r>
            <a:endParaRPr lang="en-US" sz="1150" dirty="0"/>
          </a:p>
        </p:txBody>
      </p:sp>
      <p:sp>
        <p:nvSpPr>
          <p:cNvPr id="31" name="Shape 29"/>
          <p:cNvSpPr/>
          <p:nvPr/>
        </p:nvSpPr>
        <p:spPr>
          <a:xfrm>
            <a:off x="6400800" y="1920240"/>
            <a:ext cx="2487168" cy="2423160"/>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32" name="Shape 30"/>
          <p:cNvSpPr/>
          <p:nvPr/>
        </p:nvSpPr>
        <p:spPr>
          <a:xfrm>
            <a:off x="6400800" y="1920240"/>
            <a:ext cx="50292" cy="2423160"/>
          </a:xfrm>
          <a:prstGeom prst="rect">
            <a:avLst/>
          </a:prstGeom>
          <a:solidFill>
            <a:srgbClr val="4A9EFF"/>
          </a:solidFill>
          <a:ln w="12700">
            <a:solidFill>
              <a:srgbClr val="4A9EFF"/>
            </a:solidFill>
            <a:prstDash val="solid"/>
          </a:ln>
        </p:spPr>
      </p:sp>
      <p:sp>
        <p:nvSpPr>
          <p:cNvPr id="33" name="Text 31"/>
          <p:cNvSpPr/>
          <p:nvPr/>
        </p:nvSpPr>
        <p:spPr>
          <a:xfrm>
            <a:off x="6565392" y="1993392"/>
            <a:ext cx="2240280" cy="256032"/>
          </a:xfrm>
          <a:prstGeom prst="rect">
            <a:avLst/>
          </a:prstGeom>
          <a:noFill/>
          <a:ln/>
        </p:spPr>
        <p:txBody>
          <a:bodyPr wrap="square" lIns="0" tIns="0" rIns="0" bIns="0" rtlCol="0" anchor="ctr"/>
          <a:lstStyle/>
          <a:p>
            <a:pPr marL="0" indent="0">
              <a:buNone/>
            </a:pPr>
            <a:r>
              <a:rPr lang="en-US" sz="1150" b="1" dirty="0">
                <a:solidFill>
                  <a:srgbClr val="4A9EFF"/>
                </a:solidFill>
              </a:rPr>
              <a:t>Local Storage</a:t>
            </a:r>
            <a:endParaRPr lang="en-US" sz="1150" dirty="0"/>
          </a:p>
        </p:txBody>
      </p:sp>
      <p:sp>
        <p:nvSpPr>
          <p:cNvPr id="34" name="Text 32"/>
          <p:cNvSpPr/>
          <p:nvPr/>
        </p:nvSpPr>
        <p:spPr>
          <a:xfrm>
            <a:off x="6547104" y="2286000"/>
            <a:ext cx="2249424" cy="1097280"/>
          </a:xfrm>
          <a:prstGeom prst="rect">
            <a:avLst/>
          </a:prstGeom>
          <a:noFill/>
          <a:ln/>
        </p:spPr>
        <p:txBody>
          <a:bodyPr wrap="square" lIns="76200" tIns="76200" rIns="76200" bIns="76200" rtlCol="0" anchor="t"/>
          <a:lstStyle/>
          <a:p>
            <a:pPr marL="0" indent="0" algn="l">
              <a:buNone/>
            </a:pPr>
            <a:r>
              <a:rPr lang="en-US" sz="1150" dirty="0">
                <a:solidFill>
                  <a:srgbClr val="C8DCF5"/>
                </a:solidFill>
                <a:latin typeface="Calibri" pitchFamily="34" charset="0"/>
                <a:ea typeface="Calibri" pitchFamily="34" charset="-122"/>
                <a:cs typeface="Calibri" pitchFamily="34" charset="-120"/>
              </a:rPr>
              <a:t>All databases live in browser localStorage — Face DB, Attendance DB, Audit Log DB, and the Sync Queue. No data leaves the device until explicitly synced.</a:t>
            </a:r>
            <a:endParaRPr lang="en-US" sz="1150" dirty="0"/>
          </a:p>
        </p:txBody>
      </p:sp>
      <p:sp>
        <p:nvSpPr>
          <p:cNvPr id="35" name="Shape 33"/>
          <p:cNvSpPr/>
          <p:nvPr/>
        </p:nvSpPr>
        <p:spPr>
          <a:xfrm>
            <a:off x="274320" y="4709160"/>
            <a:ext cx="1572768" cy="274320"/>
          </a:xfrm>
          <a:prstGeom prst="roundRect">
            <a:avLst>
              <a:gd name="adj" fmla="val 23333"/>
            </a:avLst>
          </a:prstGeom>
          <a:solidFill>
            <a:srgbClr val="00D4AA"/>
          </a:solidFill>
          <a:ln w="12700">
            <a:solidFill>
              <a:srgbClr val="00D4AA"/>
            </a:solidFill>
            <a:prstDash val="solid"/>
          </a:ln>
        </p:spPr>
      </p:sp>
      <p:sp>
        <p:nvSpPr>
          <p:cNvPr id="36" name="Text 34"/>
          <p:cNvSpPr/>
          <p:nvPr/>
        </p:nvSpPr>
        <p:spPr>
          <a:xfrm>
            <a:off x="274320" y="4709160"/>
            <a:ext cx="1572768" cy="274320"/>
          </a:xfrm>
          <a:prstGeom prst="rect">
            <a:avLst/>
          </a:prstGeom>
          <a:noFill/>
          <a:ln/>
        </p:spPr>
        <p:txBody>
          <a:bodyPr wrap="square" lIns="0" tIns="0" rIns="0" bIns="0" rtlCol="0" anchor="ctr"/>
          <a:lstStyle/>
          <a:p>
            <a:pPr marL="0" indent="0" algn="ctr">
              <a:buNone/>
            </a:pPr>
            <a:r>
              <a:rPr lang="en-US" sz="950" b="1" dirty="0">
                <a:solidFill>
                  <a:srgbClr val="0A1628"/>
                </a:solidFill>
              </a:rPr>
              <a:t>face-api.js</a:t>
            </a:r>
            <a:endParaRPr lang="en-US" sz="950" dirty="0"/>
          </a:p>
        </p:txBody>
      </p:sp>
      <p:sp>
        <p:nvSpPr>
          <p:cNvPr id="37" name="Shape 35"/>
          <p:cNvSpPr/>
          <p:nvPr/>
        </p:nvSpPr>
        <p:spPr>
          <a:xfrm>
            <a:off x="2011680" y="4709160"/>
            <a:ext cx="1572768" cy="274320"/>
          </a:xfrm>
          <a:prstGeom prst="roundRect">
            <a:avLst>
              <a:gd name="adj" fmla="val 23333"/>
            </a:avLst>
          </a:prstGeom>
          <a:solidFill>
            <a:srgbClr val="00D4AA"/>
          </a:solidFill>
          <a:ln w="12700">
            <a:solidFill>
              <a:srgbClr val="00D4AA"/>
            </a:solidFill>
            <a:prstDash val="solid"/>
          </a:ln>
        </p:spPr>
      </p:sp>
      <p:sp>
        <p:nvSpPr>
          <p:cNvPr id="38" name="Text 36"/>
          <p:cNvSpPr/>
          <p:nvPr/>
        </p:nvSpPr>
        <p:spPr>
          <a:xfrm>
            <a:off x="2011680" y="4709160"/>
            <a:ext cx="1572768" cy="274320"/>
          </a:xfrm>
          <a:prstGeom prst="rect">
            <a:avLst/>
          </a:prstGeom>
          <a:noFill/>
          <a:ln/>
        </p:spPr>
        <p:txBody>
          <a:bodyPr wrap="square" lIns="0" tIns="0" rIns="0" bIns="0" rtlCol="0" anchor="ctr"/>
          <a:lstStyle/>
          <a:p>
            <a:pPr marL="0" indent="0" algn="ctr">
              <a:buNone/>
            </a:pPr>
            <a:r>
              <a:rPr lang="en-US" sz="950" b="1" dirty="0">
                <a:solidFill>
                  <a:srgbClr val="0A1628"/>
                </a:solidFill>
              </a:rPr>
              <a:t>Tiny Face Detector</a:t>
            </a:r>
            <a:endParaRPr lang="en-US" sz="950" dirty="0"/>
          </a:p>
        </p:txBody>
      </p:sp>
      <p:sp>
        <p:nvSpPr>
          <p:cNvPr id="39" name="Shape 37"/>
          <p:cNvSpPr/>
          <p:nvPr/>
        </p:nvSpPr>
        <p:spPr>
          <a:xfrm>
            <a:off x="3749040" y="4709160"/>
            <a:ext cx="1572768" cy="274320"/>
          </a:xfrm>
          <a:prstGeom prst="roundRect">
            <a:avLst>
              <a:gd name="adj" fmla="val 23333"/>
            </a:avLst>
          </a:prstGeom>
          <a:solidFill>
            <a:srgbClr val="00D4AA"/>
          </a:solidFill>
          <a:ln w="12700">
            <a:solidFill>
              <a:srgbClr val="00D4AA"/>
            </a:solidFill>
            <a:prstDash val="solid"/>
          </a:ln>
        </p:spPr>
      </p:sp>
      <p:sp>
        <p:nvSpPr>
          <p:cNvPr id="40" name="Text 38"/>
          <p:cNvSpPr/>
          <p:nvPr/>
        </p:nvSpPr>
        <p:spPr>
          <a:xfrm>
            <a:off x="3749040" y="4709160"/>
            <a:ext cx="1572768" cy="274320"/>
          </a:xfrm>
          <a:prstGeom prst="rect">
            <a:avLst/>
          </a:prstGeom>
          <a:noFill/>
          <a:ln/>
        </p:spPr>
        <p:txBody>
          <a:bodyPr wrap="square" lIns="0" tIns="0" rIns="0" bIns="0" rtlCol="0" anchor="ctr"/>
          <a:lstStyle/>
          <a:p>
            <a:pPr marL="0" indent="0" algn="ctr">
              <a:buNone/>
            </a:pPr>
            <a:r>
              <a:rPr lang="en-US" sz="950" b="1" dirty="0">
                <a:solidFill>
                  <a:srgbClr val="0A1628"/>
                </a:solidFill>
              </a:rPr>
              <a:t>68 Landmarks</a:t>
            </a:r>
            <a:endParaRPr lang="en-US" sz="950" dirty="0"/>
          </a:p>
        </p:txBody>
      </p:sp>
      <p:sp>
        <p:nvSpPr>
          <p:cNvPr id="41" name="Shape 39"/>
          <p:cNvSpPr/>
          <p:nvPr/>
        </p:nvSpPr>
        <p:spPr>
          <a:xfrm>
            <a:off x="5486400" y="4709160"/>
            <a:ext cx="1572768" cy="274320"/>
          </a:xfrm>
          <a:prstGeom prst="roundRect">
            <a:avLst>
              <a:gd name="adj" fmla="val 23333"/>
            </a:avLst>
          </a:prstGeom>
          <a:solidFill>
            <a:srgbClr val="4A9EFF"/>
          </a:solidFill>
          <a:ln w="12700">
            <a:solidFill>
              <a:srgbClr val="4A9EFF"/>
            </a:solidFill>
            <a:prstDash val="solid"/>
          </a:ln>
        </p:spPr>
      </p:sp>
      <p:sp>
        <p:nvSpPr>
          <p:cNvPr id="42" name="Text 40"/>
          <p:cNvSpPr/>
          <p:nvPr/>
        </p:nvSpPr>
        <p:spPr>
          <a:xfrm>
            <a:off x="5486400" y="4709160"/>
            <a:ext cx="1572768" cy="274320"/>
          </a:xfrm>
          <a:prstGeom prst="rect">
            <a:avLst/>
          </a:prstGeom>
          <a:noFill/>
          <a:ln/>
        </p:spPr>
        <p:txBody>
          <a:bodyPr wrap="square" lIns="0" tIns="0" rIns="0" bIns="0" rtlCol="0" anchor="ctr"/>
          <a:lstStyle/>
          <a:p>
            <a:pPr marL="0" indent="0" algn="ctr">
              <a:buNone/>
            </a:pPr>
            <a:r>
              <a:rPr lang="en-US" sz="950" b="1" dirty="0">
                <a:solidFill>
                  <a:srgbClr val="0A1628"/>
                </a:solidFill>
              </a:rPr>
              <a:t>WebCrypto API</a:t>
            </a:r>
            <a:endParaRPr lang="en-US" sz="950" dirty="0"/>
          </a:p>
        </p:txBody>
      </p:sp>
      <p:sp>
        <p:nvSpPr>
          <p:cNvPr id="43" name="Shape 41"/>
          <p:cNvSpPr/>
          <p:nvPr/>
        </p:nvSpPr>
        <p:spPr>
          <a:xfrm>
            <a:off x="7223760" y="4709160"/>
            <a:ext cx="1572768" cy="274320"/>
          </a:xfrm>
          <a:prstGeom prst="roundRect">
            <a:avLst>
              <a:gd name="adj" fmla="val 23333"/>
            </a:avLst>
          </a:prstGeom>
          <a:solidFill>
            <a:srgbClr val="4A9EFF"/>
          </a:solidFill>
          <a:ln w="12700">
            <a:solidFill>
              <a:srgbClr val="4A9EFF"/>
            </a:solidFill>
            <a:prstDash val="solid"/>
          </a:ln>
        </p:spPr>
      </p:sp>
      <p:sp>
        <p:nvSpPr>
          <p:cNvPr id="44" name="Text 42"/>
          <p:cNvSpPr/>
          <p:nvPr/>
        </p:nvSpPr>
        <p:spPr>
          <a:xfrm>
            <a:off x="7223760" y="4709160"/>
            <a:ext cx="1572768" cy="274320"/>
          </a:xfrm>
          <a:prstGeom prst="rect">
            <a:avLst/>
          </a:prstGeom>
          <a:noFill/>
          <a:ln/>
        </p:spPr>
        <p:txBody>
          <a:bodyPr wrap="square" lIns="0" tIns="0" rIns="0" bIns="0" rtlCol="0" anchor="ctr"/>
          <a:lstStyle/>
          <a:p>
            <a:pPr marL="0" indent="0" algn="ctr">
              <a:buNone/>
            </a:pPr>
            <a:r>
              <a:rPr lang="en-US" sz="950" b="1" dirty="0">
                <a:solidFill>
                  <a:srgbClr val="0A1628"/>
                </a:solidFill>
              </a:rPr>
              <a:t>LocalStorage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2240"/>
        </a:solidFill>
        <a:effectLst/>
      </p:bgPr>
    </p:bg>
    <p:spTree>
      <p:nvGrpSpPr>
        <p:cNvPr id="1" name=""/>
        <p:cNvGrpSpPr/>
        <p:nvPr/>
      </p:nvGrpSpPr>
      <p:grpSpPr>
        <a:xfrm>
          <a:off x="0" y="0"/>
          <a:ext cx="0" cy="0"/>
          <a:chOff x="0" y="0"/>
          <a:chExt cx="0" cy="0"/>
        </a:xfrm>
      </p:grpSpPr>
      <p:sp>
        <p:nvSpPr>
          <p:cNvPr id="2" name="Shape 0"/>
          <p:cNvSpPr/>
          <p:nvPr/>
        </p:nvSpPr>
        <p:spPr>
          <a:xfrm>
            <a:off x="365760" y="256032"/>
            <a:ext cx="50292" cy="868680"/>
          </a:xfrm>
          <a:prstGeom prst="rect">
            <a:avLst/>
          </a:prstGeom>
          <a:solidFill>
            <a:srgbClr val="00D4AA"/>
          </a:solidFill>
          <a:ln w="12700">
            <a:solidFill>
              <a:srgbClr val="00D4AA"/>
            </a:solidFill>
            <a:prstDash val="solid"/>
          </a:ln>
        </p:spPr>
      </p:sp>
      <p:sp>
        <p:nvSpPr>
          <p:cNvPr id="3" name="Text 1"/>
          <p:cNvSpPr/>
          <p:nvPr/>
        </p:nvSpPr>
        <p:spPr>
          <a:xfrm>
            <a:off x="548640" y="237744"/>
            <a:ext cx="8229600" cy="320040"/>
          </a:xfrm>
          <a:prstGeom prst="rect">
            <a:avLst/>
          </a:prstGeom>
          <a:noFill/>
          <a:ln/>
        </p:spPr>
        <p:txBody>
          <a:bodyPr wrap="square" lIns="0" tIns="0" rIns="0" bIns="0" rtlCol="0" anchor="ctr"/>
          <a:lstStyle/>
          <a:p>
            <a:pPr marL="0" indent="0">
              <a:buNone/>
            </a:pPr>
            <a:r>
              <a:rPr lang="en-US" sz="1050" b="1" dirty="0">
                <a:solidFill>
                  <a:srgbClr val="00D4AA"/>
                </a:solidFill>
              </a:rPr>
              <a:t>Face Recognition Pipeline</a:t>
            </a:r>
            <a:endParaRPr lang="en-US" sz="1050" dirty="0"/>
          </a:p>
        </p:txBody>
      </p:sp>
      <p:sp>
        <p:nvSpPr>
          <p:cNvPr id="4" name="Text 2"/>
          <p:cNvSpPr/>
          <p:nvPr/>
        </p:nvSpPr>
        <p:spPr>
          <a:xfrm>
            <a:off x="548640" y="530352"/>
            <a:ext cx="8321040" cy="566928"/>
          </a:xfrm>
          <a:prstGeom prst="rect">
            <a:avLst/>
          </a:prstGeom>
          <a:noFill/>
          <a:ln/>
        </p:spPr>
        <p:txBody>
          <a:bodyPr wrap="square" lIns="0" tIns="0" rIns="0" bIns="0"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Enrollment &amp; Recognition Workflow</a:t>
            </a:r>
            <a:endParaRPr lang="en-US" sz="2500" dirty="0"/>
          </a:p>
        </p:txBody>
      </p:sp>
      <p:sp>
        <p:nvSpPr>
          <p:cNvPr id="5" name="Shape 3"/>
          <p:cNvSpPr/>
          <p:nvPr/>
        </p:nvSpPr>
        <p:spPr>
          <a:xfrm>
            <a:off x="365760" y="1216152"/>
            <a:ext cx="8412480" cy="566928"/>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6" name="Text 4"/>
          <p:cNvSpPr/>
          <p:nvPr/>
        </p:nvSpPr>
        <p:spPr>
          <a:xfrm>
            <a:off x="411480" y="1143000"/>
            <a:ext cx="8321040" cy="512064"/>
          </a:xfrm>
          <a:prstGeom prst="rect">
            <a:avLst/>
          </a:prstGeom>
          <a:noFill/>
          <a:ln/>
        </p:spPr>
        <p:txBody>
          <a:bodyPr wrap="square" lIns="76200" tIns="76200" rIns="76200" bIns="76200" rtlCol="0" anchor="t"/>
          <a:lstStyle/>
          <a:p>
            <a:pPr marL="0" indent="0" algn="l">
              <a:buNone/>
            </a:pPr>
            <a:r>
              <a:rPr lang="en-US" sz="1150" dirty="0">
                <a:solidFill>
                  <a:srgbClr val="C8DCF5"/>
                </a:solidFill>
                <a:latin typeface="Calibri" pitchFamily="34" charset="0"/>
                <a:ea typeface="Calibri" pitchFamily="34" charset="-122"/>
                <a:cs typeface="Calibri" pitchFamily="34" charset="-120"/>
              </a:rPr>
              <a:t>The pipeline is split into two phases. Enrollment captures multiple facial angles to build a robust reference embedding per user. Recognition then generates a live embedding and computes cosine similarity against stored references — no server, no lookup table, just local math. A configurable threshold determines the match/no-match decision.</a:t>
            </a:r>
            <a:endParaRPr lang="en-US" sz="1150" dirty="0"/>
          </a:p>
        </p:txBody>
      </p:sp>
      <p:sp>
        <p:nvSpPr>
          <p:cNvPr id="7" name="Shape 5"/>
          <p:cNvSpPr/>
          <p:nvPr/>
        </p:nvSpPr>
        <p:spPr>
          <a:xfrm>
            <a:off x="320040" y="1900625"/>
            <a:ext cx="3931920" cy="2999232"/>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8" name="Shape 6"/>
          <p:cNvSpPr/>
          <p:nvPr/>
        </p:nvSpPr>
        <p:spPr>
          <a:xfrm>
            <a:off x="320040" y="1920240"/>
            <a:ext cx="50292" cy="2999232"/>
          </a:xfrm>
          <a:prstGeom prst="rect">
            <a:avLst/>
          </a:prstGeom>
          <a:solidFill>
            <a:srgbClr val="00D4AA"/>
          </a:solidFill>
          <a:ln w="12700">
            <a:solidFill>
              <a:srgbClr val="00D4AA"/>
            </a:solidFill>
            <a:prstDash val="solid"/>
          </a:ln>
        </p:spPr>
      </p:sp>
      <p:sp>
        <p:nvSpPr>
          <p:cNvPr id="9" name="Text 7"/>
          <p:cNvSpPr/>
          <p:nvPr/>
        </p:nvSpPr>
        <p:spPr>
          <a:xfrm>
            <a:off x="457200" y="1904656"/>
            <a:ext cx="3657600" cy="292608"/>
          </a:xfrm>
          <a:prstGeom prst="rect">
            <a:avLst/>
          </a:prstGeom>
          <a:noFill/>
          <a:ln/>
        </p:spPr>
        <p:txBody>
          <a:bodyPr wrap="square" lIns="0" tIns="0" rIns="0" bIns="0" rtlCol="0" anchor="ctr"/>
          <a:lstStyle/>
          <a:p>
            <a:pPr marL="0" indent="0" algn="ctr">
              <a:buNone/>
            </a:pPr>
            <a:r>
              <a:rPr lang="en-US" sz="1300" b="1" dirty="0">
                <a:solidFill>
                  <a:srgbClr val="00D4AA"/>
                </a:solidFill>
              </a:rPr>
              <a:t>ENROLLMENT</a:t>
            </a:r>
            <a:endParaRPr lang="en-US" sz="1300" dirty="0"/>
          </a:p>
        </p:txBody>
      </p:sp>
      <p:sp>
        <p:nvSpPr>
          <p:cNvPr id="10" name="Text 8"/>
          <p:cNvSpPr/>
          <p:nvPr/>
        </p:nvSpPr>
        <p:spPr>
          <a:xfrm>
            <a:off x="502920" y="2138344"/>
            <a:ext cx="3657600" cy="640080"/>
          </a:xfrm>
          <a:prstGeom prst="rect">
            <a:avLst/>
          </a:prstGeom>
          <a:noFill/>
          <a:ln/>
        </p:spPr>
        <p:txBody>
          <a:bodyPr wrap="square" lIns="76200" tIns="76200" rIns="76200" bIns="76200" rtlCol="0" anchor="t"/>
          <a:lstStyle/>
          <a:p>
            <a:pPr marL="0" indent="0" algn="l">
              <a:buNone/>
            </a:pPr>
            <a:r>
              <a:rPr lang="en-US" sz="1150" dirty="0">
                <a:solidFill>
                  <a:srgbClr val="C8DCF5"/>
                </a:solidFill>
                <a:latin typeface="Calibri" pitchFamily="34" charset="0"/>
                <a:ea typeface="Calibri" pitchFamily="34" charset="-122"/>
                <a:cs typeface="Calibri" pitchFamily="34" charset="-120"/>
              </a:rPr>
              <a:t>Users are enrolled by capturing 5 facial samples at different head angles. This improves match accuracy across lighting conditions and head poses during live recognition.</a:t>
            </a:r>
            <a:endParaRPr lang="en-US" sz="1150" dirty="0"/>
          </a:p>
        </p:txBody>
      </p:sp>
      <p:sp>
        <p:nvSpPr>
          <p:cNvPr id="11" name="Shape 9"/>
          <p:cNvSpPr/>
          <p:nvPr/>
        </p:nvSpPr>
        <p:spPr>
          <a:xfrm>
            <a:off x="548640" y="2971800"/>
            <a:ext cx="3566160" cy="310896"/>
          </a:xfrm>
          <a:prstGeom prst="rect">
            <a:avLst/>
          </a:prstGeom>
          <a:solidFill>
            <a:srgbClr val="0A1E35"/>
          </a:solidFill>
          <a:ln w="12700">
            <a:solidFill>
              <a:srgbClr val="00D4AA"/>
            </a:solidFill>
            <a:prstDash val="solid"/>
          </a:ln>
        </p:spPr>
      </p:sp>
      <p:sp>
        <p:nvSpPr>
          <p:cNvPr id="12" name="Text 10"/>
          <p:cNvSpPr/>
          <p:nvPr/>
        </p:nvSpPr>
        <p:spPr>
          <a:xfrm>
            <a:off x="548640" y="2971800"/>
            <a:ext cx="3566160" cy="310896"/>
          </a:xfrm>
          <a:prstGeom prst="rect">
            <a:avLst/>
          </a:prstGeom>
          <a:noFill/>
          <a:ln/>
        </p:spPr>
        <p:txBody>
          <a:bodyPr wrap="square" lIns="0" tIns="0" rIns="0" bIns="0" rtlCol="0" anchor="ctr"/>
          <a:lstStyle/>
          <a:p>
            <a:pPr marL="0" indent="0" algn="ctr">
              <a:buNone/>
            </a:pPr>
            <a:r>
              <a:rPr lang="en-US" sz="1150" dirty="0">
                <a:solidFill>
                  <a:srgbClr val="FFFFFF"/>
                </a:solidFill>
              </a:rPr>
              <a:t>📷 Camera</a:t>
            </a:r>
            <a:endParaRPr lang="en-US" sz="1150" dirty="0"/>
          </a:p>
        </p:txBody>
      </p:sp>
      <p:sp>
        <p:nvSpPr>
          <p:cNvPr id="13" name="Text 11"/>
          <p:cNvSpPr/>
          <p:nvPr/>
        </p:nvSpPr>
        <p:spPr>
          <a:xfrm>
            <a:off x="2167128" y="3255264"/>
            <a:ext cx="365760" cy="256032"/>
          </a:xfrm>
          <a:prstGeom prst="rect">
            <a:avLst/>
          </a:prstGeom>
          <a:noFill/>
          <a:ln/>
        </p:spPr>
        <p:txBody>
          <a:bodyPr wrap="square" lIns="0" tIns="0" rIns="0" bIns="0" rtlCol="0" anchor="ctr"/>
          <a:lstStyle/>
          <a:p>
            <a:pPr marL="0" indent="0" algn="ctr">
              <a:buNone/>
            </a:pPr>
            <a:r>
              <a:rPr lang="en-US" sz="1100" dirty="0">
                <a:solidFill>
                  <a:srgbClr val="00D4AA"/>
                </a:solidFill>
              </a:rPr>
              <a:t>▼</a:t>
            </a:r>
            <a:endParaRPr lang="en-US" sz="1100" dirty="0"/>
          </a:p>
        </p:txBody>
      </p:sp>
      <p:sp>
        <p:nvSpPr>
          <p:cNvPr id="14" name="Shape 12"/>
          <p:cNvSpPr/>
          <p:nvPr/>
        </p:nvSpPr>
        <p:spPr>
          <a:xfrm>
            <a:off x="528066" y="3451798"/>
            <a:ext cx="3566160" cy="310896"/>
          </a:xfrm>
          <a:prstGeom prst="rect">
            <a:avLst/>
          </a:prstGeom>
          <a:solidFill>
            <a:srgbClr val="0A1E35"/>
          </a:solidFill>
          <a:ln w="12700">
            <a:solidFill>
              <a:srgbClr val="00D4AA"/>
            </a:solidFill>
            <a:prstDash val="solid"/>
          </a:ln>
        </p:spPr>
      </p:sp>
      <p:sp>
        <p:nvSpPr>
          <p:cNvPr id="15" name="Text 13"/>
          <p:cNvSpPr/>
          <p:nvPr/>
        </p:nvSpPr>
        <p:spPr>
          <a:xfrm>
            <a:off x="548640" y="3451798"/>
            <a:ext cx="3566160" cy="310896"/>
          </a:xfrm>
          <a:prstGeom prst="rect">
            <a:avLst/>
          </a:prstGeom>
          <a:noFill/>
          <a:ln/>
        </p:spPr>
        <p:txBody>
          <a:bodyPr wrap="square" lIns="0" tIns="0" rIns="0" bIns="0" rtlCol="0" anchor="ctr"/>
          <a:lstStyle/>
          <a:p>
            <a:pPr marL="0" indent="0" algn="ctr">
              <a:buNone/>
            </a:pPr>
            <a:r>
              <a:rPr lang="en-US" sz="1150" dirty="0">
                <a:solidFill>
                  <a:srgbClr val="FFFFFF"/>
                </a:solidFill>
              </a:rPr>
              <a:t>Capture 5 Samples</a:t>
            </a:r>
            <a:endParaRPr lang="en-US" sz="1150" dirty="0"/>
          </a:p>
        </p:txBody>
      </p:sp>
      <p:sp>
        <p:nvSpPr>
          <p:cNvPr id="16" name="Text 14"/>
          <p:cNvSpPr/>
          <p:nvPr/>
        </p:nvSpPr>
        <p:spPr>
          <a:xfrm>
            <a:off x="2148840" y="3721608"/>
            <a:ext cx="365760" cy="256032"/>
          </a:xfrm>
          <a:prstGeom prst="rect">
            <a:avLst/>
          </a:prstGeom>
          <a:noFill/>
          <a:ln/>
        </p:spPr>
        <p:txBody>
          <a:bodyPr wrap="square" lIns="0" tIns="0" rIns="0" bIns="0" rtlCol="0" anchor="ctr"/>
          <a:lstStyle/>
          <a:p>
            <a:pPr marL="0" indent="0" algn="ctr">
              <a:buNone/>
            </a:pPr>
            <a:r>
              <a:rPr lang="en-US" sz="1100" dirty="0">
                <a:solidFill>
                  <a:srgbClr val="00D4AA"/>
                </a:solidFill>
              </a:rPr>
              <a:t>▼</a:t>
            </a:r>
            <a:endParaRPr lang="en-US" sz="1100" dirty="0"/>
          </a:p>
        </p:txBody>
      </p:sp>
      <p:sp>
        <p:nvSpPr>
          <p:cNvPr id="17" name="Shape 15"/>
          <p:cNvSpPr/>
          <p:nvPr/>
        </p:nvSpPr>
        <p:spPr>
          <a:xfrm>
            <a:off x="548640" y="3913373"/>
            <a:ext cx="3566160" cy="310896"/>
          </a:xfrm>
          <a:prstGeom prst="rect">
            <a:avLst/>
          </a:prstGeom>
          <a:solidFill>
            <a:srgbClr val="0A1E35"/>
          </a:solidFill>
          <a:ln w="12700">
            <a:solidFill>
              <a:srgbClr val="00D4AA"/>
            </a:solidFill>
            <a:prstDash val="solid"/>
          </a:ln>
        </p:spPr>
      </p:sp>
      <p:sp>
        <p:nvSpPr>
          <p:cNvPr id="18" name="Text 16"/>
          <p:cNvSpPr/>
          <p:nvPr/>
        </p:nvSpPr>
        <p:spPr>
          <a:xfrm>
            <a:off x="548640" y="3927545"/>
            <a:ext cx="3566160" cy="310896"/>
          </a:xfrm>
          <a:prstGeom prst="rect">
            <a:avLst/>
          </a:prstGeom>
          <a:noFill/>
          <a:ln/>
        </p:spPr>
        <p:txBody>
          <a:bodyPr wrap="square" lIns="0" tIns="0" rIns="0" bIns="0" rtlCol="0" anchor="ctr"/>
          <a:lstStyle/>
          <a:p>
            <a:pPr marL="0" indent="0" algn="ctr">
              <a:buNone/>
            </a:pPr>
            <a:r>
              <a:rPr lang="en-US" sz="1150" dirty="0">
                <a:solidFill>
                  <a:srgbClr val="FFFFFF"/>
                </a:solidFill>
              </a:rPr>
              <a:t>🔍 Embedding Extraction</a:t>
            </a:r>
            <a:endParaRPr lang="en-US" sz="1150" dirty="0"/>
          </a:p>
        </p:txBody>
      </p:sp>
      <p:sp>
        <p:nvSpPr>
          <p:cNvPr id="19" name="Text 17"/>
          <p:cNvSpPr/>
          <p:nvPr/>
        </p:nvSpPr>
        <p:spPr>
          <a:xfrm>
            <a:off x="2148840" y="4178808"/>
            <a:ext cx="365760" cy="256032"/>
          </a:xfrm>
          <a:prstGeom prst="rect">
            <a:avLst/>
          </a:prstGeom>
          <a:noFill/>
          <a:ln/>
        </p:spPr>
        <p:txBody>
          <a:bodyPr wrap="square" lIns="0" tIns="0" rIns="0" bIns="0" rtlCol="0" anchor="ctr"/>
          <a:lstStyle/>
          <a:p>
            <a:pPr marL="0" indent="0" algn="ctr">
              <a:buNone/>
            </a:pPr>
            <a:r>
              <a:rPr lang="en-US" sz="1100" dirty="0">
                <a:solidFill>
                  <a:srgbClr val="00D4AA"/>
                </a:solidFill>
              </a:rPr>
              <a:t>▼</a:t>
            </a:r>
            <a:endParaRPr lang="en-US" sz="1100" dirty="0"/>
          </a:p>
        </p:txBody>
      </p:sp>
      <p:sp>
        <p:nvSpPr>
          <p:cNvPr id="20" name="Shape 18"/>
          <p:cNvSpPr/>
          <p:nvPr/>
        </p:nvSpPr>
        <p:spPr>
          <a:xfrm>
            <a:off x="528066" y="4358826"/>
            <a:ext cx="3566160" cy="310896"/>
          </a:xfrm>
          <a:prstGeom prst="rect">
            <a:avLst/>
          </a:prstGeom>
          <a:solidFill>
            <a:srgbClr val="0A1E35"/>
          </a:solidFill>
          <a:ln w="12700">
            <a:solidFill>
              <a:srgbClr val="00C896"/>
            </a:solidFill>
            <a:prstDash val="solid"/>
          </a:ln>
        </p:spPr>
      </p:sp>
      <p:sp>
        <p:nvSpPr>
          <p:cNvPr id="21" name="Text 19"/>
          <p:cNvSpPr/>
          <p:nvPr/>
        </p:nvSpPr>
        <p:spPr>
          <a:xfrm>
            <a:off x="548640" y="4368634"/>
            <a:ext cx="3566160" cy="310896"/>
          </a:xfrm>
          <a:prstGeom prst="rect">
            <a:avLst/>
          </a:prstGeom>
          <a:noFill/>
          <a:ln/>
        </p:spPr>
        <p:txBody>
          <a:bodyPr wrap="square" lIns="0" tIns="0" rIns="0" bIns="0" rtlCol="0" anchor="ctr"/>
          <a:lstStyle/>
          <a:p>
            <a:pPr marL="0" indent="0" algn="ctr">
              <a:buNone/>
            </a:pPr>
            <a:r>
              <a:rPr lang="en-US" sz="1150" dirty="0">
                <a:solidFill>
                  <a:srgbClr val="FFFFFF"/>
                </a:solidFill>
              </a:rPr>
              <a:t>💾 Local Face Database</a:t>
            </a:r>
            <a:endParaRPr lang="en-US" sz="1150" dirty="0"/>
          </a:p>
        </p:txBody>
      </p:sp>
      <p:sp>
        <p:nvSpPr>
          <p:cNvPr id="22" name="Shape 20"/>
          <p:cNvSpPr/>
          <p:nvPr/>
        </p:nvSpPr>
        <p:spPr>
          <a:xfrm>
            <a:off x="502920" y="4727448"/>
            <a:ext cx="658368" cy="274320"/>
          </a:xfrm>
          <a:prstGeom prst="roundRect">
            <a:avLst>
              <a:gd name="adj" fmla="val 23333"/>
            </a:avLst>
          </a:prstGeom>
          <a:solidFill>
            <a:srgbClr val="00D4AA"/>
          </a:solidFill>
          <a:ln w="12700">
            <a:solidFill>
              <a:srgbClr val="00D4AA"/>
            </a:solidFill>
            <a:prstDash val="solid"/>
          </a:ln>
        </p:spPr>
      </p:sp>
      <p:sp>
        <p:nvSpPr>
          <p:cNvPr id="23" name="Text 21"/>
          <p:cNvSpPr/>
          <p:nvPr/>
        </p:nvSpPr>
        <p:spPr>
          <a:xfrm>
            <a:off x="502920" y="4727448"/>
            <a:ext cx="658368" cy="274320"/>
          </a:xfrm>
          <a:prstGeom prst="rect">
            <a:avLst/>
          </a:prstGeom>
          <a:noFill/>
          <a:ln/>
        </p:spPr>
        <p:txBody>
          <a:bodyPr wrap="square" lIns="0" tIns="0" rIns="0" bIns="0" rtlCol="0" anchor="ctr"/>
          <a:lstStyle/>
          <a:p>
            <a:pPr marL="0" indent="0" algn="ctr">
              <a:buNone/>
            </a:pPr>
            <a:r>
              <a:rPr lang="en-US" sz="950" b="1" dirty="0">
                <a:solidFill>
                  <a:srgbClr val="0A1628"/>
                </a:solidFill>
              </a:rPr>
              <a:t>Front</a:t>
            </a:r>
            <a:endParaRPr lang="en-US" sz="950" dirty="0"/>
          </a:p>
        </p:txBody>
      </p:sp>
      <p:sp>
        <p:nvSpPr>
          <p:cNvPr id="24" name="Shape 22"/>
          <p:cNvSpPr/>
          <p:nvPr/>
        </p:nvSpPr>
        <p:spPr>
          <a:xfrm>
            <a:off x="1216152" y="4727448"/>
            <a:ext cx="658368" cy="274320"/>
          </a:xfrm>
          <a:prstGeom prst="roundRect">
            <a:avLst>
              <a:gd name="adj" fmla="val 23333"/>
            </a:avLst>
          </a:prstGeom>
          <a:solidFill>
            <a:srgbClr val="00D4AA"/>
          </a:solidFill>
          <a:ln w="12700">
            <a:solidFill>
              <a:srgbClr val="00D4AA"/>
            </a:solidFill>
            <a:prstDash val="solid"/>
          </a:ln>
        </p:spPr>
      </p:sp>
      <p:sp>
        <p:nvSpPr>
          <p:cNvPr id="25" name="Text 23"/>
          <p:cNvSpPr/>
          <p:nvPr/>
        </p:nvSpPr>
        <p:spPr>
          <a:xfrm>
            <a:off x="1216152" y="4727448"/>
            <a:ext cx="658368" cy="274320"/>
          </a:xfrm>
          <a:prstGeom prst="rect">
            <a:avLst/>
          </a:prstGeom>
          <a:noFill/>
          <a:ln/>
        </p:spPr>
        <p:txBody>
          <a:bodyPr wrap="square" lIns="0" tIns="0" rIns="0" bIns="0" rtlCol="0" anchor="ctr"/>
          <a:lstStyle/>
          <a:p>
            <a:pPr marL="0" indent="0" algn="ctr">
              <a:buNone/>
            </a:pPr>
            <a:r>
              <a:rPr lang="en-US" sz="950" b="1" dirty="0">
                <a:solidFill>
                  <a:srgbClr val="0A1628"/>
                </a:solidFill>
              </a:rPr>
              <a:t>Left</a:t>
            </a:r>
            <a:endParaRPr lang="en-US" sz="950" dirty="0"/>
          </a:p>
        </p:txBody>
      </p:sp>
      <p:sp>
        <p:nvSpPr>
          <p:cNvPr id="26" name="Shape 24"/>
          <p:cNvSpPr/>
          <p:nvPr/>
        </p:nvSpPr>
        <p:spPr>
          <a:xfrm>
            <a:off x="1929384" y="4727448"/>
            <a:ext cx="658368" cy="274320"/>
          </a:xfrm>
          <a:prstGeom prst="roundRect">
            <a:avLst>
              <a:gd name="adj" fmla="val 23333"/>
            </a:avLst>
          </a:prstGeom>
          <a:solidFill>
            <a:srgbClr val="00D4AA"/>
          </a:solidFill>
          <a:ln w="12700">
            <a:solidFill>
              <a:srgbClr val="00D4AA"/>
            </a:solidFill>
            <a:prstDash val="solid"/>
          </a:ln>
        </p:spPr>
      </p:sp>
      <p:sp>
        <p:nvSpPr>
          <p:cNvPr id="27" name="Text 25"/>
          <p:cNvSpPr/>
          <p:nvPr/>
        </p:nvSpPr>
        <p:spPr>
          <a:xfrm>
            <a:off x="1929384" y="4727448"/>
            <a:ext cx="658368" cy="274320"/>
          </a:xfrm>
          <a:prstGeom prst="rect">
            <a:avLst/>
          </a:prstGeom>
          <a:noFill/>
          <a:ln/>
        </p:spPr>
        <p:txBody>
          <a:bodyPr wrap="square" lIns="0" tIns="0" rIns="0" bIns="0" rtlCol="0" anchor="ctr"/>
          <a:lstStyle/>
          <a:p>
            <a:pPr marL="0" indent="0" algn="ctr">
              <a:buNone/>
            </a:pPr>
            <a:r>
              <a:rPr lang="en-US" sz="950" b="1" dirty="0">
                <a:solidFill>
                  <a:srgbClr val="0A1628"/>
                </a:solidFill>
              </a:rPr>
              <a:t>Right</a:t>
            </a:r>
            <a:endParaRPr lang="en-US" sz="950" dirty="0"/>
          </a:p>
        </p:txBody>
      </p:sp>
      <p:sp>
        <p:nvSpPr>
          <p:cNvPr id="28" name="Shape 26"/>
          <p:cNvSpPr/>
          <p:nvPr/>
        </p:nvSpPr>
        <p:spPr>
          <a:xfrm>
            <a:off x="2642616" y="4727448"/>
            <a:ext cx="658368" cy="274320"/>
          </a:xfrm>
          <a:prstGeom prst="roundRect">
            <a:avLst>
              <a:gd name="adj" fmla="val 23333"/>
            </a:avLst>
          </a:prstGeom>
          <a:solidFill>
            <a:srgbClr val="00D4AA"/>
          </a:solidFill>
          <a:ln w="12700">
            <a:solidFill>
              <a:srgbClr val="00D4AA"/>
            </a:solidFill>
            <a:prstDash val="solid"/>
          </a:ln>
        </p:spPr>
      </p:sp>
      <p:sp>
        <p:nvSpPr>
          <p:cNvPr id="29" name="Text 27"/>
          <p:cNvSpPr/>
          <p:nvPr/>
        </p:nvSpPr>
        <p:spPr>
          <a:xfrm>
            <a:off x="2642616" y="4727448"/>
            <a:ext cx="658368" cy="274320"/>
          </a:xfrm>
          <a:prstGeom prst="rect">
            <a:avLst/>
          </a:prstGeom>
          <a:noFill/>
          <a:ln/>
        </p:spPr>
        <p:txBody>
          <a:bodyPr wrap="square" lIns="0" tIns="0" rIns="0" bIns="0" rtlCol="0" anchor="ctr"/>
          <a:lstStyle/>
          <a:p>
            <a:pPr marL="0" indent="0" algn="ctr">
              <a:buNone/>
            </a:pPr>
            <a:r>
              <a:rPr lang="en-US" sz="950" b="1" dirty="0">
                <a:solidFill>
                  <a:srgbClr val="0A1628"/>
                </a:solidFill>
              </a:rPr>
              <a:t>Up</a:t>
            </a:r>
            <a:endParaRPr lang="en-US" sz="950" dirty="0"/>
          </a:p>
        </p:txBody>
      </p:sp>
      <p:sp>
        <p:nvSpPr>
          <p:cNvPr id="30" name="Shape 28"/>
          <p:cNvSpPr/>
          <p:nvPr/>
        </p:nvSpPr>
        <p:spPr>
          <a:xfrm>
            <a:off x="3355848" y="4727448"/>
            <a:ext cx="658368" cy="274320"/>
          </a:xfrm>
          <a:prstGeom prst="roundRect">
            <a:avLst>
              <a:gd name="adj" fmla="val 23333"/>
            </a:avLst>
          </a:prstGeom>
          <a:solidFill>
            <a:srgbClr val="00D4AA"/>
          </a:solidFill>
          <a:ln w="12700">
            <a:solidFill>
              <a:srgbClr val="00D4AA"/>
            </a:solidFill>
            <a:prstDash val="solid"/>
          </a:ln>
        </p:spPr>
      </p:sp>
      <p:sp>
        <p:nvSpPr>
          <p:cNvPr id="31" name="Text 29"/>
          <p:cNvSpPr/>
          <p:nvPr/>
        </p:nvSpPr>
        <p:spPr>
          <a:xfrm>
            <a:off x="3355848" y="4727448"/>
            <a:ext cx="658368" cy="274320"/>
          </a:xfrm>
          <a:prstGeom prst="rect">
            <a:avLst/>
          </a:prstGeom>
          <a:noFill/>
          <a:ln/>
        </p:spPr>
        <p:txBody>
          <a:bodyPr wrap="square" lIns="0" tIns="0" rIns="0" bIns="0" rtlCol="0" anchor="ctr"/>
          <a:lstStyle/>
          <a:p>
            <a:pPr marL="0" indent="0" algn="ctr">
              <a:buNone/>
            </a:pPr>
            <a:r>
              <a:rPr lang="en-US" sz="950" b="1" dirty="0">
                <a:solidFill>
                  <a:srgbClr val="0A1628"/>
                </a:solidFill>
              </a:rPr>
              <a:t>Down</a:t>
            </a:r>
            <a:endParaRPr lang="en-US" sz="950" dirty="0"/>
          </a:p>
        </p:txBody>
      </p:sp>
      <p:sp>
        <p:nvSpPr>
          <p:cNvPr id="32" name="Shape 30"/>
          <p:cNvSpPr/>
          <p:nvPr/>
        </p:nvSpPr>
        <p:spPr>
          <a:xfrm>
            <a:off x="4526280" y="1920240"/>
            <a:ext cx="4251960" cy="2999232"/>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33" name="Shape 31"/>
          <p:cNvSpPr/>
          <p:nvPr/>
        </p:nvSpPr>
        <p:spPr>
          <a:xfrm>
            <a:off x="4526280" y="1920240"/>
            <a:ext cx="50292" cy="2999232"/>
          </a:xfrm>
          <a:prstGeom prst="rect">
            <a:avLst/>
          </a:prstGeom>
          <a:solidFill>
            <a:srgbClr val="4A9EFF"/>
          </a:solidFill>
          <a:ln w="12700">
            <a:solidFill>
              <a:srgbClr val="4A9EFF"/>
            </a:solidFill>
            <a:prstDash val="solid"/>
          </a:ln>
        </p:spPr>
      </p:sp>
      <p:sp>
        <p:nvSpPr>
          <p:cNvPr id="34" name="Text 32"/>
          <p:cNvSpPr/>
          <p:nvPr/>
        </p:nvSpPr>
        <p:spPr>
          <a:xfrm>
            <a:off x="4672584" y="1904656"/>
            <a:ext cx="3977640" cy="292608"/>
          </a:xfrm>
          <a:prstGeom prst="rect">
            <a:avLst/>
          </a:prstGeom>
          <a:noFill/>
          <a:ln/>
        </p:spPr>
        <p:txBody>
          <a:bodyPr wrap="square" lIns="0" tIns="0" rIns="0" bIns="0" rtlCol="0" anchor="ctr"/>
          <a:lstStyle/>
          <a:p>
            <a:pPr marL="0" indent="0" algn="ctr">
              <a:buNone/>
            </a:pPr>
            <a:r>
              <a:rPr lang="en-US" sz="1300" b="1" dirty="0">
                <a:solidFill>
                  <a:srgbClr val="4A9EFF"/>
                </a:solidFill>
              </a:rPr>
              <a:t>RECOGNITION</a:t>
            </a:r>
            <a:endParaRPr lang="en-US" sz="1300" dirty="0"/>
          </a:p>
        </p:txBody>
      </p:sp>
      <p:sp>
        <p:nvSpPr>
          <p:cNvPr id="35" name="Text 33"/>
          <p:cNvSpPr/>
          <p:nvPr/>
        </p:nvSpPr>
        <p:spPr>
          <a:xfrm>
            <a:off x="4709160" y="2123055"/>
            <a:ext cx="3858768" cy="640080"/>
          </a:xfrm>
          <a:prstGeom prst="rect">
            <a:avLst/>
          </a:prstGeom>
          <a:noFill/>
          <a:ln/>
        </p:spPr>
        <p:txBody>
          <a:bodyPr wrap="square" lIns="76200" tIns="76200" rIns="76200" bIns="76200" rtlCol="0" anchor="t"/>
          <a:lstStyle/>
          <a:p>
            <a:pPr marL="0" indent="0" algn="l">
              <a:buNone/>
            </a:pPr>
            <a:r>
              <a:rPr lang="en-US" sz="1150" dirty="0">
                <a:solidFill>
                  <a:srgbClr val="C8DCF5"/>
                </a:solidFill>
                <a:latin typeface="Calibri" pitchFamily="34" charset="0"/>
                <a:ea typeface="Calibri" pitchFamily="34" charset="-122"/>
                <a:cs typeface="Calibri" pitchFamily="34" charset="-120"/>
              </a:rPr>
              <a:t>At authentication time, the system generates a fresh embedding from the camera and compares it against every enrolled user's stored vectors using cosine similarity. The closest match above the threshold is accepted.</a:t>
            </a:r>
            <a:endParaRPr lang="en-US" sz="1150" dirty="0"/>
          </a:p>
        </p:txBody>
      </p:sp>
      <p:sp>
        <p:nvSpPr>
          <p:cNvPr id="36" name="Shape 34"/>
          <p:cNvSpPr/>
          <p:nvPr/>
        </p:nvSpPr>
        <p:spPr>
          <a:xfrm>
            <a:off x="4736592" y="2955061"/>
            <a:ext cx="3913632" cy="310896"/>
          </a:xfrm>
          <a:prstGeom prst="rect">
            <a:avLst/>
          </a:prstGeom>
          <a:solidFill>
            <a:srgbClr val="0A1E35"/>
          </a:solidFill>
          <a:ln w="12700">
            <a:solidFill>
              <a:srgbClr val="4A9EFF"/>
            </a:solidFill>
            <a:prstDash val="solid"/>
          </a:ln>
        </p:spPr>
      </p:sp>
      <p:sp>
        <p:nvSpPr>
          <p:cNvPr id="37" name="Text 35"/>
          <p:cNvSpPr/>
          <p:nvPr/>
        </p:nvSpPr>
        <p:spPr>
          <a:xfrm>
            <a:off x="4736592" y="2964303"/>
            <a:ext cx="3913632" cy="310896"/>
          </a:xfrm>
          <a:prstGeom prst="rect">
            <a:avLst/>
          </a:prstGeom>
          <a:noFill/>
          <a:ln/>
        </p:spPr>
        <p:txBody>
          <a:bodyPr wrap="square" lIns="0" tIns="0" rIns="0" bIns="0" rtlCol="0" anchor="ctr"/>
          <a:lstStyle/>
          <a:p>
            <a:pPr marL="0" indent="0" algn="ctr">
              <a:buNone/>
            </a:pPr>
            <a:r>
              <a:rPr lang="en-US" sz="1150" dirty="0">
                <a:solidFill>
                  <a:srgbClr val="FFFFFF"/>
                </a:solidFill>
              </a:rPr>
              <a:t>📷 Camera</a:t>
            </a:r>
            <a:endParaRPr lang="en-US" sz="1150" dirty="0"/>
          </a:p>
        </p:txBody>
      </p:sp>
      <p:sp>
        <p:nvSpPr>
          <p:cNvPr id="38" name="Text 36"/>
          <p:cNvSpPr/>
          <p:nvPr/>
        </p:nvSpPr>
        <p:spPr>
          <a:xfrm>
            <a:off x="6556248" y="3236976"/>
            <a:ext cx="365760" cy="256032"/>
          </a:xfrm>
          <a:prstGeom prst="rect">
            <a:avLst/>
          </a:prstGeom>
          <a:noFill/>
          <a:ln/>
        </p:spPr>
        <p:txBody>
          <a:bodyPr wrap="square" lIns="0" tIns="0" rIns="0" bIns="0" rtlCol="0" anchor="ctr"/>
          <a:lstStyle/>
          <a:p>
            <a:pPr marL="0" indent="0" algn="ctr">
              <a:buNone/>
            </a:pPr>
            <a:r>
              <a:rPr lang="en-US" sz="1100" dirty="0">
                <a:solidFill>
                  <a:srgbClr val="00D4AA"/>
                </a:solidFill>
              </a:rPr>
              <a:t>▼</a:t>
            </a:r>
            <a:endParaRPr lang="en-US" sz="1100" dirty="0"/>
          </a:p>
        </p:txBody>
      </p:sp>
      <p:sp>
        <p:nvSpPr>
          <p:cNvPr id="39" name="Shape 37"/>
          <p:cNvSpPr/>
          <p:nvPr/>
        </p:nvSpPr>
        <p:spPr>
          <a:xfrm>
            <a:off x="4736592" y="3429000"/>
            <a:ext cx="3913632" cy="310896"/>
          </a:xfrm>
          <a:prstGeom prst="rect">
            <a:avLst/>
          </a:prstGeom>
          <a:solidFill>
            <a:srgbClr val="0A1E35"/>
          </a:solidFill>
          <a:ln w="12700">
            <a:solidFill>
              <a:srgbClr val="4A9EFF"/>
            </a:solidFill>
            <a:prstDash val="solid"/>
          </a:ln>
        </p:spPr>
      </p:sp>
      <p:sp>
        <p:nvSpPr>
          <p:cNvPr id="40" name="Text 38"/>
          <p:cNvSpPr/>
          <p:nvPr/>
        </p:nvSpPr>
        <p:spPr>
          <a:xfrm>
            <a:off x="4736592" y="3412359"/>
            <a:ext cx="3913632" cy="310896"/>
          </a:xfrm>
          <a:prstGeom prst="rect">
            <a:avLst/>
          </a:prstGeom>
          <a:noFill/>
          <a:ln/>
        </p:spPr>
        <p:txBody>
          <a:bodyPr wrap="square" lIns="0" tIns="0" rIns="0" bIns="0" rtlCol="0" anchor="ctr"/>
          <a:lstStyle/>
          <a:p>
            <a:pPr marL="0" indent="0" algn="ctr">
              <a:buNone/>
            </a:pPr>
            <a:r>
              <a:rPr lang="en-US" sz="1150" dirty="0">
                <a:solidFill>
                  <a:srgbClr val="FFFFFF"/>
                </a:solidFill>
              </a:rPr>
              <a:t>🧠 Embedding Generation</a:t>
            </a:r>
            <a:endParaRPr lang="en-US" sz="1150" dirty="0"/>
          </a:p>
        </p:txBody>
      </p:sp>
      <p:sp>
        <p:nvSpPr>
          <p:cNvPr id="41" name="Text 39"/>
          <p:cNvSpPr/>
          <p:nvPr/>
        </p:nvSpPr>
        <p:spPr>
          <a:xfrm>
            <a:off x="6556248" y="3703320"/>
            <a:ext cx="365760" cy="256032"/>
          </a:xfrm>
          <a:prstGeom prst="rect">
            <a:avLst/>
          </a:prstGeom>
          <a:noFill/>
          <a:ln/>
        </p:spPr>
        <p:txBody>
          <a:bodyPr wrap="square" lIns="0" tIns="0" rIns="0" bIns="0" rtlCol="0" anchor="ctr"/>
          <a:lstStyle/>
          <a:p>
            <a:pPr marL="0" indent="0" algn="ctr">
              <a:buNone/>
            </a:pPr>
            <a:r>
              <a:rPr lang="en-US" sz="1100" dirty="0">
                <a:solidFill>
                  <a:srgbClr val="00D4AA"/>
                </a:solidFill>
              </a:rPr>
              <a:t>▼</a:t>
            </a:r>
            <a:endParaRPr lang="en-US" sz="1100" dirty="0"/>
          </a:p>
        </p:txBody>
      </p:sp>
      <p:sp>
        <p:nvSpPr>
          <p:cNvPr id="42" name="Shape 40"/>
          <p:cNvSpPr/>
          <p:nvPr/>
        </p:nvSpPr>
        <p:spPr>
          <a:xfrm>
            <a:off x="4736592" y="3897704"/>
            <a:ext cx="3913632" cy="310896"/>
          </a:xfrm>
          <a:prstGeom prst="rect">
            <a:avLst/>
          </a:prstGeom>
          <a:solidFill>
            <a:srgbClr val="0A1E35"/>
          </a:solidFill>
          <a:ln w="12700">
            <a:solidFill>
              <a:srgbClr val="4A9EFF"/>
            </a:solidFill>
            <a:prstDash val="solid"/>
          </a:ln>
        </p:spPr>
      </p:sp>
      <p:sp>
        <p:nvSpPr>
          <p:cNvPr id="43" name="Text 41"/>
          <p:cNvSpPr/>
          <p:nvPr/>
        </p:nvSpPr>
        <p:spPr>
          <a:xfrm>
            <a:off x="4736592" y="3899031"/>
            <a:ext cx="3913632" cy="310896"/>
          </a:xfrm>
          <a:prstGeom prst="rect">
            <a:avLst/>
          </a:prstGeom>
          <a:noFill/>
          <a:ln/>
        </p:spPr>
        <p:txBody>
          <a:bodyPr wrap="square" lIns="0" tIns="0" rIns="0" bIns="0" rtlCol="0" anchor="ctr"/>
          <a:lstStyle/>
          <a:p>
            <a:pPr marL="0" indent="0" algn="ctr">
              <a:buNone/>
            </a:pPr>
            <a:r>
              <a:rPr lang="en-US" sz="1150" dirty="0">
                <a:solidFill>
                  <a:srgbClr val="FFFFFF"/>
                </a:solidFill>
              </a:rPr>
              <a:t>📊 Similarity Matching</a:t>
            </a:r>
            <a:endParaRPr lang="en-US" sz="1150" dirty="0"/>
          </a:p>
        </p:txBody>
      </p:sp>
      <p:sp>
        <p:nvSpPr>
          <p:cNvPr id="44" name="Text 42"/>
          <p:cNvSpPr/>
          <p:nvPr/>
        </p:nvSpPr>
        <p:spPr>
          <a:xfrm>
            <a:off x="6556248" y="4160520"/>
            <a:ext cx="365760" cy="256032"/>
          </a:xfrm>
          <a:prstGeom prst="rect">
            <a:avLst/>
          </a:prstGeom>
          <a:noFill/>
          <a:ln/>
        </p:spPr>
        <p:txBody>
          <a:bodyPr wrap="square" lIns="0" tIns="0" rIns="0" bIns="0" rtlCol="0" anchor="ctr"/>
          <a:lstStyle/>
          <a:p>
            <a:pPr marL="0" indent="0" algn="ctr">
              <a:buNone/>
            </a:pPr>
            <a:r>
              <a:rPr lang="en-US" sz="1100" dirty="0">
                <a:solidFill>
                  <a:srgbClr val="00D4AA"/>
                </a:solidFill>
              </a:rPr>
              <a:t>▼</a:t>
            </a:r>
            <a:endParaRPr lang="en-US" sz="1100" dirty="0"/>
          </a:p>
        </p:txBody>
      </p:sp>
      <p:sp>
        <p:nvSpPr>
          <p:cNvPr id="45" name="Shape 43"/>
          <p:cNvSpPr/>
          <p:nvPr/>
        </p:nvSpPr>
        <p:spPr>
          <a:xfrm>
            <a:off x="4736592" y="4366260"/>
            <a:ext cx="3913632" cy="310896"/>
          </a:xfrm>
          <a:prstGeom prst="rect">
            <a:avLst/>
          </a:prstGeom>
          <a:solidFill>
            <a:srgbClr val="0A1E35"/>
          </a:solidFill>
          <a:ln w="12700">
            <a:solidFill>
              <a:srgbClr val="00C896"/>
            </a:solidFill>
            <a:prstDash val="solid"/>
          </a:ln>
        </p:spPr>
      </p:sp>
      <p:sp>
        <p:nvSpPr>
          <p:cNvPr id="46" name="Text 44"/>
          <p:cNvSpPr/>
          <p:nvPr/>
        </p:nvSpPr>
        <p:spPr>
          <a:xfrm>
            <a:off x="4736592" y="4382262"/>
            <a:ext cx="3913632" cy="310896"/>
          </a:xfrm>
          <a:prstGeom prst="rect">
            <a:avLst/>
          </a:prstGeom>
          <a:noFill/>
          <a:ln/>
        </p:spPr>
        <p:txBody>
          <a:bodyPr wrap="square" lIns="0" tIns="0" rIns="0" bIns="0" rtlCol="0" anchor="ctr"/>
          <a:lstStyle/>
          <a:p>
            <a:pPr marL="0" indent="0" algn="ctr">
              <a:buNone/>
            </a:pPr>
            <a:r>
              <a:rPr lang="en-US" sz="1150" dirty="0">
                <a:solidFill>
                  <a:srgbClr val="FFFFFF"/>
                </a:solidFill>
              </a:rPr>
              <a:t>✅ Recognized  /  ❌ Unknown</a:t>
            </a:r>
            <a:endParaRPr lang="en-US" sz="1150" dirty="0"/>
          </a:p>
        </p:txBody>
      </p:sp>
      <p:sp>
        <p:nvSpPr>
          <p:cNvPr id="47" name="Shape 45"/>
          <p:cNvSpPr/>
          <p:nvPr/>
        </p:nvSpPr>
        <p:spPr>
          <a:xfrm>
            <a:off x="4828032" y="4727448"/>
            <a:ext cx="3712464" cy="237744"/>
          </a:xfrm>
          <a:prstGeom prst="rect">
            <a:avLst/>
          </a:prstGeom>
          <a:solidFill>
            <a:srgbClr val="0A1E35"/>
          </a:solidFill>
          <a:ln w="12700">
            <a:solidFill>
              <a:srgbClr val="6B8BB0"/>
            </a:solidFill>
            <a:prstDash val="solid"/>
          </a:ln>
        </p:spPr>
      </p:sp>
      <p:sp>
        <p:nvSpPr>
          <p:cNvPr id="48" name="Shape 46"/>
          <p:cNvSpPr/>
          <p:nvPr/>
        </p:nvSpPr>
        <p:spPr>
          <a:xfrm>
            <a:off x="4828032" y="4727448"/>
            <a:ext cx="2889504" cy="237744"/>
          </a:xfrm>
          <a:prstGeom prst="rect">
            <a:avLst/>
          </a:prstGeom>
          <a:solidFill>
            <a:srgbClr val="00C896"/>
          </a:solidFill>
          <a:ln w="12700">
            <a:solidFill>
              <a:srgbClr val="00C896"/>
            </a:solidFill>
            <a:prstDash val="solid"/>
          </a:ln>
        </p:spPr>
      </p:sp>
      <p:sp>
        <p:nvSpPr>
          <p:cNvPr id="49" name="Text 47"/>
          <p:cNvSpPr/>
          <p:nvPr/>
        </p:nvSpPr>
        <p:spPr>
          <a:xfrm>
            <a:off x="4828032" y="4727448"/>
            <a:ext cx="3712464" cy="237744"/>
          </a:xfrm>
          <a:prstGeom prst="rect">
            <a:avLst/>
          </a:prstGeom>
          <a:noFill/>
          <a:ln/>
        </p:spPr>
        <p:txBody>
          <a:bodyPr wrap="square" lIns="0" tIns="0" rIns="0" bIns="0" rtlCol="0" anchor="ctr"/>
          <a:lstStyle/>
          <a:p>
            <a:pPr marL="0" indent="0" algn="ctr">
              <a:buNone/>
            </a:pPr>
            <a:r>
              <a:rPr lang="en-US" sz="1050" b="1" dirty="0">
                <a:solidFill>
                  <a:srgbClr val="0A1628"/>
                </a:solidFill>
              </a:rPr>
              <a:t>78% Match Confidence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65760" y="256032"/>
            <a:ext cx="50292" cy="868680"/>
          </a:xfrm>
          <a:prstGeom prst="rect">
            <a:avLst/>
          </a:prstGeom>
          <a:solidFill>
            <a:srgbClr val="FF6B6B"/>
          </a:solidFill>
          <a:ln w="12700">
            <a:solidFill>
              <a:srgbClr val="FF6B6B"/>
            </a:solidFill>
            <a:prstDash val="solid"/>
          </a:ln>
        </p:spPr>
      </p:sp>
      <p:sp>
        <p:nvSpPr>
          <p:cNvPr id="3" name="Text 1"/>
          <p:cNvSpPr/>
          <p:nvPr/>
        </p:nvSpPr>
        <p:spPr>
          <a:xfrm>
            <a:off x="548640" y="237744"/>
            <a:ext cx="8229600" cy="320040"/>
          </a:xfrm>
          <a:prstGeom prst="rect">
            <a:avLst/>
          </a:prstGeom>
          <a:noFill/>
          <a:ln/>
        </p:spPr>
        <p:txBody>
          <a:bodyPr wrap="square" lIns="0" tIns="0" rIns="0" bIns="0" rtlCol="0" anchor="ctr"/>
          <a:lstStyle/>
          <a:p>
            <a:pPr marL="0" indent="0">
              <a:buNone/>
            </a:pPr>
            <a:r>
              <a:rPr lang="en-US" sz="1050" b="1" dirty="0">
                <a:solidFill>
                  <a:srgbClr val="FF6B6B"/>
                </a:solidFill>
              </a:rPr>
              <a:t>Liveness Detection</a:t>
            </a:r>
            <a:endParaRPr lang="en-US" sz="1050" dirty="0"/>
          </a:p>
        </p:txBody>
      </p:sp>
      <p:sp>
        <p:nvSpPr>
          <p:cNvPr id="4" name="Text 2"/>
          <p:cNvSpPr/>
          <p:nvPr/>
        </p:nvSpPr>
        <p:spPr>
          <a:xfrm>
            <a:off x="548640" y="530352"/>
            <a:ext cx="8321040" cy="566928"/>
          </a:xfrm>
          <a:prstGeom prst="rect">
            <a:avLst/>
          </a:prstGeom>
          <a:noFill/>
          <a:ln/>
        </p:spPr>
        <p:txBody>
          <a:bodyPr wrap="square" lIns="0" tIns="0" rIns="0" bIns="0"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Anti-Spoofing Mechanism</a:t>
            </a:r>
            <a:endParaRPr lang="en-US" sz="2500" dirty="0"/>
          </a:p>
        </p:txBody>
      </p:sp>
      <p:sp>
        <p:nvSpPr>
          <p:cNvPr id="5" name="Shape 3"/>
          <p:cNvSpPr/>
          <p:nvPr/>
        </p:nvSpPr>
        <p:spPr>
          <a:xfrm>
            <a:off x="365760" y="1161288"/>
            <a:ext cx="8412480" cy="621792"/>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6" name="Text 4"/>
          <p:cNvSpPr/>
          <p:nvPr/>
        </p:nvSpPr>
        <p:spPr>
          <a:xfrm>
            <a:off x="411480" y="1143000"/>
            <a:ext cx="8321040" cy="566928"/>
          </a:xfrm>
          <a:prstGeom prst="rect">
            <a:avLst/>
          </a:prstGeom>
          <a:noFill/>
          <a:ln/>
        </p:spPr>
        <p:txBody>
          <a:bodyPr wrap="square" lIns="76200" tIns="76200" rIns="76200" bIns="76200" rtlCol="0" anchor="t"/>
          <a:lstStyle/>
          <a:p>
            <a:pPr marL="0" indent="0" algn="l">
              <a:buNone/>
            </a:pPr>
            <a:r>
              <a:rPr lang="en-US" sz="1150" dirty="0">
                <a:solidFill>
                  <a:srgbClr val="C8DCF5"/>
                </a:solidFill>
                <a:latin typeface="Calibri" pitchFamily="34" charset="0"/>
                <a:ea typeface="Calibri" pitchFamily="34" charset="-122"/>
                <a:cs typeface="Calibri" pitchFamily="34" charset="-120"/>
              </a:rPr>
              <a:t>Liveness detection ensures that the person in front of the camera is a real, live human and not a photograph, video replay, or printed image. The system presents randomized challenges using facial landmarks detected in real-time — if the user cannot respond naturally, authentication is denied regardless of face match.</a:t>
            </a:r>
            <a:endParaRPr lang="en-US" sz="1150" dirty="0"/>
          </a:p>
        </p:txBody>
      </p:sp>
      <p:sp>
        <p:nvSpPr>
          <p:cNvPr id="7" name="Shape 5"/>
          <p:cNvSpPr/>
          <p:nvPr/>
        </p:nvSpPr>
        <p:spPr>
          <a:xfrm>
            <a:off x="320040" y="1938528"/>
            <a:ext cx="2743200" cy="2651760"/>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8" name="Shape 6"/>
          <p:cNvSpPr/>
          <p:nvPr/>
        </p:nvSpPr>
        <p:spPr>
          <a:xfrm>
            <a:off x="1325880" y="1982380"/>
            <a:ext cx="713232" cy="713232"/>
          </a:xfrm>
          <a:prstGeom prst="ellipse">
            <a:avLst/>
          </a:prstGeom>
          <a:solidFill>
            <a:srgbClr val="4A9EFF">
              <a:alpha val="25000"/>
            </a:srgbClr>
          </a:solidFill>
          <a:ln w="19050">
            <a:solidFill>
              <a:srgbClr val="4A9EFF"/>
            </a:solidFill>
            <a:prstDash val="solid"/>
          </a:ln>
        </p:spPr>
      </p:sp>
      <p:sp>
        <p:nvSpPr>
          <p:cNvPr id="9" name="Text 7"/>
          <p:cNvSpPr/>
          <p:nvPr/>
        </p:nvSpPr>
        <p:spPr>
          <a:xfrm>
            <a:off x="1257054" y="1991524"/>
            <a:ext cx="713232" cy="713232"/>
          </a:xfrm>
          <a:prstGeom prst="rect">
            <a:avLst/>
          </a:prstGeom>
          <a:noFill/>
          <a:ln/>
        </p:spPr>
        <p:txBody>
          <a:bodyPr wrap="square" lIns="0" tIns="0" rIns="0" bIns="0" rtlCol="0" anchor="ctr"/>
          <a:lstStyle/>
          <a:p>
            <a:pPr marL="0" indent="0" algn="ctr">
              <a:buNone/>
            </a:pPr>
            <a:r>
              <a:rPr lang="en-US" sz="2500" dirty="0">
                <a:solidFill>
                  <a:srgbClr val="000000"/>
                </a:solidFill>
              </a:rPr>
              <a:t>👁️</a:t>
            </a:r>
            <a:endParaRPr lang="en-US" sz="2500" dirty="0"/>
          </a:p>
        </p:txBody>
      </p:sp>
      <p:sp>
        <p:nvSpPr>
          <p:cNvPr id="10" name="Text 8"/>
          <p:cNvSpPr/>
          <p:nvPr/>
        </p:nvSpPr>
        <p:spPr>
          <a:xfrm>
            <a:off x="411480" y="2723044"/>
            <a:ext cx="2560320" cy="301752"/>
          </a:xfrm>
          <a:prstGeom prst="rect">
            <a:avLst/>
          </a:prstGeom>
          <a:noFill/>
          <a:ln/>
        </p:spPr>
        <p:txBody>
          <a:bodyPr wrap="square" lIns="0" tIns="0" rIns="0" bIns="0" rtlCol="0" anchor="ctr"/>
          <a:lstStyle/>
          <a:p>
            <a:pPr marL="0" indent="0" algn="ctr">
              <a:buNone/>
            </a:pPr>
            <a:r>
              <a:rPr lang="en-US" sz="1350" b="1" dirty="0">
                <a:solidFill>
                  <a:srgbClr val="FFFFFF"/>
                </a:solidFill>
              </a:rPr>
              <a:t>Blink Detection</a:t>
            </a:r>
            <a:endParaRPr lang="en-US" sz="1350" dirty="0"/>
          </a:p>
        </p:txBody>
      </p:sp>
      <p:sp>
        <p:nvSpPr>
          <p:cNvPr id="11" name="Shape 9"/>
          <p:cNvSpPr/>
          <p:nvPr/>
        </p:nvSpPr>
        <p:spPr>
          <a:xfrm>
            <a:off x="576072" y="3026664"/>
            <a:ext cx="2231136" cy="274320"/>
          </a:xfrm>
          <a:prstGeom prst="roundRect">
            <a:avLst>
              <a:gd name="adj" fmla="val 23333"/>
            </a:avLst>
          </a:prstGeom>
          <a:solidFill>
            <a:srgbClr val="4A9EFF"/>
          </a:solidFill>
          <a:ln w="12700">
            <a:solidFill>
              <a:srgbClr val="4A9EFF"/>
            </a:solidFill>
            <a:prstDash val="solid"/>
          </a:ln>
        </p:spPr>
      </p:sp>
      <p:sp>
        <p:nvSpPr>
          <p:cNvPr id="12" name="Text 10"/>
          <p:cNvSpPr/>
          <p:nvPr/>
        </p:nvSpPr>
        <p:spPr>
          <a:xfrm>
            <a:off x="576072" y="3036595"/>
            <a:ext cx="2231136" cy="274320"/>
          </a:xfrm>
          <a:prstGeom prst="rect">
            <a:avLst/>
          </a:prstGeom>
          <a:noFill/>
          <a:ln/>
        </p:spPr>
        <p:txBody>
          <a:bodyPr wrap="square" lIns="0" tIns="0" rIns="0" bIns="0" rtlCol="0" anchor="ctr"/>
          <a:lstStyle/>
          <a:p>
            <a:pPr marL="0" indent="0" algn="ctr">
              <a:buNone/>
            </a:pPr>
            <a:r>
              <a:rPr lang="en-US" sz="950" b="1" dirty="0">
                <a:solidFill>
                  <a:srgbClr val="0A1628"/>
                </a:solidFill>
              </a:rPr>
              <a:t>Eye Aspect Ratio (EAR)</a:t>
            </a:r>
            <a:endParaRPr lang="en-US" sz="950" dirty="0"/>
          </a:p>
        </p:txBody>
      </p:sp>
      <p:sp>
        <p:nvSpPr>
          <p:cNvPr id="13" name="Text 11"/>
          <p:cNvSpPr/>
          <p:nvPr/>
        </p:nvSpPr>
        <p:spPr>
          <a:xfrm>
            <a:off x="448056" y="3298723"/>
            <a:ext cx="2523744" cy="868680"/>
          </a:xfrm>
          <a:prstGeom prst="rect">
            <a:avLst/>
          </a:prstGeom>
          <a:noFill/>
          <a:ln/>
        </p:spPr>
        <p:txBody>
          <a:bodyPr wrap="square" lIns="76200" tIns="76200" rIns="76200" bIns="76200" rtlCol="0" anchor="t"/>
          <a:lstStyle/>
          <a:p>
            <a:pPr marL="0" indent="0" algn="l">
              <a:buNone/>
            </a:pPr>
            <a:r>
              <a:rPr lang="en-US" sz="1150" dirty="0">
                <a:solidFill>
                  <a:srgbClr val="B8D0F0"/>
                </a:solidFill>
                <a:latin typeface="Calibri" pitchFamily="34" charset="0"/>
                <a:ea typeface="Calibri" pitchFamily="34" charset="-122"/>
                <a:cs typeface="Calibri" pitchFamily="34" charset="-120"/>
              </a:rPr>
              <a:t>The Eye Aspect Ratio measures the vertical distance between upper and lower eyelid landmarks relative to horizontal eye width. A sudden drop in EAR indicates a natural blink, confirming the subject is alive and present.</a:t>
            </a:r>
            <a:endParaRPr lang="en-US" sz="1150" dirty="0"/>
          </a:p>
        </p:txBody>
      </p:sp>
      <p:sp>
        <p:nvSpPr>
          <p:cNvPr id="14" name="Shape 12"/>
          <p:cNvSpPr/>
          <p:nvPr/>
        </p:nvSpPr>
        <p:spPr>
          <a:xfrm>
            <a:off x="3291840" y="1938528"/>
            <a:ext cx="2743200" cy="2651760"/>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15" name="Shape 13"/>
          <p:cNvSpPr/>
          <p:nvPr/>
        </p:nvSpPr>
        <p:spPr>
          <a:xfrm>
            <a:off x="4297680" y="1974809"/>
            <a:ext cx="713232" cy="713232"/>
          </a:xfrm>
          <a:prstGeom prst="ellipse">
            <a:avLst/>
          </a:prstGeom>
          <a:solidFill>
            <a:srgbClr val="00D4AA">
              <a:alpha val="25000"/>
            </a:srgbClr>
          </a:solidFill>
          <a:ln w="19050">
            <a:solidFill>
              <a:srgbClr val="00D4AA"/>
            </a:solidFill>
            <a:prstDash val="solid"/>
          </a:ln>
        </p:spPr>
      </p:sp>
      <p:sp>
        <p:nvSpPr>
          <p:cNvPr id="16" name="Text 14"/>
          <p:cNvSpPr/>
          <p:nvPr/>
        </p:nvSpPr>
        <p:spPr>
          <a:xfrm>
            <a:off x="4297680" y="1983658"/>
            <a:ext cx="713232" cy="713232"/>
          </a:xfrm>
          <a:prstGeom prst="rect">
            <a:avLst/>
          </a:prstGeom>
          <a:noFill/>
          <a:ln/>
        </p:spPr>
        <p:txBody>
          <a:bodyPr wrap="square" lIns="0" tIns="0" rIns="0" bIns="0" rtlCol="0" anchor="ctr"/>
          <a:lstStyle/>
          <a:p>
            <a:pPr marL="0" indent="0" algn="ctr">
              <a:buNone/>
            </a:pPr>
            <a:r>
              <a:rPr lang="en-US" sz="2500" dirty="0">
                <a:solidFill>
                  <a:srgbClr val="000000"/>
                </a:solidFill>
              </a:rPr>
              <a:t>😄</a:t>
            </a:r>
            <a:endParaRPr lang="en-US" sz="2500" dirty="0"/>
          </a:p>
        </p:txBody>
      </p:sp>
      <p:sp>
        <p:nvSpPr>
          <p:cNvPr id="17" name="Text 15"/>
          <p:cNvSpPr/>
          <p:nvPr/>
        </p:nvSpPr>
        <p:spPr>
          <a:xfrm>
            <a:off x="3383280" y="2710655"/>
            <a:ext cx="2560320" cy="301752"/>
          </a:xfrm>
          <a:prstGeom prst="rect">
            <a:avLst/>
          </a:prstGeom>
          <a:noFill/>
          <a:ln/>
        </p:spPr>
        <p:txBody>
          <a:bodyPr wrap="square" lIns="0" tIns="0" rIns="0" bIns="0" rtlCol="0" anchor="ctr"/>
          <a:lstStyle/>
          <a:p>
            <a:pPr marL="0" indent="0" algn="ctr">
              <a:buNone/>
            </a:pPr>
            <a:r>
              <a:rPr lang="en-US" sz="1350" b="1" dirty="0">
                <a:solidFill>
                  <a:srgbClr val="FFFFFF"/>
                </a:solidFill>
              </a:rPr>
              <a:t>Smile Detection</a:t>
            </a:r>
            <a:endParaRPr lang="en-US" sz="1350" dirty="0"/>
          </a:p>
        </p:txBody>
      </p:sp>
      <p:sp>
        <p:nvSpPr>
          <p:cNvPr id="18" name="Shape 16"/>
          <p:cNvSpPr/>
          <p:nvPr/>
        </p:nvSpPr>
        <p:spPr>
          <a:xfrm>
            <a:off x="3547872" y="3003804"/>
            <a:ext cx="2231136" cy="274320"/>
          </a:xfrm>
          <a:prstGeom prst="roundRect">
            <a:avLst>
              <a:gd name="adj" fmla="val 23333"/>
            </a:avLst>
          </a:prstGeom>
          <a:solidFill>
            <a:srgbClr val="00D4AA"/>
          </a:solidFill>
          <a:ln w="12700">
            <a:solidFill>
              <a:srgbClr val="00D4AA"/>
            </a:solidFill>
            <a:prstDash val="solid"/>
          </a:ln>
        </p:spPr>
      </p:sp>
      <p:sp>
        <p:nvSpPr>
          <p:cNvPr id="19" name="Text 17"/>
          <p:cNvSpPr/>
          <p:nvPr/>
        </p:nvSpPr>
        <p:spPr>
          <a:xfrm>
            <a:off x="3547872" y="3016635"/>
            <a:ext cx="2231136" cy="274320"/>
          </a:xfrm>
          <a:prstGeom prst="rect">
            <a:avLst/>
          </a:prstGeom>
          <a:noFill/>
          <a:ln/>
        </p:spPr>
        <p:txBody>
          <a:bodyPr wrap="square" lIns="0" tIns="0" rIns="0" bIns="0" rtlCol="0" anchor="ctr"/>
          <a:lstStyle/>
          <a:p>
            <a:pPr marL="0" indent="0" algn="ctr">
              <a:buNone/>
            </a:pPr>
            <a:r>
              <a:rPr lang="en-US" sz="950" b="1" dirty="0">
                <a:solidFill>
                  <a:srgbClr val="0A1628"/>
                </a:solidFill>
              </a:rPr>
              <a:t>Mouth Geometry</a:t>
            </a:r>
            <a:endParaRPr lang="en-US" sz="950" dirty="0"/>
          </a:p>
        </p:txBody>
      </p:sp>
      <p:sp>
        <p:nvSpPr>
          <p:cNvPr id="20" name="Text 18"/>
          <p:cNvSpPr/>
          <p:nvPr/>
        </p:nvSpPr>
        <p:spPr>
          <a:xfrm>
            <a:off x="3419856" y="3288547"/>
            <a:ext cx="2523744" cy="868680"/>
          </a:xfrm>
          <a:prstGeom prst="rect">
            <a:avLst/>
          </a:prstGeom>
          <a:noFill/>
          <a:ln/>
        </p:spPr>
        <p:txBody>
          <a:bodyPr wrap="square" lIns="76200" tIns="76200" rIns="76200" bIns="76200" rtlCol="0" anchor="t"/>
          <a:lstStyle/>
          <a:p>
            <a:pPr marL="0" indent="0" algn="l">
              <a:buNone/>
            </a:pPr>
            <a:r>
              <a:rPr lang="en-US" sz="1150" dirty="0">
                <a:solidFill>
                  <a:srgbClr val="B8D0F0"/>
                </a:solidFill>
                <a:latin typeface="Calibri" pitchFamily="34" charset="0"/>
                <a:ea typeface="Calibri" pitchFamily="34" charset="-122"/>
                <a:cs typeface="Calibri" pitchFamily="34" charset="-120"/>
              </a:rPr>
              <a:t>Smile detection analyzes the distance and curvature between mouth corner landmarks. When corners move outward and upward beyond a threshold, the system registers a genuine smile, confirming voluntary muscle movement.</a:t>
            </a:r>
            <a:endParaRPr lang="en-US" sz="1150" dirty="0"/>
          </a:p>
        </p:txBody>
      </p:sp>
      <p:sp>
        <p:nvSpPr>
          <p:cNvPr id="21" name="Shape 19"/>
          <p:cNvSpPr/>
          <p:nvPr/>
        </p:nvSpPr>
        <p:spPr>
          <a:xfrm>
            <a:off x="6263640" y="1938528"/>
            <a:ext cx="2743200" cy="2651760"/>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22" name="Shape 20"/>
          <p:cNvSpPr/>
          <p:nvPr/>
        </p:nvSpPr>
        <p:spPr>
          <a:xfrm>
            <a:off x="7269480" y="1989902"/>
            <a:ext cx="713232" cy="713232"/>
          </a:xfrm>
          <a:prstGeom prst="ellipse">
            <a:avLst/>
          </a:prstGeom>
          <a:solidFill>
            <a:srgbClr val="FF6B6B">
              <a:alpha val="25000"/>
            </a:srgbClr>
          </a:solidFill>
          <a:ln w="19050">
            <a:solidFill>
              <a:srgbClr val="FF6B6B"/>
            </a:solidFill>
            <a:prstDash val="solid"/>
          </a:ln>
        </p:spPr>
      </p:sp>
      <p:sp>
        <p:nvSpPr>
          <p:cNvPr id="23" name="Text 21"/>
          <p:cNvSpPr/>
          <p:nvPr/>
        </p:nvSpPr>
        <p:spPr>
          <a:xfrm>
            <a:off x="7269480" y="1957898"/>
            <a:ext cx="713232" cy="713232"/>
          </a:xfrm>
          <a:prstGeom prst="rect">
            <a:avLst/>
          </a:prstGeom>
          <a:noFill/>
          <a:ln/>
        </p:spPr>
        <p:txBody>
          <a:bodyPr wrap="square" lIns="0" tIns="0" rIns="0" bIns="0" rtlCol="0" anchor="ctr"/>
          <a:lstStyle/>
          <a:p>
            <a:pPr marL="0" indent="0" algn="ctr">
              <a:buNone/>
            </a:pPr>
            <a:r>
              <a:rPr lang="en-US" sz="2500" dirty="0">
                <a:solidFill>
                  <a:srgbClr val="000000"/>
                </a:solidFill>
              </a:rPr>
              <a:t>↔️</a:t>
            </a:r>
            <a:endParaRPr lang="en-US" sz="2500" dirty="0"/>
          </a:p>
        </p:txBody>
      </p:sp>
      <p:sp>
        <p:nvSpPr>
          <p:cNvPr id="24" name="Text 22"/>
          <p:cNvSpPr/>
          <p:nvPr/>
        </p:nvSpPr>
        <p:spPr>
          <a:xfrm>
            <a:off x="6355080" y="2702052"/>
            <a:ext cx="2560320" cy="301752"/>
          </a:xfrm>
          <a:prstGeom prst="rect">
            <a:avLst/>
          </a:prstGeom>
          <a:noFill/>
          <a:ln/>
        </p:spPr>
        <p:txBody>
          <a:bodyPr wrap="square" lIns="0" tIns="0" rIns="0" bIns="0" rtlCol="0" anchor="ctr"/>
          <a:lstStyle/>
          <a:p>
            <a:pPr marL="0" indent="0" algn="ctr">
              <a:buNone/>
            </a:pPr>
            <a:r>
              <a:rPr lang="en-US" sz="1350" b="1" dirty="0">
                <a:solidFill>
                  <a:srgbClr val="FFFFFF"/>
                </a:solidFill>
              </a:rPr>
              <a:t>Head Turn</a:t>
            </a:r>
            <a:endParaRPr lang="en-US" sz="1350" dirty="0"/>
          </a:p>
        </p:txBody>
      </p:sp>
      <p:sp>
        <p:nvSpPr>
          <p:cNvPr id="25" name="Shape 23"/>
          <p:cNvSpPr/>
          <p:nvPr/>
        </p:nvSpPr>
        <p:spPr>
          <a:xfrm>
            <a:off x="6510528" y="3026664"/>
            <a:ext cx="2231136" cy="274320"/>
          </a:xfrm>
          <a:prstGeom prst="roundRect">
            <a:avLst>
              <a:gd name="adj" fmla="val 23333"/>
            </a:avLst>
          </a:prstGeom>
          <a:solidFill>
            <a:srgbClr val="FF6B6B"/>
          </a:solidFill>
          <a:ln w="12700">
            <a:solidFill>
              <a:srgbClr val="FF6B6B"/>
            </a:solidFill>
            <a:prstDash val="solid"/>
          </a:ln>
        </p:spPr>
      </p:sp>
      <p:sp>
        <p:nvSpPr>
          <p:cNvPr id="26" name="Text 24"/>
          <p:cNvSpPr/>
          <p:nvPr/>
        </p:nvSpPr>
        <p:spPr>
          <a:xfrm>
            <a:off x="6501384" y="3058668"/>
            <a:ext cx="2231136" cy="274320"/>
          </a:xfrm>
          <a:prstGeom prst="rect">
            <a:avLst/>
          </a:prstGeom>
          <a:noFill/>
          <a:ln/>
        </p:spPr>
        <p:txBody>
          <a:bodyPr wrap="square" lIns="0" tIns="0" rIns="0" bIns="0" rtlCol="0" anchor="ctr"/>
          <a:lstStyle/>
          <a:p>
            <a:pPr marL="0" indent="0" algn="ctr">
              <a:buNone/>
            </a:pPr>
            <a:r>
              <a:rPr lang="en-US" sz="950" b="1" dirty="0">
                <a:solidFill>
                  <a:srgbClr val="0A1628"/>
                </a:solidFill>
              </a:rPr>
              <a:t>Nose Displacement</a:t>
            </a:r>
            <a:endParaRPr lang="en-US" sz="950" dirty="0"/>
          </a:p>
        </p:txBody>
      </p:sp>
      <p:sp>
        <p:nvSpPr>
          <p:cNvPr id="27" name="Text 25"/>
          <p:cNvSpPr/>
          <p:nvPr/>
        </p:nvSpPr>
        <p:spPr>
          <a:xfrm>
            <a:off x="6373368" y="3387410"/>
            <a:ext cx="2523744" cy="868680"/>
          </a:xfrm>
          <a:prstGeom prst="rect">
            <a:avLst/>
          </a:prstGeom>
          <a:noFill/>
          <a:ln/>
        </p:spPr>
        <p:txBody>
          <a:bodyPr wrap="square" lIns="76200" tIns="76200" rIns="76200" bIns="76200" rtlCol="0" anchor="t"/>
          <a:lstStyle/>
          <a:p>
            <a:pPr marL="0" indent="0" algn="l">
              <a:buNone/>
            </a:pPr>
            <a:r>
              <a:rPr lang="en-US" sz="1150" dirty="0">
                <a:solidFill>
                  <a:srgbClr val="B8D0F0"/>
                </a:solidFill>
                <a:latin typeface="Calibri" pitchFamily="34" charset="0"/>
                <a:ea typeface="Calibri" pitchFamily="34" charset="-122"/>
                <a:cs typeface="Calibri" pitchFamily="34" charset="-120"/>
              </a:rPr>
              <a:t>Head turn is detected by measuring horizontal displacement of the nose tip landmark relative to the facial symmetry center. Significant lateral movement confirms the subject can physically respond to instructions.</a:t>
            </a:r>
            <a:endParaRPr lang="en-US" sz="1150" dirty="0"/>
          </a:p>
        </p:txBody>
      </p:sp>
      <p:sp>
        <p:nvSpPr>
          <p:cNvPr id="28" name="Shape 26"/>
          <p:cNvSpPr/>
          <p:nvPr/>
        </p:nvSpPr>
        <p:spPr>
          <a:xfrm>
            <a:off x="320040" y="4801141"/>
            <a:ext cx="8503920" cy="164592"/>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29" name="Text 27"/>
          <p:cNvSpPr/>
          <p:nvPr/>
        </p:nvSpPr>
        <p:spPr>
          <a:xfrm>
            <a:off x="411480" y="4818446"/>
            <a:ext cx="8321040" cy="155448"/>
          </a:xfrm>
          <a:prstGeom prst="rect">
            <a:avLst/>
          </a:prstGeom>
          <a:noFill/>
          <a:ln/>
        </p:spPr>
        <p:txBody>
          <a:bodyPr wrap="square" lIns="0" tIns="0" rIns="0" bIns="0" rtlCol="0" anchor="ctr"/>
          <a:lstStyle/>
          <a:p>
            <a:pPr marL="0" indent="0" algn="ctr">
              <a:buNone/>
            </a:pPr>
            <a:r>
              <a:rPr lang="en-US" sz="1050" dirty="0">
                <a:solidFill>
                  <a:srgbClr val="B8D0F0"/>
                </a:solidFill>
              </a:rPr>
              <a:t>Prevents: Photo Attacks  •  Screenshot Spoofing  •  Static Image Bypass  •  Video Replay Attacks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2240"/>
        </a:solidFill>
        <a:effectLst/>
      </p:bgPr>
    </p:bg>
    <p:spTree>
      <p:nvGrpSpPr>
        <p:cNvPr id="1" name=""/>
        <p:cNvGrpSpPr/>
        <p:nvPr/>
      </p:nvGrpSpPr>
      <p:grpSpPr>
        <a:xfrm>
          <a:off x="0" y="0"/>
          <a:ext cx="0" cy="0"/>
          <a:chOff x="0" y="0"/>
          <a:chExt cx="0" cy="0"/>
        </a:xfrm>
      </p:grpSpPr>
      <p:sp>
        <p:nvSpPr>
          <p:cNvPr id="2" name="Shape 0"/>
          <p:cNvSpPr/>
          <p:nvPr/>
        </p:nvSpPr>
        <p:spPr>
          <a:xfrm>
            <a:off x="365760" y="256032"/>
            <a:ext cx="50292" cy="868680"/>
          </a:xfrm>
          <a:prstGeom prst="rect">
            <a:avLst/>
          </a:prstGeom>
          <a:solidFill>
            <a:srgbClr val="00D4AA"/>
          </a:solidFill>
          <a:ln w="12700">
            <a:solidFill>
              <a:srgbClr val="00D4AA"/>
            </a:solidFill>
            <a:prstDash val="solid"/>
          </a:ln>
        </p:spPr>
      </p:sp>
      <p:sp>
        <p:nvSpPr>
          <p:cNvPr id="3" name="Text 1"/>
          <p:cNvSpPr/>
          <p:nvPr/>
        </p:nvSpPr>
        <p:spPr>
          <a:xfrm>
            <a:off x="548640" y="237744"/>
            <a:ext cx="8229600" cy="320040"/>
          </a:xfrm>
          <a:prstGeom prst="rect">
            <a:avLst/>
          </a:prstGeom>
          <a:noFill/>
          <a:ln/>
        </p:spPr>
        <p:txBody>
          <a:bodyPr wrap="square" lIns="0" tIns="0" rIns="0" bIns="0" rtlCol="0" anchor="ctr"/>
          <a:lstStyle/>
          <a:p>
            <a:pPr marL="0" indent="0">
              <a:buNone/>
            </a:pPr>
            <a:r>
              <a:rPr lang="en-US" sz="1050" b="1" dirty="0">
                <a:solidFill>
                  <a:srgbClr val="00D4AA"/>
                </a:solidFill>
              </a:rPr>
              <a:t>Security Architecture</a:t>
            </a:r>
            <a:endParaRPr lang="en-US" sz="1050" dirty="0"/>
          </a:p>
        </p:txBody>
      </p:sp>
      <p:sp>
        <p:nvSpPr>
          <p:cNvPr id="4" name="Text 2"/>
          <p:cNvSpPr/>
          <p:nvPr/>
        </p:nvSpPr>
        <p:spPr>
          <a:xfrm>
            <a:off x="548640" y="530352"/>
            <a:ext cx="8321040" cy="566928"/>
          </a:xfrm>
          <a:prstGeom prst="rect">
            <a:avLst/>
          </a:prstGeom>
          <a:noFill/>
          <a:ln/>
        </p:spPr>
        <p:txBody>
          <a:bodyPr wrap="square" lIns="0" tIns="0" rIns="0" bIns="0"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Privacy &amp; Security Design</a:t>
            </a:r>
            <a:endParaRPr lang="en-US" sz="2500" dirty="0"/>
          </a:p>
        </p:txBody>
      </p:sp>
      <p:sp>
        <p:nvSpPr>
          <p:cNvPr id="5" name="Shape 3"/>
          <p:cNvSpPr/>
          <p:nvPr/>
        </p:nvSpPr>
        <p:spPr>
          <a:xfrm>
            <a:off x="365760" y="1216152"/>
            <a:ext cx="8412480" cy="621792"/>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6" name="Text 4"/>
          <p:cNvSpPr/>
          <p:nvPr/>
        </p:nvSpPr>
        <p:spPr>
          <a:xfrm>
            <a:off x="411480" y="1243584"/>
            <a:ext cx="8321040" cy="566928"/>
          </a:xfrm>
          <a:prstGeom prst="rect">
            <a:avLst/>
          </a:prstGeom>
          <a:noFill/>
          <a:ln/>
        </p:spPr>
        <p:txBody>
          <a:bodyPr wrap="square" lIns="76200" tIns="76200" rIns="76200" bIns="76200" rtlCol="0" anchor="t"/>
          <a:lstStyle/>
          <a:p>
            <a:pPr marL="0" indent="0" algn="l">
              <a:buNone/>
            </a:pPr>
            <a:r>
              <a:rPr lang="en-US" sz="1150" dirty="0">
                <a:solidFill>
                  <a:srgbClr val="C8DCF5"/>
                </a:solidFill>
                <a:latin typeface="Calibri" pitchFamily="34" charset="0"/>
                <a:ea typeface="Calibri" pitchFamily="34" charset="-122"/>
                <a:cs typeface="Calibri" pitchFamily="34" charset="-120"/>
              </a:rPr>
              <a:t>Security is built into every layer of Datalake 3.0. Biometric data never leaves the device — face embeddings are stored in an AES-GCM encrypted vault, all access events are recorded in a tamper-evident audit trail, and every authentication decision is made locally without any external verification call.</a:t>
            </a:r>
            <a:endParaRPr lang="en-US" sz="1150" dirty="0"/>
          </a:p>
        </p:txBody>
      </p:sp>
      <p:sp>
        <p:nvSpPr>
          <p:cNvPr id="7" name="Shape 5"/>
          <p:cNvSpPr/>
          <p:nvPr/>
        </p:nvSpPr>
        <p:spPr>
          <a:xfrm>
            <a:off x="320040" y="1993392"/>
            <a:ext cx="2697480" cy="2873576"/>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8" name="Shape 6"/>
          <p:cNvSpPr/>
          <p:nvPr/>
        </p:nvSpPr>
        <p:spPr>
          <a:xfrm>
            <a:off x="320040" y="1993392"/>
            <a:ext cx="45719" cy="2873576"/>
          </a:xfrm>
          <a:prstGeom prst="rect">
            <a:avLst/>
          </a:prstGeom>
          <a:solidFill>
            <a:srgbClr val="00D4AA"/>
          </a:solidFill>
          <a:ln w="12700">
            <a:solidFill>
              <a:srgbClr val="00D4AA"/>
            </a:solidFill>
            <a:prstDash val="solid"/>
          </a:ln>
        </p:spPr>
      </p:sp>
      <p:sp>
        <p:nvSpPr>
          <p:cNvPr id="9" name="Text 7"/>
          <p:cNvSpPr/>
          <p:nvPr/>
        </p:nvSpPr>
        <p:spPr>
          <a:xfrm>
            <a:off x="493776" y="2066544"/>
            <a:ext cx="2423160" cy="274320"/>
          </a:xfrm>
          <a:prstGeom prst="rect">
            <a:avLst/>
          </a:prstGeom>
          <a:noFill/>
          <a:ln/>
        </p:spPr>
        <p:txBody>
          <a:bodyPr wrap="square" lIns="0" tIns="0" rIns="0" bIns="0" rtlCol="0" anchor="ctr"/>
          <a:lstStyle/>
          <a:p>
            <a:pPr marL="0" indent="0">
              <a:buNone/>
            </a:pPr>
            <a:r>
              <a:rPr lang="en-US" sz="1250" b="1" dirty="0">
                <a:solidFill>
                  <a:srgbClr val="00D4AA"/>
                </a:solidFill>
              </a:rPr>
              <a:t>🔒 Encrypted Vault</a:t>
            </a:r>
            <a:endParaRPr lang="en-US" sz="1250" dirty="0"/>
          </a:p>
        </p:txBody>
      </p:sp>
      <p:sp>
        <p:nvSpPr>
          <p:cNvPr id="10" name="Text 8"/>
          <p:cNvSpPr/>
          <p:nvPr/>
        </p:nvSpPr>
        <p:spPr>
          <a:xfrm>
            <a:off x="475488" y="2274644"/>
            <a:ext cx="2450592" cy="914400"/>
          </a:xfrm>
          <a:prstGeom prst="rect">
            <a:avLst/>
          </a:prstGeom>
          <a:noFill/>
          <a:ln/>
        </p:spPr>
        <p:txBody>
          <a:bodyPr wrap="square" lIns="76200" tIns="76200" rIns="76200" bIns="76200" rtlCol="0" anchor="t"/>
          <a:lstStyle/>
          <a:p>
            <a:pPr marL="0" indent="0" algn="l">
              <a:buNone/>
            </a:pPr>
            <a:r>
              <a:rPr lang="en-US" sz="1150" dirty="0">
                <a:solidFill>
                  <a:srgbClr val="C8DCF5"/>
                </a:solidFill>
                <a:latin typeface="Calibri" pitchFamily="34" charset="0"/>
                <a:ea typeface="Calibri" pitchFamily="34" charset="-122"/>
                <a:cs typeface="Calibri" pitchFamily="34" charset="-120"/>
              </a:rPr>
              <a:t>Face embeddings and identity records are stored using AES-GCM 256-bit encryption. Encryption keys are derived using PBKDF2-SHA256, making brute-force attacks computationally infeasible.</a:t>
            </a:r>
            <a:endParaRPr lang="en-US" sz="1150" dirty="0"/>
          </a:p>
        </p:txBody>
      </p:sp>
      <p:sp>
        <p:nvSpPr>
          <p:cNvPr id="11" name="Shape 9"/>
          <p:cNvSpPr/>
          <p:nvPr/>
        </p:nvSpPr>
        <p:spPr>
          <a:xfrm>
            <a:off x="484632" y="3470296"/>
            <a:ext cx="2395728" cy="384048"/>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12" name="Text 10"/>
          <p:cNvSpPr/>
          <p:nvPr/>
        </p:nvSpPr>
        <p:spPr>
          <a:xfrm>
            <a:off x="548640" y="3498563"/>
            <a:ext cx="2267712" cy="201168"/>
          </a:xfrm>
          <a:prstGeom prst="rect">
            <a:avLst/>
          </a:prstGeom>
          <a:noFill/>
          <a:ln/>
        </p:spPr>
        <p:txBody>
          <a:bodyPr wrap="square" lIns="0" tIns="0" rIns="0" bIns="0" rtlCol="0" anchor="ctr"/>
          <a:lstStyle/>
          <a:p>
            <a:pPr marL="0" indent="0">
              <a:buNone/>
            </a:pPr>
            <a:r>
              <a:rPr lang="en-US" sz="1150" b="1" dirty="0">
                <a:solidFill>
                  <a:srgbClr val="FFFFFF"/>
                </a:solidFill>
              </a:rPr>
              <a:t>AES-GCM</a:t>
            </a:r>
            <a:endParaRPr lang="en-US" sz="1150" dirty="0"/>
          </a:p>
        </p:txBody>
      </p:sp>
      <p:sp>
        <p:nvSpPr>
          <p:cNvPr id="13" name="Text 11"/>
          <p:cNvSpPr/>
          <p:nvPr/>
        </p:nvSpPr>
        <p:spPr>
          <a:xfrm>
            <a:off x="548640" y="3679329"/>
            <a:ext cx="2267712" cy="164592"/>
          </a:xfrm>
          <a:prstGeom prst="rect">
            <a:avLst/>
          </a:prstGeom>
          <a:noFill/>
          <a:ln/>
        </p:spPr>
        <p:txBody>
          <a:bodyPr wrap="square" lIns="0" tIns="0" rIns="0" bIns="0" rtlCol="0" anchor="ctr"/>
          <a:lstStyle/>
          <a:p>
            <a:pPr marL="0" indent="0">
              <a:buNone/>
            </a:pPr>
            <a:r>
              <a:rPr lang="en-US" sz="1000" dirty="0">
                <a:solidFill>
                  <a:srgbClr val="6B8BB0"/>
                </a:solidFill>
              </a:rPr>
              <a:t>256-bit Encryption</a:t>
            </a:r>
            <a:endParaRPr lang="en-US" sz="1000" dirty="0"/>
          </a:p>
        </p:txBody>
      </p:sp>
      <p:sp>
        <p:nvSpPr>
          <p:cNvPr id="14" name="Shape 12"/>
          <p:cNvSpPr/>
          <p:nvPr/>
        </p:nvSpPr>
        <p:spPr>
          <a:xfrm>
            <a:off x="484632" y="3961466"/>
            <a:ext cx="2395728" cy="384048"/>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15" name="Text 13"/>
          <p:cNvSpPr/>
          <p:nvPr/>
        </p:nvSpPr>
        <p:spPr>
          <a:xfrm>
            <a:off x="548640" y="3954928"/>
            <a:ext cx="2267712" cy="201168"/>
          </a:xfrm>
          <a:prstGeom prst="rect">
            <a:avLst/>
          </a:prstGeom>
          <a:noFill/>
          <a:ln/>
        </p:spPr>
        <p:txBody>
          <a:bodyPr wrap="square" lIns="0" tIns="0" rIns="0" bIns="0" rtlCol="0" anchor="ctr"/>
          <a:lstStyle/>
          <a:p>
            <a:pPr marL="0" indent="0">
              <a:buNone/>
            </a:pPr>
            <a:r>
              <a:rPr lang="en-US" sz="1150" b="1" dirty="0">
                <a:solidFill>
                  <a:srgbClr val="FFFFFF"/>
                </a:solidFill>
              </a:rPr>
              <a:t>PBKDF2-SHA256</a:t>
            </a:r>
            <a:endParaRPr lang="en-US" sz="1150" dirty="0"/>
          </a:p>
        </p:txBody>
      </p:sp>
      <p:sp>
        <p:nvSpPr>
          <p:cNvPr id="16" name="Text 14"/>
          <p:cNvSpPr/>
          <p:nvPr/>
        </p:nvSpPr>
        <p:spPr>
          <a:xfrm>
            <a:off x="548640" y="4156096"/>
            <a:ext cx="2267712" cy="164592"/>
          </a:xfrm>
          <a:prstGeom prst="rect">
            <a:avLst/>
          </a:prstGeom>
          <a:noFill/>
          <a:ln/>
        </p:spPr>
        <p:txBody>
          <a:bodyPr wrap="square" lIns="0" tIns="0" rIns="0" bIns="0" rtlCol="0" anchor="ctr"/>
          <a:lstStyle/>
          <a:p>
            <a:pPr marL="0" indent="0">
              <a:buNone/>
            </a:pPr>
            <a:r>
              <a:rPr lang="en-US" sz="1000" dirty="0">
                <a:solidFill>
                  <a:srgbClr val="6B8BB0"/>
                </a:solidFill>
              </a:rPr>
              <a:t>Key Derivation</a:t>
            </a:r>
            <a:endParaRPr lang="en-US" sz="1000" dirty="0"/>
          </a:p>
        </p:txBody>
      </p:sp>
      <p:sp>
        <p:nvSpPr>
          <p:cNvPr id="17" name="Shape 15"/>
          <p:cNvSpPr/>
          <p:nvPr/>
        </p:nvSpPr>
        <p:spPr>
          <a:xfrm>
            <a:off x="484632" y="4425696"/>
            <a:ext cx="2395728" cy="384048"/>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18" name="Text 16"/>
          <p:cNvSpPr/>
          <p:nvPr/>
        </p:nvSpPr>
        <p:spPr>
          <a:xfrm>
            <a:off x="548640" y="4423238"/>
            <a:ext cx="2267712" cy="201168"/>
          </a:xfrm>
          <a:prstGeom prst="rect">
            <a:avLst/>
          </a:prstGeom>
          <a:noFill/>
          <a:ln/>
        </p:spPr>
        <p:txBody>
          <a:bodyPr wrap="square" lIns="0" tIns="0" rIns="0" bIns="0" rtlCol="0" anchor="ctr"/>
          <a:lstStyle/>
          <a:p>
            <a:pPr marL="0" indent="0">
              <a:buNone/>
            </a:pPr>
            <a:r>
              <a:rPr lang="en-US" sz="1150" b="1" dirty="0">
                <a:solidFill>
                  <a:srgbClr val="FFFFFF"/>
                </a:solidFill>
              </a:rPr>
              <a:t>Local-Only</a:t>
            </a:r>
            <a:endParaRPr lang="en-US" sz="1150" dirty="0"/>
          </a:p>
        </p:txBody>
      </p:sp>
      <p:sp>
        <p:nvSpPr>
          <p:cNvPr id="19" name="Text 17"/>
          <p:cNvSpPr/>
          <p:nvPr/>
        </p:nvSpPr>
        <p:spPr>
          <a:xfrm>
            <a:off x="548640" y="4613296"/>
            <a:ext cx="2267712" cy="164592"/>
          </a:xfrm>
          <a:prstGeom prst="rect">
            <a:avLst/>
          </a:prstGeom>
          <a:noFill/>
          <a:ln/>
        </p:spPr>
        <p:txBody>
          <a:bodyPr wrap="square" lIns="0" tIns="0" rIns="0" bIns="0" rtlCol="0" anchor="ctr"/>
          <a:lstStyle/>
          <a:p>
            <a:pPr marL="0" indent="0">
              <a:buNone/>
            </a:pPr>
            <a:r>
              <a:rPr lang="en-US" sz="1000" dirty="0">
                <a:solidFill>
                  <a:srgbClr val="6B8BB0"/>
                </a:solidFill>
              </a:rPr>
              <a:t>Vault Records</a:t>
            </a:r>
            <a:endParaRPr lang="en-US" sz="1000" dirty="0"/>
          </a:p>
        </p:txBody>
      </p:sp>
      <p:sp>
        <p:nvSpPr>
          <p:cNvPr id="20" name="Shape 18"/>
          <p:cNvSpPr/>
          <p:nvPr/>
        </p:nvSpPr>
        <p:spPr>
          <a:xfrm>
            <a:off x="3246120" y="1990246"/>
            <a:ext cx="2651760" cy="2873576"/>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21" name="Shape 19"/>
          <p:cNvSpPr/>
          <p:nvPr/>
        </p:nvSpPr>
        <p:spPr>
          <a:xfrm>
            <a:off x="3246120" y="1993392"/>
            <a:ext cx="45719" cy="2873576"/>
          </a:xfrm>
          <a:prstGeom prst="rect">
            <a:avLst/>
          </a:prstGeom>
          <a:solidFill>
            <a:srgbClr val="4A9EFF"/>
          </a:solidFill>
          <a:ln w="12700">
            <a:solidFill>
              <a:srgbClr val="4A9EFF"/>
            </a:solidFill>
            <a:prstDash val="solid"/>
          </a:ln>
        </p:spPr>
      </p:sp>
      <p:sp>
        <p:nvSpPr>
          <p:cNvPr id="22" name="Text 20"/>
          <p:cNvSpPr/>
          <p:nvPr/>
        </p:nvSpPr>
        <p:spPr>
          <a:xfrm>
            <a:off x="3419856" y="2066544"/>
            <a:ext cx="2377440" cy="274320"/>
          </a:xfrm>
          <a:prstGeom prst="rect">
            <a:avLst/>
          </a:prstGeom>
          <a:noFill/>
          <a:ln/>
        </p:spPr>
        <p:txBody>
          <a:bodyPr wrap="square" lIns="0" tIns="0" rIns="0" bIns="0" rtlCol="0" anchor="ctr"/>
          <a:lstStyle/>
          <a:p>
            <a:pPr marL="0" indent="0">
              <a:buNone/>
            </a:pPr>
            <a:r>
              <a:rPr lang="en-US" sz="1250" b="1" dirty="0">
                <a:solidFill>
                  <a:srgbClr val="4A9EFF"/>
                </a:solidFill>
              </a:rPr>
              <a:t>📑 Audit Trail</a:t>
            </a:r>
            <a:endParaRPr lang="en-US" sz="1250" dirty="0"/>
          </a:p>
        </p:txBody>
      </p:sp>
      <p:sp>
        <p:nvSpPr>
          <p:cNvPr id="23" name="Text 21"/>
          <p:cNvSpPr/>
          <p:nvPr/>
        </p:nvSpPr>
        <p:spPr>
          <a:xfrm>
            <a:off x="3364992" y="2274644"/>
            <a:ext cx="2414016" cy="914400"/>
          </a:xfrm>
          <a:prstGeom prst="rect">
            <a:avLst/>
          </a:prstGeom>
          <a:noFill/>
          <a:ln/>
        </p:spPr>
        <p:txBody>
          <a:bodyPr wrap="square" lIns="76200" tIns="76200" rIns="76200" bIns="76200" rtlCol="0" anchor="t"/>
          <a:lstStyle/>
          <a:p>
            <a:pPr marL="0" indent="0" algn="l">
              <a:buNone/>
            </a:pPr>
            <a:r>
              <a:rPr lang="en-US" sz="1150" dirty="0">
                <a:solidFill>
                  <a:srgbClr val="C8DCF5"/>
                </a:solidFill>
                <a:latin typeface="Calibri" pitchFamily="34" charset="0"/>
                <a:ea typeface="Calibri" pitchFamily="34" charset="-122"/>
                <a:cs typeface="Calibri" pitchFamily="34" charset="-120"/>
              </a:rPr>
              <a:t>Every system event is appended to a hash-chained audit log. Each entry includes a SHA-256 hash of the previous entry, making retrospective tampering detectable — any modification breaks the chain.</a:t>
            </a:r>
            <a:endParaRPr lang="en-US" sz="1150" dirty="0"/>
          </a:p>
        </p:txBody>
      </p:sp>
      <p:sp>
        <p:nvSpPr>
          <p:cNvPr id="24" name="Text 22"/>
          <p:cNvSpPr/>
          <p:nvPr/>
        </p:nvSpPr>
        <p:spPr>
          <a:xfrm>
            <a:off x="3401568" y="3470296"/>
            <a:ext cx="2423160" cy="237744"/>
          </a:xfrm>
          <a:prstGeom prst="rect">
            <a:avLst/>
          </a:prstGeom>
          <a:noFill/>
          <a:ln/>
        </p:spPr>
        <p:txBody>
          <a:bodyPr wrap="square" lIns="0" tIns="0" rIns="0" bIns="0" rtlCol="0" anchor="ctr"/>
          <a:lstStyle/>
          <a:p>
            <a:pPr marL="0" indent="0">
              <a:buNone/>
            </a:pPr>
            <a:r>
              <a:rPr lang="en-US" sz="1100" dirty="0">
                <a:solidFill>
                  <a:srgbClr val="B8D0F0"/>
                </a:solidFill>
              </a:rPr>
              <a:t>🔐 Login Events</a:t>
            </a:r>
            <a:endParaRPr lang="en-US" sz="1100" dirty="0"/>
          </a:p>
        </p:txBody>
      </p:sp>
      <p:sp>
        <p:nvSpPr>
          <p:cNvPr id="25" name="Text 23"/>
          <p:cNvSpPr/>
          <p:nvPr/>
        </p:nvSpPr>
        <p:spPr>
          <a:xfrm>
            <a:off x="3401568" y="3744320"/>
            <a:ext cx="2423160" cy="237744"/>
          </a:xfrm>
          <a:prstGeom prst="rect">
            <a:avLst/>
          </a:prstGeom>
          <a:noFill/>
          <a:ln/>
        </p:spPr>
        <p:txBody>
          <a:bodyPr wrap="square" lIns="0" tIns="0" rIns="0" bIns="0" rtlCol="0" anchor="ctr"/>
          <a:lstStyle/>
          <a:p>
            <a:pPr marL="0" indent="0">
              <a:buNone/>
            </a:pPr>
            <a:r>
              <a:rPr lang="en-US" sz="1100" dirty="0">
                <a:solidFill>
                  <a:srgbClr val="B8D0F0"/>
                </a:solidFill>
              </a:rPr>
              <a:t>👤 Enrollment</a:t>
            </a:r>
            <a:endParaRPr lang="en-US" sz="1100" dirty="0"/>
          </a:p>
        </p:txBody>
      </p:sp>
      <p:sp>
        <p:nvSpPr>
          <p:cNvPr id="26" name="Text 24"/>
          <p:cNvSpPr/>
          <p:nvPr/>
        </p:nvSpPr>
        <p:spPr>
          <a:xfrm>
            <a:off x="3401568" y="4010676"/>
            <a:ext cx="2423160" cy="237744"/>
          </a:xfrm>
          <a:prstGeom prst="rect">
            <a:avLst/>
          </a:prstGeom>
          <a:noFill/>
          <a:ln/>
        </p:spPr>
        <p:txBody>
          <a:bodyPr wrap="square" lIns="0" tIns="0" rIns="0" bIns="0" rtlCol="0" anchor="ctr"/>
          <a:lstStyle/>
          <a:p>
            <a:pPr marL="0" indent="0">
              <a:buNone/>
            </a:pPr>
            <a:r>
              <a:rPr lang="en-US" sz="1100" dirty="0">
                <a:solidFill>
                  <a:srgbClr val="B8D0F0"/>
                </a:solidFill>
              </a:rPr>
              <a:t>🔍 Recognition Attempts</a:t>
            </a:r>
            <a:endParaRPr lang="en-US" sz="1100" dirty="0"/>
          </a:p>
        </p:txBody>
      </p:sp>
      <p:sp>
        <p:nvSpPr>
          <p:cNvPr id="27" name="Text 25"/>
          <p:cNvSpPr/>
          <p:nvPr/>
        </p:nvSpPr>
        <p:spPr>
          <a:xfrm>
            <a:off x="3401568" y="4277032"/>
            <a:ext cx="2423160" cy="237744"/>
          </a:xfrm>
          <a:prstGeom prst="rect">
            <a:avLst/>
          </a:prstGeom>
          <a:noFill/>
          <a:ln/>
        </p:spPr>
        <p:txBody>
          <a:bodyPr wrap="square" lIns="0" tIns="0" rIns="0" bIns="0" rtlCol="0" anchor="ctr"/>
          <a:lstStyle/>
          <a:p>
            <a:pPr marL="0" indent="0">
              <a:buNone/>
            </a:pPr>
            <a:r>
              <a:rPr lang="en-US" sz="1100" dirty="0">
                <a:solidFill>
                  <a:srgbClr val="B8D0F0"/>
                </a:solidFill>
              </a:rPr>
              <a:t>📋 Attendance Marking</a:t>
            </a:r>
            <a:endParaRPr lang="en-US" sz="1100" dirty="0"/>
          </a:p>
        </p:txBody>
      </p:sp>
      <p:sp>
        <p:nvSpPr>
          <p:cNvPr id="28" name="Text 26"/>
          <p:cNvSpPr/>
          <p:nvPr/>
        </p:nvSpPr>
        <p:spPr>
          <a:xfrm>
            <a:off x="3401568" y="4572000"/>
            <a:ext cx="2423160" cy="237744"/>
          </a:xfrm>
          <a:prstGeom prst="rect">
            <a:avLst/>
          </a:prstGeom>
          <a:noFill/>
          <a:ln/>
        </p:spPr>
        <p:txBody>
          <a:bodyPr wrap="square" lIns="0" tIns="0" rIns="0" bIns="0" rtlCol="0" anchor="ctr"/>
          <a:lstStyle/>
          <a:p>
            <a:pPr marL="0" indent="0">
              <a:buNone/>
            </a:pPr>
            <a:r>
              <a:rPr lang="en-US" sz="1100" dirty="0">
                <a:solidFill>
                  <a:srgbClr val="B8D0F0"/>
                </a:solidFill>
              </a:rPr>
              <a:t>☁️ AWS Sync Operations</a:t>
            </a:r>
            <a:endParaRPr lang="en-US" sz="1100" dirty="0"/>
          </a:p>
        </p:txBody>
      </p:sp>
      <p:sp>
        <p:nvSpPr>
          <p:cNvPr id="29" name="Shape 27"/>
          <p:cNvSpPr/>
          <p:nvPr/>
        </p:nvSpPr>
        <p:spPr>
          <a:xfrm>
            <a:off x="6126480" y="1993392"/>
            <a:ext cx="2697480" cy="2873576"/>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30" name="Shape 28"/>
          <p:cNvSpPr/>
          <p:nvPr/>
        </p:nvSpPr>
        <p:spPr>
          <a:xfrm>
            <a:off x="6126480" y="1993392"/>
            <a:ext cx="45719" cy="2873576"/>
          </a:xfrm>
          <a:prstGeom prst="rect">
            <a:avLst/>
          </a:prstGeom>
          <a:solidFill>
            <a:srgbClr val="00C896"/>
          </a:solidFill>
          <a:ln w="12700">
            <a:solidFill>
              <a:srgbClr val="00C896"/>
            </a:solidFill>
            <a:prstDash val="solid"/>
          </a:ln>
        </p:spPr>
      </p:sp>
      <p:sp>
        <p:nvSpPr>
          <p:cNvPr id="31" name="Text 29"/>
          <p:cNvSpPr/>
          <p:nvPr/>
        </p:nvSpPr>
        <p:spPr>
          <a:xfrm>
            <a:off x="6300216" y="2066544"/>
            <a:ext cx="2423160" cy="274320"/>
          </a:xfrm>
          <a:prstGeom prst="rect">
            <a:avLst/>
          </a:prstGeom>
          <a:noFill/>
          <a:ln/>
        </p:spPr>
        <p:txBody>
          <a:bodyPr wrap="square" lIns="0" tIns="0" rIns="0" bIns="0" rtlCol="0" anchor="ctr"/>
          <a:lstStyle/>
          <a:p>
            <a:pPr marL="0" indent="0">
              <a:buNone/>
            </a:pPr>
            <a:r>
              <a:rPr lang="en-US" sz="1250" b="1" dirty="0">
                <a:solidFill>
                  <a:srgbClr val="00C896"/>
                </a:solidFill>
              </a:rPr>
              <a:t>🛡️ Privacy First</a:t>
            </a:r>
            <a:endParaRPr lang="en-US" sz="1250" dirty="0"/>
          </a:p>
        </p:txBody>
      </p:sp>
      <p:sp>
        <p:nvSpPr>
          <p:cNvPr id="32" name="Text 30"/>
          <p:cNvSpPr/>
          <p:nvPr/>
        </p:nvSpPr>
        <p:spPr>
          <a:xfrm>
            <a:off x="6263639" y="2337717"/>
            <a:ext cx="2468880" cy="914400"/>
          </a:xfrm>
          <a:prstGeom prst="rect">
            <a:avLst/>
          </a:prstGeom>
          <a:noFill/>
          <a:ln/>
        </p:spPr>
        <p:txBody>
          <a:bodyPr wrap="square" lIns="76200" tIns="76200" rIns="76200" bIns="76200" rtlCol="0" anchor="t"/>
          <a:lstStyle/>
          <a:p>
            <a:pPr marL="0" indent="0" algn="l">
              <a:buNone/>
            </a:pPr>
            <a:r>
              <a:rPr lang="en-US" sz="1150" dirty="0">
                <a:solidFill>
                  <a:srgbClr val="C8DCF5"/>
                </a:solidFill>
                <a:latin typeface="Calibri" pitchFamily="34" charset="0"/>
                <a:ea typeface="Calibri" pitchFamily="34" charset="-122"/>
                <a:cs typeface="Calibri" pitchFamily="34" charset="-120"/>
              </a:rPr>
              <a:t>No biometric data is ever transmitted externally. Face processing, matching, and storage all occur on-device. Even if connectivity were available, the system is designed to never send raw facial data over any network.</a:t>
            </a:r>
            <a:endParaRPr lang="en-US" sz="1150" dirty="0"/>
          </a:p>
        </p:txBody>
      </p:sp>
      <p:sp>
        <p:nvSpPr>
          <p:cNvPr id="34" name="Text 32"/>
          <p:cNvSpPr/>
          <p:nvPr/>
        </p:nvSpPr>
        <p:spPr>
          <a:xfrm>
            <a:off x="6492240" y="3618369"/>
            <a:ext cx="2231136" cy="237744"/>
          </a:xfrm>
          <a:prstGeom prst="rect">
            <a:avLst/>
          </a:prstGeom>
          <a:noFill/>
          <a:ln/>
        </p:spPr>
        <p:txBody>
          <a:bodyPr wrap="square" lIns="0" tIns="0" rIns="0" bIns="0" rtlCol="0" anchor="ctr"/>
          <a:lstStyle/>
          <a:p>
            <a:pPr marL="0" indent="0">
              <a:buNone/>
            </a:pPr>
            <a:r>
              <a:rPr lang="en-US" sz="1100" dirty="0">
                <a:solidFill>
                  <a:srgbClr val="B8D0F0"/>
                </a:solidFill>
              </a:rPr>
              <a:t>No biometric transmission</a:t>
            </a:r>
            <a:endParaRPr lang="en-US" sz="1100" dirty="0"/>
          </a:p>
        </p:txBody>
      </p:sp>
      <p:sp>
        <p:nvSpPr>
          <p:cNvPr id="35" name="Shape 33"/>
          <p:cNvSpPr/>
          <p:nvPr/>
        </p:nvSpPr>
        <p:spPr>
          <a:xfrm>
            <a:off x="6300216" y="3694176"/>
            <a:ext cx="118872" cy="118872"/>
          </a:xfrm>
          <a:prstGeom prst="ellipse">
            <a:avLst/>
          </a:prstGeom>
          <a:solidFill>
            <a:srgbClr val="00C896"/>
          </a:solidFill>
          <a:ln w="12700">
            <a:solidFill>
              <a:srgbClr val="00C896"/>
            </a:solidFill>
            <a:prstDash val="solid"/>
          </a:ln>
        </p:spPr>
      </p:sp>
      <p:sp>
        <p:nvSpPr>
          <p:cNvPr id="36" name="Text 34"/>
          <p:cNvSpPr/>
          <p:nvPr/>
        </p:nvSpPr>
        <p:spPr>
          <a:xfrm>
            <a:off x="6492240" y="3919974"/>
            <a:ext cx="2231136" cy="237744"/>
          </a:xfrm>
          <a:prstGeom prst="rect">
            <a:avLst/>
          </a:prstGeom>
          <a:noFill/>
          <a:ln/>
        </p:spPr>
        <p:txBody>
          <a:bodyPr wrap="square" lIns="0" tIns="0" rIns="0" bIns="0" rtlCol="0" anchor="ctr"/>
          <a:lstStyle/>
          <a:p>
            <a:pPr marL="0" indent="0">
              <a:buNone/>
            </a:pPr>
            <a:r>
              <a:rPr lang="en-US" sz="1100" dirty="0">
                <a:solidFill>
                  <a:srgbClr val="B8D0F0"/>
                </a:solidFill>
              </a:rPr>
              <a:t>Fully local face processing</a:t>
            </a:r>
            <a:endParaRPr lang="en-US" sz="1100" dirty="0"/>
          </a:p>
        </p:txBody>
      </p:sp>
      <p:sp>
        <p:nvSpPr>
          <p:cNvPr id="37" name="Shape 35"/>
          <p:cNvSpPr/>
          <p:nvPr/>
        </p:nvSpPr>
        <p:spPr>
          <a:xfrm>
            <a:off x="6300216" y="3986784"/>
            <a:ext cx="118872" cy="118872"/>
          </a:xfrm>
          <a:prstGeom prst="ellipse">
            <a:avLst/>
          </a:prstGeom>
          <a:solidFill>
            <a:srgbClr val="00C896"/>
          </a:solidFill>
          <a:ln w="12700">
            <a:solidFill>
              <a:srgbClr val="00C896"/>
            </a:solidFill>
            <a:prstDash val="solid"/>
          </a:ln>
        </p:spPr>
      </p:sp>
      <p:sp>
        <p:nvSpPr>
          <p:cNvPr id="38" name="Text 36"/>
          <p:cNvSpPr/>
          <p:nvPr/>
        </p:nvSpPr>
        <p:spPr>
          <a:xfrm>
            <a:off x="6502466" y="4226642"/>
            <a:ext cx="2231136" cy="237744"/>
          </a:xfrm>
          <a:prstGeom prst="rect">
            <a:avLst/>
          </a:prstGeom>
          <a:noFill/>
          <a:ln/>
        </p:spPr>
        <p:txBody>
          <a:bodyPr wrap="square" lIns="0" tIns="0" rIns="0" bIns="0" rtlCol="0" anchor="ctr"/>
          <a:lstStyle/>
          <a:p>
            <a:pPr marL="0" indent="0">
              <a:buNone/>
            </a:pPr>
            <a:r>
              <a:rPr lang="en-US" sz="1100" dirty="0">
                <a:solidFill>
                  <a:srgbClr val="B8D0F0"/>
                </a:solidFill>
              </a:rPr>
              <a:t>Zero cloud recognition</a:t>
            </a:r>
            <a:endParaRPr lang="en-US" sz="1100" dirty="0"/>
          </a:p>
        </p:txBody>
      </p:sp>
      <p:sp>
        <p:nvSpPr>
          <p:cNvPr id="39" name="Shape 37"/>
          <p:cNvSpPr/>
          <p:nvPr/>
        </p:nvSpPr>
        <p:spPr>
          <a:xfrm>
            <a:off x="6300216" y="4279392"/>
            <a:ext cx="118872" cy="118872"/>
          </a:xfrm>
          <a:prstGeom prst="ellipse">
            <a:avLst/>
          </a:prstGeom>
          <a:solidFill>
            <a:srgbClr val="00C896"/>
          </a:solidFill>
          <a:ln w="12700">
            <a:solidFill>
              <a:srgbClr val="00C896"/>
            </a:solidFill>
            <a:prstDash val="solid"/>
          </a:ln>
        </p:spPr>
      </p:sp>
      <p:sp>
        <p:nvSpPr>
          <p:cNvPr id="40" name="Text 38"/>
          <p:cNvSpPr/>
          <p:nvPr/>
        </p:nvSpPr>
        <p:spPr>
          <a:xfrm>
            <a:off x="6492240" y="4515465"/>
            <a:ext cx="2231136" cy="237744"/>
          </a:xfrm>
          <a:prstGeom prst="rect">
            <a:avLst/>
          </a:prstGeom>
          <a:noFill/>
          <a:ln/>
        </p:spPr>
        <p:txBody>
          <a:bodyPr wrap="square" lIns="0" tIns="0" rIns="0" bIns="0" rtlCol="0" anchor="ctr"/>
          <a:lstStyle/>
          <a:p>
            <a:pPr marL="0" indent="0">
              <a:buNone/>
            </a:pPr>
            <a:r>
              <a:rPr lang="en-US" sz="1100" dirty="0">
                <a:solidFill>
                  <a:srgbClr val="B8D0F0"/>
                </a:solidFill>
              </a:rPr>
              <a:t>On-device decision making</a:t>
            </a:r>
            <a:endParaRPr lang="en-US" sz="1100" dirty="0"/>
          </a:p>
        </p:txBody>
      </p:sp>
      <p:sp>
        <p:nvSpPr>
          <p:cNvPr id="41" name="Shape 31"/>
          <p:cNvSpPr/>
          <p:nvPr/>
        </p:nvSpPr>
        <p:spPr>
          <a:xfrm>
            <a:off x="6281927" y="4583504"/>
            <a:ext cx="118872" cy="118872"/>
          </a:xfrm>
          <a:prstGeom prst="ellipse">
            <a:avLst/>
          </a:prstGeom>
          <a:solidFill>
            <a:srgbClr val="00C896"/>
          </a:solidFill>
          <a:ln w="12700">
            <a:solidFill>
              <a:srgbClr val="00C896"/>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65760" y="123936"/>
            <a:ext cx="50292" cy="868680"/>
          </a:xfrm>
          <a:prstGeom prst="rect">
            <a:avLst/>
          </a:prstGeom>
          <a:solidFill>
            <a:srgbClr val="4A9EFF"/>
          </a:solidFill>
          <a:ln w="12700">
            <a:solidFill>
              <a:srgbClr val="4A9EFF"/>
            </a:solidFill>
            <a:prstDash val="solid"/>
          </a:ln>
        </p:spPr>
      </p:sp>
      <p:sp>
        <p:nvSpPr>
          <p:cNvPr id="3" name="Text 1"/>
          <p:cNvSpPr/>
          <p:nvPr/>
        </p:nvSpPr>
        <p:spPr>
          <a:xfrm>
            <a:off x="548640" y="128189"/>
            <a:ext cx="8229600" cy="320040"/>
          </a:xfrm>
          <a:prstGeom prst="rect">
            <a:avLst/>
          </a:prstGeom>
          <a:noFill/>
          <a:ln/>
        </p:spPr>
        <p:txBody>
          <a:bodyPr wrap="square" lIns="0" tIns="0" rIns="0" bIns="0" rtlCol="0" anchor="ctr"/>
          <a:lstStyle/>
          <a:p>
            <a:pPr marL="0" indent="0">
              <a:buNone/>
            </a:pPr>
            <a:r>
              <a:rPr lang="en-US" sz="1050" b="1" dirty="0">
                <a:solidFill>
                  <a:srgbClr val="4A9EFF"/>
                </a:solidFill>
              </a:rPr>
              <a:t>AWS Sync &amp; Purge Architecture</a:t>
            </a:r>
            <a:endParaRPr lang="en-US" sz="1050" dirty="0"/>
          </a:p>
        </p:txBody>
      </p:sp>
      <p:sp>
        <p:nvSpPr>
          <p:cNvPr id="4" name="Text 2"/>
          <p:cNvSpPr/>
          <p:nvPr/>
        </p:nvSpPr>
        <p:spPr>
          <a:xfrm>
            <a:off x="548640" y="443657"/>
            <a:ext cx="8321040" cy="566928"/>
          </a:xfrm>
          <a:prstGeom prst="rect">
            <a:avLst/>
          </a:prstGeom>
          <a:noFill/>
          <a:ln/>
        </p:spPr>
        <p:txBody>
          <a:bodyPr wrap="square" lIns="0" tIns="0" rIns="0" bIns="0"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Offline-to-Cloud Synchronization</a:t>
            </a:r>
            <a:endParaRPr lang="en-US" sz="2500" dirty="0"/>
          </a:p>
        </p:txBody>
      </p:sp>
      <p:sp>
        <p:nvSpPr>
          <p:cNvPr id="5" name="Shape 3"/>
          <p:cNvSpPr/>
          <p:nvPr/>
        </p:nvSpPr>
        <p:spPr>
          <a:xfrm>
            <a:off x="365760" y="1057877"/>
            <a:ext cx="8412480" cy="658368"/>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6" name="Text 4"/>
          <p:cNvSpPr/>
          <p:nvPr/>
        </p:nvSpPr>
        <p:spPr>
          <a:xfrm>
            <a:off x="411480" y="1075846"/>
            <a:ext cx="8321040" cy="603504"/>
          </a:xfrm>
          <a:prstGeom prst="rect">
            <a:avLst/>
          </a:prstGeom>
          <a:noFill/>
          <a:ln/>
        </p:spPr>
        <p:txBody>
          <a:bodyPr wrap="square" lIns="76200" tIns="76200" rIns="76200" bIns="76200" rtlCol="0" anchor="t"/>
          <a:lstStyle/>
          <a:p>
            <a:pPr marL="0" indent="0" algn="l">
              <a:buNone/>
            </a:pPr>
            <a:r>
              <a:rPr lang="en-US" sz="1150" dirty="0">
                <a:solidFill>
                  <a:srgbClr val="C8DCF5"/>
                </a:solidFill>
                <a:latin typeface="Calibri" pitchFamily="34" charset="0"/>
                <a:ea typeface="Calibri" pitchFamily="34" charset="-122"/>
                <a:cs typeface="Calibri" pitchFamily="34" charset="-120"/>
              </a:rPr>
              <a:t>While the system operates fully offline, it is architected for eventual cloud synchronization. Every attendance record is added to a local sync queue as it's created. When connectivity becomes available, the queue is flushed to AWS — API Gateway triggers a Lambda function that writes to DynamoDB, after which the local cache is purged to save storage.</a:t>
            </a:r>
            <a:endParaRPr lang="en-US" sz="1150" dirty="0"/>
          </a:p>
        </p:txBody>
      </p:sp>
      <p:sp>
        <p:nvSpPr>
          <p:cNvPr id="7" name="Shape 5"/>
          <p:cNvSpPr/>
          <p:nvPr/>
        </p:nvSpPr>
        <p:spPr>
          <a:xfrm>
            <a:off x="340614" y="1830226"/>
            <a:ext cx="3657600" cy="2924654"/>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8" name="Shape 6"/>
          <p:cNvSpPr/>
          <p:nvPr/>
        </p:nvSpPr>
        <p:spPr>
          <a:xfrm>
            <a:off x="320040" y="1834454"/>
            <a:ext cx="45719" cy="2920425"/>
          </a:xfrm>
          <a:prstGeom prst="rect">
            <a:avLst/>
          </a:prstGeom>
          <a:solidFill>
            <a:srgbClr val="00D4AA"/>
          </a:solidFill>
          <a:ln w="12700">
            <a:solidFill>
              <a:srgbClr val="00D4AA"/>
            </a:solidFill>
            <a:prstDash val="solid"/>
          </a:ln>
        </p:spPr>
      </p:sp>
      <p:sp>
        <p:nvSpPr>
          <p:cNvPr id="9" name="Text 7"/>
          <p:cNvSpPr/>
          <p:nvPr/>
        </p:nvSpPr>
        <p:spPr>
          <a:xfrm>
            <a:off x="457200" y="1819829"/>
            <a:ext cx="3383280" cy="274320"/>
          </a:xfrm>
          <a:prstGeom prst="rect">
            <a:avLst/>
          </a:prstGeom>
          <a:noFill/>
          <a:ln/>
        </p:spPr>
        <p:txBody>
          <a:bodyPr wrap="square" lIns="0" tIns="0" rIns="0" bIns="0" rtlCol="0" anchor="ctr"/>
          <a:lstStyle/>
          <a:p>
            <a:pPr marL="0" indent="0" algn="ctr">
              <a:buNone/>
            </a:pPr>
            <a:r>
              <a:rPr lang="en-US" sz="1150" b="1" dirty="0">
                <a:solidFill>
                  <a:srgbClr val="00D4AA"/>
                </a:solidFill>
              </a:rPr>
              <a:t>LOCAL PIPELINE</a:t>
            </a:r>
            <a:endParaRPr lang="en-US" sz="1150" dirty="0"/>
          </a:p>
        </p:txBody>
      </p:sp>
      <p:sp>
        <p:nvSpPr>
          <p:cNvPr id="10" name="Text 8"/>
          <p:cNvSpPr/>
          <p:nvPr/>
        </p:nvSpPr>
        <p:spPr>
          <a:xfrm>
            <a:off x="475488" y="1979849"/>
            <a:ext cx="3337560" cy="502920"/>
          </a:xfrm>
          <a:prstGeom prst="rect">
            <a:avLst/>
          </a:prstGeom>
          <a:noFill/>
          <a:ln/>
        </p:spPr>
        <p:txBody>
          <a:bodyPr wrap="square" lIns="76200" tIns="76200" rIns="76200" bIns="76200" rtlCol="0" anchor="t"/>
          <a:lstStyle/>
          <a:p>
            <a:pPr marL="0" indent="0" algn="l">
              <a:buNone/>
            </a:pPr>
            <a:r>
              <a:rPr lang="en-US" sz="1150" dirty="0">
                <a:solidFill>
                  <a:srgbClr val="C8DCF5"/>
                </a:solidFill>
                <a:latin typeface="Calibri" pitchFamily="34" charset="0"/>
                <a:ea typeface="Calibri" pitchFamily="34" charset="-122"/>
                <a:cs typeface="Calibri" pitchFamily="34" charset="-120"/>
              </a:rPr>
              <a:t>Runs entirely without internet. Each recognition event creates an attendance record immediately stored locally and added to the sync queue.</a:t>
            </a:r>
            <a:endParaRPr lang="en-US" sz="1150" dirty="0"/>
          </a:p>
        </p:txBody>
      </p:sp>
      <p:sp>
        <p:nvSpPr>
          <p:cNvPr id="11" name="Shape 9"/>
          <p:cNvSpPr/>
          <p:nvPr/>
        </p:nvSpPr>
        <p:spPr>
          <a:xfrm>
            <a:off x="538353" y="2684477"/>
            <a:ext cx="3291840" cy="329184"/>
          </a:xfrm>
          <a:prstGeom prst="rect">
            <a:avLst/>
          </a:prstGeom>
          <a:solidFill>
            <a:srgbClr val="0A1E35"/>
          </a:solidFill>
          <a:ln w="19050">
            <a:solidFill>
              <a:srgbClr val="00D4AA"/>
            </a:solidFill>
            <a:prstDash val="solid"/>
          </a:ln>
        </p:spPr>
      </p:sp>
      <p:sp>
        <p:nvSpPr>
          <p:cNvPr id="12" name="Text 10"/>
          <p:cNvSpPr/>
          <p:nvPr/>
        </p:nvSpPr>
        <p:spPr>
          <a:xfrm>
            <a:off x="530352" y="2675039"/>
            <a:ext cx="3291840" cy="329184"/>
          </a:xfrm>
          <a:prstGeom prst="rect">
            <a:avLst/>
          </a:prstGeom>
          <a:noFill/>
          <a:ln/>
        </p:spPr>
        <p:txBody>
          <a:bodyPr wrap="square" lIns="0" tIns="0" rIns="0" bIns="0" rtlCol="0" anchor="ctr"/>
          <a:lstStyle/>
          <a:p>
            <a:pPr marL="0" indent="0" algn="ctr">
              <a:buNone/>
            </a:pPr>
            <a:r>
              <a:rPr lang="en-US" sz="1200" dirty="0">
                <a:solidFill>
                  <a:srgbClr val="FFFFFF"/>
                </a:solidFill>
              </a:rPr>
              <a:t>Face Recognition</a:t>
            </a:r>
            <a:endParaRPr lang="en-US" sz="1200" dirty="0"/>
          </a:p>
        </p:txBody>
      </p:sp>
      <p:sp>
        <p:nvSpPr>
          <p:cNvPr id="13" name="Text 11"/>
          <p:cNvSpPr/>
          <p:nvPr/>
        </p:nvSpPr>
        <p:spPr>
          <a:xfrm>
            <a:off x="2001393" y="2985935"/>
            <a:ext cx="365760" cy="256032"/>
          </a:xfrm>
          <a:prstGeom prst="rect">
            <a:avLst/>
          </a:prstGeom>
          <a:noFill/>
          <a:ln/>
        </p:spPr>
        <p:txBody>
          <a:bodyPr wrap="square" lIns="0" tIns="0" rIns="0" bIns="0" rtlCol="0" anchor="ctr"/>
          <a:lstStyle/>
          <a:p>
            <a:pPr marL="0" indent="0" algn="ctr">
              <a:buNone/>
            </a:pPr>
            <a:r>
              <a:rPr lang="en-US" sz="1100" dirty="0">
                <a:solidFill>
                  <a:srgbClr val="00D4AA"/>
                </a:solidFill>
              </a:rPr>
              <a:t>▼</a:t>
            </a:r>
            <a:endParaRPr lang="en-US" sz="1100" dirty="0"/>
          </a:p>
        </p:txBody>
      </p:sp>
      <p:sp>
        <p:nvSpPr>
          <p:cNvPr id="14" name="Shape 12"/>
          <p:cNvSpPr/>
          <p:nvPr/>
        </p:nvSpPr>
        <p:spPr>
          <a:xfrm>
            <a:off x="530352" y="3210196"/>
            <a:ext cx="3291840" cy="329184"/>
          </a:xfrm>
          <a:prstGeom prst="rect">
            <a:avLst/>
          </a:prstGeom>
          <a:solidFill>
            <a:srgbClr val="0A1E35"/>
          </a:solidFill>
          <a:ln w="19050">
            <a:solidFill>
              <a:srgbClr val="00D4AA"/>
            </a:solidFill>
            <a:prstDash val="solid"/>
          </a:ln>
        </p:spPr>
      </p:sp>
      <p:sp>
        <p:nvSpPr>
          <p:cNvPr id="15" name="Text 13"/>
          <p:cNvSpPr/>
          <p:nvPr/>
        </p:nvSpPr>
        <p:spPr>
          <a:xfrm>
            <a:off x="560291" y="3208895"/>
            <a:ext cx="3291840" cy="329184"/>
          </a:xfrm>
          <a:prstGeom prst="rect">
            <a:avLst/>
          </a:prstGeom>
          <a:noFill/>
          <a:ln/>
        </p:spPr>
        <p:txBody>
          <a:bodyPr wrap="square" lIns="0" tIns="0" rIns="0" bIns="0" rtlCol="0" anchor="ctr"/>
          <a:lstStyle/>
          <a:p>
            <a:pPr marL="0" indent="0" algn="ctr">
              <a:buNone/>
            </a:pPr>
            <a:r>
              <a:rPr lang="en-US" sz="1200" dirty="0">
                <a:solidFill>
                  <a:srgbClr val="FFFFFF"/>
                </a:solidFill>
              </a:rPr>
              <a:t>Attendance Record</a:t>
            </a:r>
            <a:endParaRPr lang="en-US" sz="1200" dirty="0"/>
          </a:p>
        </p:txBody>
      </p:sp>
      <p:sp>
        <p:nvSpPr>
          <p:cNvPr id="16" name="Text 14"/>
          <p:cNvSpPr/>
          <p:nvPr/>
        </p:nvSpPr>
        <p:spPr>
          <a:xfrm>
            <a:off x="1993392" y="3499635"/>
            <a:ext cx="365760" cy="256032"/>
          </a:xfrm>
          <a:prstGeom prst="rect">
            <a:avLst/>
          </a:prstGeom>
          <a:noFill/>
          <a:ln/>
        </p:spPr>
        <p:txBody>
          <a:bodyPr wrap="square" lIns="0" tIns="0" rIns="0" bIns="0" rtlCol="0" anchor="ctr"/>
          <a:lstStyle/>
          <a:p>
            <a:pPr marL="0" indent="0" algn="ctr">
              <a:buNone/>
            </a:pPr>
            <a:r>
              <a:rPr lang="en-US" sz="1100" dirty="0">
                <a:solidFill>
                  <a:srgbClr val="00D4AA"/>
                </a:solidFill>
              </a:rPr>
              <a:t>▼</a:t>
            </a:r>
            <a:endParaRPr lang="en-US" sz="1100" dirty="0"/>
          </a:p>
        </p:txBody>
      </p:sp>
      <p:sp>
        <p:nvSpPr>
          <p:cNvPr id="17" name="Shape 15"/>
          <p:cNvSpPr/>
          <p:nvPr/>
        </p:nvSpPr>
        <p:spPr>
          <a:xfrm>
            <a:off x="548640" y="3744129"/>
            <a:ext cx="3291840" cy="329184"/>
          </a:xfrm>
          <a:prstGeom prst="rect">
            <a:avLst/>
          </a:prstGeom>
          <a:solidFill>
            <a:srgbClr val="0A1E35"/>
          </a:solidFill>
          <a:ln w="19050">
            <a:solidFill>
              <a:srgbClr val="4A9EFF"/>
            </a:solidFill>
            <a:prstDash val="solid"/>
          </a:ln>
        </p:spPr>
      </p:sp>
      <p:sp>
        <p:nvSpPr>
          <p:cNvPr id="18" name="Text 16"/>
          <p:cNvSpPr/>
          <p:nvPr/>
        </p:nvSpPr>
        <p:spPr>
          <a:xfrm>
            <a:off x="530352" y="3733313"/>
            <a:ext cx="3291840" cy="329184"/>
          </a:xfrm>
          <a:prstGeom prst="rect">
            <a:avLst/>
          </a:prstGeom>
          <a:noFill/>
          <a:ln/>
        </p:spPr>
        <p:txBody>
          <a:bodyPr wrap="square" lIns="0" tIns="0" rIns="0" bIns="0" rtlCol="0" anchor="ctr"/>
          <a:lstStyle/>
          <a:p>
            <a:pPr marL="0" indent="0" algn="ctr">
              <a:buNone/>
            </a:pPr>
            <a:r>
              <a:rPr lang="en-US" sz="1200" dirty="0">
                <a:solidFill>
                  <a:srgbClr val="FFFFFF"/>
                </a:solidFill>
              </a:rPr>
              <a:t>Local Storage</a:t>
            </a:r>
            <a:endParaRPr lang="en-US" sz="1200" dirty="0"/>
          </a:p>
        </p:txBody>
      </p:sp>
      <p:sp>
        <p:nvSpPr>
          <p:cNvPr id="19" name="Text 17"/>
          <p:cNvSpPr/>
          <p:nvPr/>
        </p:nvSpPr>
        <p:spPr>
          <a:xfrm>
            <a:off x="2001393" y="4033661"/>
            <a:ext cx="365760" cy="256032"/>
          </a:xfrm>
          <a:prstGeom prst="rect">
            <a:avLst/>
          </a:prstGeom>
          <a:noFill/>
          <a:ln/>
        </p:spPr>
        <p:txBody>
          <a:bodyPr wrap="square" lIns="0" tIns="0" rIns="0" bIns="0" rtlCol="0" anchor="ctr"/>
          <a:lstStyle/>
          <a:p>
            <a:pPr marL="0" indent="0" algn="ctr">
              <a:buNone/>
            </a:pPr>
            <a:r>
              <a:rPr lang="en-US" sz="1100" dirty="0">
                <a:solidFill>
                  <a:srgbClr val="00D4AA"/>
                </a:solidFill>
              </a:rPr>
              <a:t>▼</a:t>
            </a:r>
            <a:endParaRPr lang="en-US" sz="1100" dirty="0"/>
          </a:p>
        </p:txBody>
      </p:sp>
      <p:sp>
        <p:nvSpPr>
          <p:cNvPr id="20" name="Shape 18"/>
          <p:cNvSpPr/>
          <p:nvPr/>
        </p:nvSpPr>
        <p:spPr>
          <a:xfrm>
            <a:off x="530352" y="4247807"/>
            <a:ext cx="3291840" cy="329184"/>
          </a:xfrm>
          <a:prstGeom prst="rect">
            <a:avLst/>
          </a:prstGeom>
          <a:solidFill>
            <a:srgbClr val="0A1E35"/>
          </a:solidFill>
          <a:ln w="19050">
            <a:solidFill>
              <a:srgbClr val="4A9EFF"/>
            </a:solidFill>
            <a:prstDash val="solid"/>
          </a:ln>
        </p:spPr>
      </p:sp>
      <p:sp>
        <p:nvSpPr>
          <p:cNvPr id="21" name="Text 19"/>
          <p:cNvSpPr/>
          <p:nvPr/>
        </p:nvSpPr>
        <p:spPr>
          <a:xfrm>
            <a:off x="530352" y="4211097"/>
            <a:ext cx="3291840" cy="329184"/>
          </a:xfrm>
          <a:prstGeom prst="rect">
            <a:avLst/>
          </a:prstGeom>
          <a:noFill/>
          <a:ln/>
        </p:spPr>
        <p:txBody>
          <a:bodyPr wrap="square" lIns="0" tIns="0" rIns="0" bIns="0" rtlCol="0" anchor="ctr"/>
          <a:lstStyle/>
          <a:p>
            <a:pPr marL="0" indent="0" algn="ctr">
              <a:buNone/>
            </a:pPr>
            <a:r>
              <a:rPr lang="en-US" sz="1200" dirty="0">
                <a:solidFill>
                  <a:srgbClr val="FFFFFF"/>
                </a:solidFill>
              </a:rPr>
              <a:t>Sync Queue</a:t>
            </a:r>
            <a:endParaRPr lang="en-US" sz="1200" dirty="0"/>
          </a:p>
        </p:txBody>
      </p:sp>
      <p:sp>
        <p:nvSpPr>
          <p:cNvPr id="22" name="Shape 20"/>
          <p:cNvSpPr/>
          <p:nvPr/>
        </p:nvSpPr>
        <p:spPr>
          <a:xfrm>
            <a:off x="4069080" y="3291840"/>
            <a:ext cx="1005840" cy="64008"/>
          </a:xfrm>
          <a:prstGeom prst="rect">
            <a:avLst/>
          </a:prstGeom>
          <a:solidFill>
            <a:srgbClr val="4A9EFF"/>
          </a:solidFill>
          <a:ln w="12700">
            <a:solidFill>
              <a:srgbClr val="4A9EFF"/>
            </a:solidFill>
            <a:prstDash val="solid"/>
          </a:ln>
        </p:spPr>
      </p:sp>
      <p:sp>
        <p:nvSpPr>
          <p:cNvPr id="23" name="Text 21"/>
          <p:cNvSpPr/>
          <p:nvPr/>
        </p:nvSpPr>
        <p:spPr>
          <a:xfrm>
            <a:off x="4846320" y="3182112"/>
            <a:ext cx="274320" cy="274320"/>
          </a:xfrm>
          <a:prstGeom prst="rect">
            <a:avLst/>
          </a:prstGeom>
          <a:noFill/>
          <a:ln/>
        </p:spPr>
        <p:txBody>
          <a:bodyPr wrap="square" lIns="0" tIns="0" rIns="0" bIns="0" rtlCol="0" anchor="ctr"/>
          <a:lstStyle/>
          <a:p>
            <a:pPr marL="0" indent="0">
              <a:buNone/>
            </a:pPr>
            <a:r>
              <a:rPr lang="en-US" sz="1400" dirty="0">
                <a:solidFill>
                  <a:srgbClr val="4A9EFF"/>
                </a:solidFill>
              </a:rPr>
              <a:t>►</a:t>
            </a:r>
            <a:endParaRPr lang="en-US" sz="1400" dirty="0"/>
          </a:p>
        </p:txBody>
      </p:sp>
      <p:sp>
        <p:nvSpPr>
          <p:cNvPr id="24" name="Text 22"/>
          <p:cNvSpPr/>
          <p:nvPr/>
        </p:nvSpPr>
        <p:spPr>
          <a:xfrm>
            <a:off x="4023360" y="2999232"/>
            <a:ext cx="1097280" cy="256032"/>
          </a:xfrm>
          <a:prstGeom prst="rect">
            <a:avLst/>
          </a:prstGeom>
          <a:noFill/>
          <a:ln/>
        </p:spPr>
        <p:txBody>
          <a:bodyPr wrap="square" lIns="0" tIns="0" rIns="0" bIns="0" rtlCol="0" anchor="ctr"/>
          <a:lstStyle/>
          <a:p>
            <a:pPr marL="0" indent="0" algn="ctr">
              <a:buNone/>
            </a:pPr>
            <a:r>
              <a:rPr lang="en-US" sz="1100" b="1" dirty="0">
                <a:solidFill>
                  <a:srgbClr val="4A9EFF"/>
                </a:solidFill>
              </a:rPr>
              <a:t>SYNC</a:t>
            </a:r>
            <a:endParaRPr lang="en-US" sz="1100" dirty="0"/>
          </a:p>
        </p:txBody>
      </p:sp>
      <p:sp>
        <p:nvSpPr>
          <p:cNvPr id="25" name="Shape 23"/>
          <p:cNvSpPr/>
          <p:nvPr/>
        </p:nvSpPr>
        <p:spPr>
          <a:xfrm>
            <a:off x="5169998" y="1842801"/>
            <a:ext cx="3657600" cy="2912078"/>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26" name="Shape 24"/>
          <p:cNvSpPr/>
          <p:nvPr/>
        </p:nvSpPr>
        <p:spPr>
          <a:xfrm>
            <a:off x="5184648" y="1834454"/>
            <a:ext cx="45719" cy="2920425"/>
          </a:xfrm>
          <a:prstGeom prst="rect">
            <a:avLst/>
          </a:prstGeom>
          <a:solidFill>
            <a:srgbClr val="4A9EFF"/>
          </a:solidFill>
          <a:ln w="12700">
            <a:solidFill>
              <a:srgbClr val="4A9EFF"/>
            </a:solidFill>
            <a:prstDash val="solid"/>
          </a:ln>
        </p:spPr>
      </p:sp>
      <p:sp>
        <p:nvSpPr>
          <p:cNvPr id="27" name="Text 25"/>
          <p:cNvSpPr/>
          <p:nvPr/>
        </p:nvSpPr>
        <p:spPr>
          <a:xfrm>
            <a:off x="5321808" y="1792224"/>
            <a:ext cx="3383280" cy="274320"/>
          </a:xfrm>
          <a:prstGeom prst="rect">
            <a:avLst/>
          </a:prstGeom>
          <a:noFill/>
          <a:ln/>
        </p:spPr>
        <p:txBody>
          <a:bodyPr wrap="square" lIns="0" tIns="0" rIns="0" bIns="0" rtlCol="0" anchor="ctr"/>
          <a:lstStyle/>
          <a:p>
            <a:pPr marL="0" indent="0" algn="ctr">
              <a:buNone/>
            </a:pPr>
            <a:r>
              <a:rPr lang="en-US" sz="1150" b="1" dirty="0">
                <a:solidFill>
                  <a:srgbClr val="4A9EFF"/>
                </a:solidFill>
              </a:rPr>
              <a:t>AWS FUTURE STACK</a:t>
            </a:r>
            <a:endParaRPr lang="en-US" sz="1150" dirty="0"/>
          </a:p>
        </p:txBody>
      </p:sp>
      <p:sp>
        <p:nvSpPr>
          <p:cNvPr id="28" name="Text 26"/>
          <p:cNvSpPr/>
          <p:nvPr/>
        </p:nvSpPr>
        <p:spPr>
          <a:xfrm>
            <a:off x="5317236" y="1920413"/>
            <a:ext cx="3337560" cy="502920"/>
          </a:xfrm>
          <a:prstGeom prst="rect">
            <a:avLst/>
          </a:prstGeom>
          <a:noFill/>
          <a:ln/>
        </p:spPr>
        <p:txBody>
          <a:bodyPr wrap="square" lIns="76200" tIns="76200" rIns="76200" bIns="76200" rtlCol="0" anchor="t"/>
          <a:lstStyle/>
          <a:p>
            <a:pPr marL="0" indent="0" algn="l">
              <a:buNone/>
            </a:pPr>
            <a:r>
              <a:rPr lang="en-US" sz="1150" dirty="0">
                <a:solidFill>
                  <a:srgbClr val="C8DCF5"/>
                </a:solidFill>
                <a:latin typeface="Calibri" pitchFamily="34" charset="0"/>
                <a:ea typeface="Calibri" pitchFamily="34" charset="-122"/>
                <a:cs typeface="Calibri" pitchFamily="34" charset="-120"/>
              </a:rPr>
              <a:t>Future deployment targets AWS serverless stack. Lambda receives sync payloads, DynamoDB stores records, and a final purge step keeps local storage lean.</a:t>
            </a:r>
            <a:endParaRPr lang="en-US" sz="1150" dirty="0"/>
          </a:p>
        </p:txBody>
      </p:sp>
      <p:sp>
        <p:nvSpPr>
          <p:cNvPr id="29" name="Shape 27"/>
          <p:cNvSpPr/>
          <p:nvPr/>
        </p:nvSpPr>
        <p:spPr>
          <a:xfrm>
            <a:off x="5352878" y="2734523"/>
            <a:ext cx="3291840" cy="292608"/>
          </a:xfrm>
          <a:prstGeom prst="rect">
            <a:avLst/>
          </a:prstGeom>
          <a:solidFill>
            <a:srgbClr val="0A1E35"/>
          </a:solidFill>
          <a:ln w="19050">
            <a:solidFill>
              <a:srgbClr val="4A9EFF"/>
            </a:solidFill>
            <a:prstDash val="solid"/>
          </a:ln>
        </p:spPr>
      </p:sp>
      <p:sp>
        <p:nvSpPr>
          <p:cNvPr id="30" name="Text 28"/>
          <p:cNvSpPr/>
          <p:nvPr/>
        </p:nvSpPr>
        <p:spPr>
          <a:xfrm>
            <a:off x="5334860" y="2711615"/>
            <a:ext cx="3291840" cy="292608"/>
          </a:xfrm>
          <a:prstGeom prst="rect">
            <a:avLst/>
          </a:prstGeom>
          <a:noFill/>
          <a:ln/>
        </p:spPr>
        <p:txBody>
          <a:bodyPr wrap="square" lIns="0" tIns="0" rIns="0" bIns="0" rtlCol="0" anchor="ctr"/>
          <a:lstStyle/>
          <a:p>
            <a:pPr marL="0" indent="0" algn="ctr">
              <a:buNone/>
            </a:pPr>
            <a:r>
              <a:rPr lang="en-US" sz="1150" dirty="0">
                <a:solidFill>
                  <a:srgbClr val="FFFFFF"/>
                </a:solidFill>
              </a:rPr>
              <a:t>☁️ AWS Sync Trigger</a:t>
            </a:r>
            <a:endParaRPr lang="en-US" sz="1150" dirty="0"/>
          </a:p>
        </p:txBody>
      </p:sp>
      <p:sp>
        <p:nvSpPr>
          <p:cNvPr id="31" name="Text 29"/>
          <p:cNvSpPr/>
          <p:nvPr/>
        </p:nvSpPr>
        <p:spPr>
          <a:xfrm>
            <a:off x="6822456" y="2969465"/>
            <a:ext cx="318172" cy="283808"/>
          </a:xfrm>
          <a:prstGeom prst="rect">
            <a:avLst/>
          </a:prstGeom>
          <a:noFill/>
          <a:ln/>
        </p:spPr>
        <p:txBody>
          <a:bodyPr wrap="square" lIns="0" tIns="0" rIns="0" bIns="0" rtlCol="0" anchor="ctr"/>
          <a:lstStyle/>
          <a:p>
            <a:pPr marL="0" indent="0" algn="ctr">
              <a:buNone/>
            </a:pPr>
            <a:r>
              <a:rPr lang="en-US" sz="1100" dirty="0">
                <a:solidFill>
                  <a:srgbClr val="00D4AA"/>
                </a:solidFill>
              </a:rPr>
              <a:t>▼</a:t>
            </a:r>
            <a:endParaRPr lang="en-US" sz="1100" dirty="0"/>
          </a:p>
        </p:txBody>
      </p:sp>
      <p:sp>
        <p:nvSpPr>
          <p:cNvPr id="32" name="Shape 30"/>
          <p:cNvSpPr/>
          <p:nvPr/>
        </p:nvSpPr>
        <p:spPr>
          <a:xfrm>
            <a:off x="5376672" y="3163824"/>
            <a:ext cx="3291840" cy="292608"/>
          </a:xfrm>
          <a:prstGeom prst="rect">
            <a:avLst/>
          </a:prstGeom>
          <a:solidFill>
            <a:srgbClr val="0A1E35"/>
          </a:solidFill>
          <a:ln w="19050">
            <a:solidFill>
              <a:srgbClr val="4A9EFF"/>
            </a:solidFill>
            <a:prstDash val="solid"/>
          </a:ln>
        </p:spPr>
      </p:sp>
      <p:sp>
        <p:nvSpPr>
          <p:cNvPr id="33" name="Text 31"/>
          <p:cNvSpPr/>
          <p:nvPr/>
        </p:nvSpPr>
        <p:spPr>
          <a:xfrm>
            <a:off x="5334860" y="3146267"/>
            <a:ext cx="3291840" cy="292608"/>
          </a:xfrm>
          <a:prstGeom prst="rect">
            <a:avLst/>
          </a:prstGeom>
          <a:noFill/>
          <a:ln/>
        </p:spPr>
        <p:txBody>
          <a:bodyPr wrap="square" lIns="0" tIns="0" rIns="0" bIns="0" rtlCol="0" anchor="ctr"/>
          <a:lstStyle/>
          <a:p>
            <a:pPr marL="0" indent="0" algn="ctr">
              <a:buNone/>
            </a:pPr>
            <a:r>
              <a:rPr lang="en-US" sz="1150" dirty="0">
                <a:solidFill>
                  <a:srgbClr val="FFFFFF"/>
                </a:solidFill>
              </a:rPr>
              <a:t>🔌 API Gateway</a:t>
            </a:r>
            <a:endParaRPr lang="en-US" sz="1150" dirty="0"/>
          </a:p>
        </p:txBody>
      </p:sp>
      <p:sp>
        <p:nvSpPr>
          <p:cNvPr id="34" name="Text 32"/>
          <p:cNvSpPr/>
          <p:nvPr/>
        </p:nvSpPr>
        <p:spPr>
          <a:xfrm>
            <a:off x="6830568" y="3409198"/>
            <a:ext cx="365760" cy="256032"/>
          </a:xfrm>
          <a:prstGeom prst="rect">
            <a:avLst/>
          </a:prstGeom>
          <a:noFill/>
          <a:ln/>
        </p:spPr>
        <p:txBody>
          <a:bodyPr wrap="square" lIns="0" tIns="0" rIns="0" bIns="0" rtlCol="0" anchor="ctr"/>
          <a:lstStyle/>
          <a:p>
            <a:pPr marL="0" indent="0" algn="ctr">
              <a:buNone/>
            </a:pPr>
            <a:r>
              <a:rPr lang="en-US" sz="1100" dirty="0">
                <a:solidFill>
                  <a:srgbClr val="00D4AA"/>
                </a:solidFill>
              </a:rPr>
              <a:t>▼</a:t>
            </a:r>
            <a:endParaRPr lang="en-US" sz="1100" dirty="0"/>
          </a:p>
        </p:txBody>
      </p:sp>
      <p:sp>
        <p:nvSpPr>
          <p:cNvPr id="35" name="Shape 33"/>
          <p:cNvSpPr/>
          <p:nvPr/>
        </p:nvSpPr>
        <p:spPr>
          <a:xfrm>
            <a:off x="5376672" y="3607421"/>
            <a:ext cx="3291840" cy="292608"/>
          </a:xfrm>
          <a:prstGeom prst="rect">
            <a:avLst/>
          </a:prstGeom>
          <a:solidFill>
            <a:srgbClr val="0A1E35"/>
          </a:solidFill>
          <a:ln w="19050">
            <a:solidFill>
              <a:srgbClr val="4A9EFF"/>
            </a:solidFill>
            <a:prstDash val="solid"/>
          </a:ln>
        </p:spPr>
      </p:sp>
      <p:sp>
        <p:nvSpPr>
          <p:cNvPr id="36" name="Text 34"/>
          <p:cNvSpPr/>
          <p:nvPr/>
        </p:nvSpPr>
        <p:spPr>
          <a:xfrm>
            <a:off x="5376672" y="3597825"/>
            <a:ext cx="3291840" cy="292608"/>
          </a:xfrm>
          <a:prstGeom prst="rect">
            <a:avLst/>
          </a:prstGeom>
          <a:noFill/>
          <a:ln/>
        </p:spPr>
        <p:txBody>
          <a:bodyPr wrap="square" lIns="0" tIns="0" rIns="0" bIns="0" rtlCol="0" anchor="ctr"/>
          <a:lstStyle/>
          <a:p>
            <a:pPr marL="0" indent="0" algn="ctr">
              <a:buNone/>
            </a:pPr>
            <a:r>
              <a:rPr lang="en-US" sz="1150" dirty="0">
                <a:solidFill>
                  <a:srgbClr val="FFFFFF"/>
                </a:solidFill>
              </a:rPr>
              <a:t>⚡ Lambda Function</a:t>
            </a:r>
            <a:endParaRPr lang="en-US" sz="1150" dirty="0"/>
          </a:p>
        </p:txBody>
      </p:sp>
      <p:sp>
        <p:nvSpPr>
          <p:cNvPr id="37" name="Text 35"/>
          <p:cNvSpPr/>
          <p:nvPr/>
        </p:nvSpPr>
        <p:spPr>
          <a:xfrm>
            <a:off x="6839712" y="3848305"/>
            <a:ext cx="365760" cy="256032"/>
          </a:xfrm>
          <a:prstGeom prst="rect">
            <a:avLst/>
          </a:prstGeom>
          <a:noFill/>
          <a:ln/>
        </p:spPr>
        <p:txBody>
          <a:bodyPr wrap="square" lIns="0" tIns="0" rIns="0" bIns="0" rtlCol="0" anchor="ctr"/>
          <a:lstStyle/>
          <a:p>
            <a:pPr marL="0" indent="0" algn="ctr">
              <a:buNone/>
            </a:pPr>
            <a:r>
              <a:rPr lang="en-US" sz="1100" dirty="0">
                <a:solidFill>
                  <a:srgbClr val="00D4AA"/>
                </a:solidFill>
              </a:rPr>
              <a:t>▼</a:t>
            </a:r>
            <a:endParaRPr lang="en-US" sz="1100" dirty="0"/>
          </a:p>
        </p:txBody>
      </p:sp>
      <p:sp>
        <p:nvSpPr>
          <p:cNvPr id="38" name="Shape 36"/>
          <p:cNvSpPr/>
          <p:nvPr/>
        </p:nvSpPr>
        <p:spPr>
          <a:xfrm>
            <a:off x="5376672" y="4036552"/>
            <a:ext cx="3291840" cy="292608"/>
          </a:xfrm>
          <a:prstGeom prst="rect">
            <a:avLst/>
          </a:prstGeom>
          <a:solidFill>
            <a:srgbClr val="0A1E35"/>
          </a:solidFill>
          <a:ln w="19050">
            <a:solidFill>
              <a:srgbClr val="4A9EFF"/>
            </a:solidFill>
            <a:prstDash val="solid"/>
          </a:ln>
        </p:spPr>
      </p:sp>
      <p:sp>
        <p:nvSpPr>
          <p:cNvPr id="39" name="Text 37"/>
          <p:cNvSpPr/>
          <p:nvPr/>
        </p:nvSpPr>
        <p:spPr>
          <a:xfrm>
            <a:off x="5376672" y="4030340"/>
            <a:ext cx="3291840" cy="292608"/>
          </a:xfrm>
          <a:prstGeom prst="rect">
            <a:avLst/>
          </a:prstGeom>
          <a:noFill/>
          <a:ln/>
        </p:spPr>
        <p:txBody>
          <a:bodyPr wrap="square" lIns="0" tIns="0" rIns="0" bIns="0" rtlCol="0" anchor="ctr"/>
          <a:lstStyle/>
          <a:p>
            <a:pPr marL="0" indent="0" algn="ctr">
              <a:buNone/>
            </a:pPr>
            <a:r>
              <a:rPr lang="en-US" sz="1150" dirty="0">
                <a:solidFill>
                  <a:srgbClr val="FFFFFF"/>
                </a:solidFill>
              </a:rPr>
              <a:t>🗄️  DynamoDB</a:t>
            </a:r>
            <a:endParaRPr lang="en-US" sz="1150" dirty="0"/>
          </a:p>
        </p:txBody>
      </p:sp>
      <p:sp>
        <p:nvSpPr>
          <p:cNvPr id="40" name="Text 38"/>
          <p:cNvSpPr/>
          <p:nvPr/>
        </p:nvSpPr>
        <p:spPr>
          <a:xfrm>
            <a:off x="6839712" y="4498848"/>
            <a:ext cx="365760" cy="256032"/>
          </a:xfrm>
          <a:prstGeom prst="rect">
            <a:avLst/>
          </a:prstGeom>
          <a:noFill/>
          <a:ln/>
        </p:spPr>
        <p:txBody>
          <a:bodyPr wrap="square" lIns="0" tIns="0" rIns="0" bIns="0" rtlCol="0" anchor="ctr"/>
          <a:lstStyle/>
          <a:p>
            <a:pPr marL="0" indent="0" algn="ctr">
              <a:buNone/>
            </a:pPr>
            <a:r>
              <a:rPr lang="en-US" sz="1100" dirty="0">
                <a:solidFill>
                  <a:srgbClr val="00D4AA"/>
                </a:solidFill>
              </a:rPr>
              <a:t>▼</a:t>
            </a:r>
            <a:endParaRPr lang="en-US" sz="1100" dirty="0"/>
          </a:p>
        </p:txBody>
      </p:sp>
      <p:sp>
        <p:nvSpPr>
          <p:cNvPr id="41" name="Shape 39"/>
          <p:cNvSpPr/>
          <p:nvPr/>
        </p:nvSpPr>
        <p:spPr>
          <a:xfrm>
            <a:off x="5376672" y="4381874"/>
            <a:ext cx="3291840" cy="292608"/>
          </a:xfrm>
          <a:prstGeom prst="rect">
            <a:avLst/>
          </a:prstGeom>
          <a:solidFill>
            <a:srgbClr val="0A1E35"/>
          </a:solidFill>
          <a:ln w="19050">
            <a:solidFill>
              <a:srgbClr val="FF6B6B"/>
            </a:solidFill>
            <a:prstDash val="solid"/>
          </a:ln>
        </p:spPr>
      </p:sp>
      <p:sp>
        <p:nvSpPr>
          <p:cNvPr id="42" name="Text 40"/>
          <p:cNvSpPr/>
          <p:nvPr/>
        </p:nvSpPr>
        <p:spPr>
          <a:xfrm>
            <a:off x="5394960" y="4372394"/>
            <a:ext cx="3291840" cy="292608"/>
          </a:xfrm>
          <a:prstGeom prst="rect">
            <a:avLst/>
          </a:prstGeom>
          <a:noFill/>
          <a:ln/>
        </p:spPr>
        <p:txBody>
          <a:bodyPr wrap="square" lIns="0" tIns="0" rIns="0" bIns="0" rtlCol="0" anchor="ctr"/>
          <a:lstStyle/>
          <a:p>
            <a:pPr marL="0" indent="0" algn="ctr">
              <a:buNone/>
            </a:pPr>
            <a:r>
              <a:rPr lang="en-US" sz="1150" dirty="0">
                <a:solidFill>
                  <a:srgbClr val="FFFFFF"/>
                </a:solidFill>
              </a:rPr>
              <a:t>🗑️  Purge Local Cache</a:t>
            </a:r>
            <a:endParaRPr lang="en-US" sz="1150" dirty="0"/>
          </a:p>
        </p:txBody>
      </p:sp>
      <p:sp>
        <p:nvSpPr>
          <p:cNvPr id="43" name="Shape 41"/>
          <p:cNvSpPr/>
          <p:nvPr/>
        </p:nvSpPr>
        <p:spPr>
          <a:xfrm>
            <a:off x="320040" y="4828032"/>
            <a:ext cx="8522208" cy="256032"/>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44" name="Shape 42"/>
          <p:cNvSpPr/>
          <p:nvPr/>
        </p:nvSpPr>
        <p:spPr>
          <a:xfrm>
            <a:off x="411480" y="4846320"/>
            <a:ext cx="2103120" cy="274320"/>
          </a:xfrm>
          <a:prstGeom prst="roundRect">
            <a:avLst>
              <a:gd name="adj" fmla="val 23333"/>
            </a:avLst>
          </a:prstGeom>
          <a:solidFill>
            <a:srgbClr val="00C896"/>
          </a:solidFill>
          <a:ln w="12700">
            <a:solidFill>
              <a:srgbClr val="00C896"/>
            </a:solidFill>
            <a:prstDash val="solid"/>
          </a:ln>
        </p:spPr>
      </p:sp>
      <p:sp>
        <p:nvSpPr>
          <p:cNvPr id="45" name="Text 43"/>
          <p:cNvSpPr/>
          <p:nvPr/>
        </p:nvSpPr>
        <p:spPr>
          <a:xfrm>
            <a:off x="411480" y="4846320"/>
            <a:ext cx="2103120" cy="274320"/>
          </a:xfrm>
          <a:prstGeom prst="rect">
            <a:avLst/>
          </a:prstGeom>
          <a:noFill/>
          <a:ln/>
        </p:spPr>
        <p:txBody>
          <a:bodyPr wrap="square" lIns="0" tIns="0" rIns="0" bIns="0" rtlCol="0" anchor="ctr"/>
          <a:lstStyle/>
          <a:p>
            <a:pPr marL="0" indent="0" algn="ctr">
              <a:buNone/>
            </a:pPr>
            <a:r>
              <a:rPr lang="en-US" sz="950" b="1" dirty="0">
                <a:solidFill>
                  <a:srgbClr val="0A1628"/>
                </a:solidFill>
              </a:rPr>
              <a:t>OFFLINE MODE ACTIVE</a:t>
            </a:r>
            <a:endParaRPr lang="en-US" sz="950" dirty="0"/>
          </a:p>
        </p:txBody>
      </p:sp>
      <p:sp>
        <p:nvSpPr>
          <p:cNvPr id="46" name="Shape 44"/>
          <p:cNvSpPr/>
          <p:nvPr/>
        </p:nvSpPr>
        <p:spPr>
          <a:xfrm>
            <a:off x="2834640" y="4846320"/>
            <a:ext cx="1920240" cy="274320"/>
          </a:xfrm>
          <a:prstGeom prst="roundRect">
            <a:avLst>
              <a:gd name="adj" fmla="val 23333"/>
            </a:avLst>
          </a:prstGeom>
          <a:solidFill>
            <a:srgbClr val="4A9EFF"/>
          </a:solidFill>
          <a:ln w="12700">
            <a:solidFill>
              <a:srgbClr val="4A9EFF"/>
            </a:solidFill>
            <a:prstDash val="solid"/>
          </a:ln>
        </p:spPr>
      </p:sp>
      <p:sp>
        <p:nvSpPr>
          <p:cNvPr id="47" name="Text 45"/>
          <p:cNvSpPr/>
          <p:nvPr/>
        </p:nvSpPr>
        <p:spPr>
          <a:xfrm>
            <a:off x="2834640" y="4846320"/>
            <a:ext cx="1920240" cy="274320"/>
          </a:xfrm>
          <a:prstGeom prst="rect">
            <a:avLst/>
          </a:prstGeom>
          <a:noFill/>
          <a:ln/>
        </p:spPr>
        <p:txBody>
          <a:bodyPr wrap="square" lIns="0" tIns="0" rIns="0" bIns="0" rtlCol="0" anchor="ctr"/>
          <a:lstStyle/>
          <a:p>
            <a:pPr marL="0" indent="0" algn="ctr">
              <a:buNone/>
            </a:pPr>
            <a:r>
              <a:rPr lang="en-US" sz="950" b="1" dirty="0">
                <a:solidFill>
                  <a:srgbClr val="0A1628"/>
                </a:solidFill>
              </a:rPr>
              <a:t>PENDING SYNC: 0</a:t>
            </a:r>
            <a:endParaRPr lang="en-US" sz="950" dirty="0"/>
          </a:p>
        </p:txBody>
      </p:sp>
      <p:sp>
        <p:nvSpPr>
          <p:cNvPr id="48" name="Shape 46"/>
          <p:cNvSpPr/>
          <p:nvPr/>
        </p:nvSpPr>
        <p:spPr>
          <a:xfrm>
            <a:off x="5029200" y="4846320"/>
            <a:ext cx="1645920" cy="274320"/>
          </a:xfrm>
          <a:prstGeom prst="roundRect">
            <a:avLst>
              <a:gd name="adj" fmla="val 23333"/>
            </a:avLst>
          </a:prstGeom>
          <a:solidFill>
            <a:srgbClr val="00D4AA"/>
          </a:solidFill>
          <a:ln w="12700">
            <a:solidFill>
              <a:srgbClr val="00D4AA"/>
            </a:solidFill>
            <a:prstDash val="solid"/>
          </a:ln>
        </p:spPr>
      </p:sp>
      <p:sp>
        <p:nvSpPr>
          <p:cNvPr id="49" name="Text 47"/>
          <p:cNvSpPr/>
          <p:nvPr/>
        </p:nvSpPr>
        <p:spPr>
          <a:xfrm>
            <a:off x="5029200" y="4846320"/>
            <a:ext cx="1645920" cy="274320"/>
          </a:xfrm>
          <a:prstGeom prst="rect">
            <a:avLst/>
          </a:prstGeom>
          <a:noFill/>
          <a:ln/>
        </p:spPr>
        <p:txBody>
          <a:bodyPr wrap="square" lIns="0" tIns="0" rIns="0" bIns="0" rtlCol="0" anchor="ctr"/>
          <a:lstStyle/>
          <a:p>
            <a:pPr marL="0" indent="0" algn="ctr">
              <a:buNone/>
            </a:pPr>
            <a:r>
              <a:rPr lang="en-US" sz="950" b="1" dirty="0">
                <a:solidFill>
                  <a:srgbClr val="0A1628"/>
                </a:solidFill>
              </a:rPr>
              <a:t>QUEUE: READY</a:t>
            </a:r>
            <a:endParaRPr lang="en-US" sz="950" dirty="0"/>
          </a:p>
        </p:txBody>
      </p:sp>
      <p:sp>
        <p:nvSpPr>
          <p:cNvPr id="50" name="Shape 48"/>
          <p:cNvSpPr/>
          <p:nvPr/>
        </p:nvSpPr>
        <p:spPr>
          <a:xfrm>
            <a:off x="6858000" y="4846320"/>
            <a:ext cx="1828800" cy="274320"/>
          </a:xfrm>
          <a:prstGeom prst="roundRect">
            <a:avLst>
              <a:gd name="adj" fmla="val 23333"/>
            </a:avLst>
          </a:prstGeom>
          <a:solidFill>
            <a:srgbClr val="6B8BB0"/>
          </a:solidFill>
          <a:ln w="12700">
            <a:solidFill>
              <a:srgbClr val="6B8BB0"/>
            </a:solidFill>
            <a:prstDash val="solid"/>
          </a:ln>
        </p:spPr>
      </p:sp>
      <p:sp>
        <p:nvSpPr>
          <p:cNvPr id="51" name="Text 49"/>
          <p:cNvSpPr/>
          <p:nvPr/>
        </p:nvSpPr>
        <p:spPr>
          <a:xfrm>
            <a:off x="6858000" y="4846320"/>
            <a:ext cx="1828800" cy="274320"/>
          </a:xfrm>
          <a:prstGeom prst="rect">
            <a:avLst/>
          </a:prstGeom>
          <a:noFill/>
          <a:ln/>
        </p:spPr>
        <p:txBody>
          <a:bodyPr wrap="square" lIns="0" tIns="0" rIns="0" bIns="0" rtlCol="0" anchor="ctr"/>
          <a:lstStyle/>
          <a:p>
            <a:pPr marL="0" indent="0" algn="ctr">
              <a:buNone/>
            </a:pPr>
            <a:r>
              <a:rPr lang="en-US" sz="950" b="1" dirty="0">
                <a:solidFill>
                  <a:srgbClr val="0A1628"/>
                </a:solidFill>
              </a:rPr>
              <a:t>FUTURE: AWS READY</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2240"/>
        </a:solidFill>
        <a:effectLst/>
      </p:bgPr>
    </p:bg>
    <p:spTree>
      <p:nvGrpSpPr>
        <p:cNvPr id="1" name=""/>
        <p:cNvGrpSpPr/>
        <p:nvPr/>
      </p:nvGrpSpPr>
      <p:grpSpPr>
        <a:xfrm>
          <a:off x="0" y="0"/>
          <a:ext cx="0" cy="0"/>
          <a:chOff x="0" y="0"/>
          <a:chExt cx="0" cy="0"/>
        </a:xfrm>
      </p:grpSpPr>
      <p:sp>
        <p:nvSpPr>
          <p:cNvPr id="2" name="Shape 0"/>
          <p:cNvSpPr/>
          <p:nvPr/>
        </p:nvSpPr>
        <p:spPr>
          <a:xfrm>
            <a:off x="365760" y="256032"/>
            <a:ext cx="50292" cy="868680"/>
          </a:xfrm>
          <a:prstGeom prst="rect">
            <a:avLst/>
          </a:prstGeom>
          <a:solidFill>
            <a:srgbClr val="00C896"/>
          </a:solidFill>
          <a:ln w="12700">
            <a:solidFill>
              <a:srgbClr val="00C896"/>
            </a:solidFill>
            <a:prstDash val="solid"/>
          </a:ln>
        </p:spPr>
      </p:sp>
      <p:sp>
        <p:nvSpPr>
          <p:cNvPr id="3" name="Text 1"/>
          <p:cNvSpPr/>
          <p:nvPr/>
        </p:nvSpPr>
        <p:spPr>
          <a:xfrm>
            <a:off x="548640" y="237744"/>
            <a:ext cx="8229600" cy="320040"/>
          </a:xfrm>
          <a:prstGeom prst="rect">
            <a:avLst/>
          </a:prstGeom>
          <a:noFill/>
          <a:ln/>
        </p:spPr>
        <p:txBody>
          <a:bodyPr wrap="square" lIns="0" tIns="0" rIns="0" bIns="0" rtlCol="0" anchor="ctr"/>
          <a:lstStyle/>
          <a:p>
            <a:pPr marL="0" indent="0">
              <a:buNone/>
            </a:pPr>
            <a:r>
              <a:rPr lang="en-US" sz="1050" b="1" dirty="0">
                <a:solidFill>
                  <a:srgbClr val="00C896"/>
                </a:solidFill>
              </a:rPr>
              <a:t>Features Implemented</a:t>
            </a:r>
            <a:endParaRPr lang="en-US" sz="1050" dirty="0"/>
          </a:p>
        </p:txBody>
      </p:sp>
      <p:sp>
        <p:nvSpPr>
          <p:cNvPr id="4" name="Text 2"/>
          <p:cNvSpPr/>
          <p:nvPr/>
        </p:nvSpPr>
        <p:spPr>
          <a:xfrm>
            <a:off x="548640" y="530352"/>
            <a:ext cx="8321040" cy="566928"/>
          </a:xfrm>
          <a:prstGeom prst="rect">
            <a:avLst/>
          </a:prstGeom>
          <a:noFill/>
          <a:ln/>
        </p:spPr>
        <p:txBody>
          <a:bodyPr wrap="square" lIns="0" tIns="0" rIns="0" bIns="0"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Completed Feature Set</a:t>
            </a:r>
            <a:endParaRPr lang="en-US" sz="2500" dirty="0"/>
          </a:p>
        </p:txBody>
      </p:sp>
      <p:sp>
        <p:nvSpPr>
          <p:cNvPr id="5" name="Shape 3"/>
          <p:cNvSpPr/>
          <p:nvPr/>
        </p:nvSpPr>
        <p:spPr>
          <a:xfrm>
            <a:off x="365760" y="1216152"/>
            <a:ext cx="8412480" cy="548640"/>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6" name="Text 4"/>
          <p:cNvSpPr/>
          <p:nvPr/>
        </p:nvSpPr>
        <p:spPr>
          <a:xfrm>
            <a:off x="411480" y="1243584"/>
            <a:ext cx="8321040" cy="502920"/>
          </a:xfrm>
          <a:prstGeom prst="rect">
            <a:avLst/>
          </a:prstGeom>
          <a:noFill/>
          <a:ln/>
        </p:spPr>
        <p:txBody>
          <a:bodyPr wrap="square" lIns="76200" tIns="76200" rIns="76200" bIns="76200" rtlCol="0" anchor="t"/>
          <a:lstStyle/>
          <a:p>
            <a:pPr marL="0" indent="0" algn="l">
              <a:buNone/>
            </a:pPr>
            <a:r>
              <a:rPr lang="en-US" sz="1150" dirty="0">
                <a:solidFill>
                  <a:srgbClr val="C8DCF5"/>
                </a:solidFill>
                <a:latin typeface="Calibri" pitchFamily="34" charset="0"/>
                <a:ea typeface="Calibri" pitchFamily="34" charset="-122"/>
                <a:cs typeface="Calibri" pitchFamily="34" charset="-120"/>
              </a:rPr>
              <a:t>All core features described in the project specification have been fully implemented and tested. The system is functional end-to-end — from face enrollment and liveness detection through to attendance logging, encrypted storage, audit trail generation, and the AWS sync queue mechanism.</a:t>
            </a:r>
            <a:endParaRPr lang="en-US" sz="1150" dirty="0"/>
          </a:p>
        </p:txBody>
      </p:sp>
      <p:sp>
        <p:nvSpPr>
          <p:cNvPr id="7" name="Shape 5"/>
          <p:cNvSpPr/>
          <p:nvPr/>
        </p:nvSpPr>
        <p:spPr>
          <a:xfrm>
            <a:off x="365760" y="1901952"/>
            <a:ext cx="4251960" cy="530352"/>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8" name="Shape 6"/>
          <p:cNvSpPr/>
          <p:nvPr/>
        </p:nvSpPr>
        <p:spPr>
          <a:xfrm>
            <a:off x="475488" y="2020824"/>
            <a:ext cx="274320" cy="274320"/>
          </a:xfrm>
          <a:prstGeom prst="ellipse">
            <a:avLst/>
          </a:prstGeom>
          <a:solidFill>
            <a:srgbClr val="00C896"/>
          </a:solidFill>
          <a:ln w="12700">
            <a:solidFill>
              <a:srgbClr val="00C896"/>
            </a:solidFill>
            <a:prstDash val="solid"/>
          </a:ln>
        </p:spPr>
      </p:sp>
      <p:sp>
        <p:nvSpPr>
          <p:cNvPr id="9" name="Text 7"/>
          <p:cNvSpPr/>
          <p:nvPr/>
        </p:nvSpPr>
        <p:spPr>
          <a:xfrm>
            <a:off x="475488" y="2020824"/>
            <a:ext cx="274320" cy="274320"/>
          </a:xfrm>
          <a:prstGeom prst="rect">
            <a:avLst/>
          </a:prstGeom>
          <a:noFill/>
          <a:ln/>
        </p:spPr>
        <p:txBody>
          <a:bodyPr wrap="square" lIns="0" tIns="0" rIns="0" bIns="0" rtlCol="0" anchor="ctr"/>
          <a:lstStyle/>
          <a:p>
            <a:pPr marL="0" indent="0" algn="ctr">
              <a:buNone/>
            </a:pPr>
            <a:r>
              <a:rPr lang="en-US" sz="1100" b="1" dirty="0">
                <a:solidFill>
                  <a:srgbClr val="0A1628"/>
                </a:solidFill>
              </a:rPr>
              <a:t>✓</a:t>
            </a:r>
            <a:endParaRPr lang="en-US" sz="1100" dirty="0"/>
          </a:p>
        </p:txBody>
      </p:sp>
      <p:sp>
        <p:nvSpPr>
          <p:cNvPr id="10" name="Text 8"/>
          <p:cNvSpPr/>
          <p:nvPr/>
        </p:nvSpPr>
        <p:spPr>
          <a:xfrm>
            <a:off x="841248" y="1975104"/>
            <a:ext cx="3657600" cy="237744"/>
          </a:xfrm>
          <a:prstGeom prst="rect">
            <a:avLst/>
          </a:prstGeom>
          <a:noFill/>
          <a:ln/>
        </p:spPr>
        <p:txBody>
          <a:bodyPr wrap="square" lIns="0" tIns="0" rIns="0" bIns="0" rtlCol="0" anchor="ctr"/>
          <a:lstStyle/>
          <a:p>
            <a:pPr marL="0" indent="0">
              <a:buNone/>
            </a:pPr>
            <a:r>
              <a:rPr lang="en-US" sz="1250" b="1" dirty="0">
                <a:solidFill>
                  <a:srgbClr val="FFFFFF"/>
                </a:solidFill>
              </a:rPr>
              <a:t>Face Recognition</a:t>
            </a:r>
            <a:endParaRPr lang="en-US" sz="1250" dirty="0"/>
          </a:p>
        </p:txBody>
      </p:sp>
      <p:sp>
        <p:nvSpPr>
          <p:cNvPr id="11" name="Text 9"/>
          <p:cNvSpPr/>
          <p:nvPr/>
        </p:nvSpPr>
        <p:spPr>
          <a:xfrm>
            <a:off x="841248" y="2194560"/>
            <a:ext cx="3657600" cy="201168"/>
          </a:xfrm>
          <a:prstGeom prst="rect">
            <a:avLst/>
          </a:prstGeom>
          <a:noFill/>
          <a:ln/>
        </p:spPr>
        <p:txBody>
          <a:bodyPr wrap="square" lIns="0" tIns="0" rIns="0" bIns="0" rtlCol="0" anchor="ctr"/>
          <a:lstStyle/>
          <a:p>
            <a:pPr marL="0" indent="0">
              <a:buNone/>
            </a:pPr>
            <a:r>
              <a:rPr lang="en-US" sz="1050" dirty="0">
                <a:solidFill>
                  <a:srgbClr val="6B8BB0"/>
                </a:solidFill>
              </a:rPr>
              <a:t>Cosine similarity matching via face-api.js embeddings</a:t>
            </a:r>
            <a:endParaRPr lang="en-US" sz="1050" dirty="0"/>
          </a:p>
        </p:txBody>
      </p:sp>
      <p:sp>
        <p:nvSpPr>
          <p:cNvPr id="12" name="Shape 10"/>
          <p:cNvSpPr/>
          <p:nvPr/>
        </p:nvSpPr>
        <p:spPr>
          <a:xfrm>
            <a:off x="4800600" y="1901952"/>
            <a:ext cx="4251960" cy="530352"/>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13" name="Shape 11"/>
          <p:cNvSpPr/>
          <p:nvPr/>
        </p:nvSpPr>
        <p:spPr>
          <a:xfrm>
            <a:off x="4910328" y="2020824"/>
            <a:ext cx="274320" cy="274320"/>
          </a:xfrm>
          <a:prstGeom prst="ellipse">
            <a:avLst/>
          </a:prstGeom>
          <a:solidFill>
            <a:srgbClr val="00C896"/>
          </a:solidFill>
          <a:ln w="12700">
            <a:solidFill>
              <a:srgbClr val="00C896"/>
            </a:solidFill>
            <a:prstDash val="solid"/>
          </a:ln>
        </p:spPr>
      </p:sp>
      <p:sp>
        <p:nvSpPr>
          <p:cNvPr id="14" name="Text 12"/>
          <p:cNvSpPr/>
          <p:nvPr/>
        </p:nvSpPr>
        <p:spPr>
          <a:xfrm>
            <a:off x="4910328" y="2020824"/>
            <a:ext cx="274320" cy="274320"/>
          </a:xfrm>
          <a:prstGeom prst="rect">
            <a:avLst/>
          </a:prstGeom>
          <a:noFill/>
          <a:ln/>
        </p:spPr>
        <p:txBody>
          <a:bodyPr wrap="square" lIns="0" tIns="0" rIns="0" bIns="0" rtlCol="0" anchor="ctr"/>
          <a:lstStyle/>
          <a:p>
            <a:pPr marL="0" indent="0" algn="ctr">
              <a:buNone/>
            </a:pPr>
            <a:r>
              <a:rPr lang="en-US" sz="1100" b="1" dirty="0">
                <a:solidFill>
                  <a:srgbClr val="0A1628"/>
                </a:solidFill>
              </a:rPr>
              <a:t>✓</a:t>
            </a:r>
            <a:endParaRPr lang="en-US" sz="1100" dirty="0"/>
          </a:p>
        </p:txBody>
      </p:sp>
      <p:sp>
        <p:nvSpPr>
          <p:cNvPr id="15" name="Text 13"/>
          <p:cNvSpPr/>
          <p:nvPr/>
        </p:nvSpPr>
        <p:spPr>
          <a:xfrm>
            <a:off x="5276088" y="1975104"/>
            <a:ext cx="3657600" cy="237744"/>
          </a:xfrm>
          <a:prstGeom prst="rect">
            <a:avLst/>
          </a:prstGeom>
          <a:noFill/>
          <a:ln/>
        </p:spPr>
        <p:txBody>
          <a:bodyPr wrap="square" lIns="0" tIns="0" rIns="0" bIns="0" rtlCol="0" anchor="ctr"/>
          <a:lstStyle/>
          <a:p>
            <a:pPr marL="0" indent="0">
              <a:buNone/>
            </a:pPr>
            <a:r>
              <a:rPr lang="en-US" sz="1250" b="1" dirty="0">
                <a:solidFill>
                  <a:srgbClr val="FFFFFF"/>
                </a:solidFill>
              </a:rPr>
              <a:t>Multi-Sample Enrollment</a:t>
            </a:r>
            <a:endParaRPr lang="en-US" sz="1250" dirty="0"/>
          </a:p>
        </p:txBody>
      </p:sp>
      <p:sp>
        <p:nvSpPr>
          <p:cNvPr id="16" name="Text 14"/>
          <p:cNvSpPr/>
          <p:nvPr/>
        </p:nvSpPr>
        <p:spPr>
          <a:xfrm>
            <a:off x="5276088" y="2194560"/>
            <a:ext cx="3657600" cy="201168"/>
          </a:xfrm>
          <a:prstGeom prst="rect">
            <a:avLst/>
          </a:prstGeom>
          <a:noFill/>
          <a:ln/>
        </p:spPr>
        <p:txBody>
          <a:bodyPr wrap="square" lIns="0" tIns="0" rIns="0" bIns="0" rtlCol="0" anchor="ctr"/>
          <a:lstStyle/>
          <a:p>
            <a:pPr marL="0" indent="0">
              <a:buNone/>
            </a:pPr>
            <a:r>
              <a:rPr lang="en-US" sz="1050" dirty="0">
                <a:solidFill>
                  <a:srgbClr val="6B8BB0"/>
                </a:solidFill>
              </a:rPr>
              <a:t>5-angle capture for robust recognition across poses</a:t>
            </a:r>
            <a:endParaRPr lang="en-US" sz="1050" dirty="0"/>
          </a:p>
        </p:txBody>
      </p:sp>
      <p:sp>
        <p:nvSpPr>
          <p:cNvPr id="17" name="Shape 15"/>
          <p:cNvSpPr/>
          <p:nvPr/>
        </p:nvSpPr>
        <p:spPr>
          <a:xfrm>
            <a:off x="365760" y="2505456"/>
            <a:ext cx="4251960" cy="530352"/>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18" name="Shape 16"/>
          <p:cNvSpPr/>
          <p:nvPr/>
        </p:nvSpPr>
        <p:spPr>
          <a:xfrm>
            <a:off x="475488" y="2624328"/>
            <a:ext cx="274320" cy="274320"/>
          </a:xfrm>
          <a:prstGeom prst="ellipse">
            <a:avLst/>
          </a:prstGeom>
          <a:solidFill>
            <a:srgbClr val="00C896"/>
          </a:solidFill>
          <a:ln w="12700">
            <a:solidFill>
              <a:srgbClr val="00C896"/>
            </a:solidFill>
            <a:prstDash val="solid"/>
          </a:ln>
        </p:spPr>
      </p:sp>
      <p:sp>
        <p:nvSpPr>
          <p:cNvPr id="19" name="Text 17"/>
          <p:cNvSpPr/>
          <p:nvPr/>
        </p:nvSpPr>
        <p:spPr>
          <a:xfrm>
            <a:off x="475488" y="2624328"/>
            <a:ext cx="274320" cy="274320"/>
          </a:xfrm>
          <a:prstGeom prst="rect">
            <a:avLst/>
          </a:prstGeom>
          <a:noFill/>
          <a:ln/>
        </p:spPr>
        <p:txBody>
          <a:bodyPr wrap="square" lIns="0" tIns="0" rIns="0" bIns="0" rtlCol="0" anchor="ctr"/>
          <a:lstStyle/>
          <a:p>
            <a:pPr marL="0" indent="0" algn="ctr">
              <a:buNone/>
            </a:pPr>
            <a:r>
              <a:rPr lang="en-US" sz="1100" b="1" dirty="0">
                <a:solidFill>
                  <a:srgbClr val="0A1628"/>
                </a:solidFill>
              </a:rPr>
              <a:t>✓</a:t>
            </a:r>
            <a:endParaRPr lang="en-US" sz="1100" dirty="0"/>
          </a:p>
        </p:txBody>
      </p:sp>
      <p:sp>
        <p:nvSpPr>
          <p:cNvPr id="20" name="Text 18"/>
          <p:cNvSpPr/>
          <p:nvPr/>
        </p:nvSpPr>
        <p:spPr>
          <a:xfrm>
            <a:off x="841248" y="2578608"/>
            <a:ext cx="3657600" cy="237744"/>
          </a:xfrm>
          <a:prstGeom prst="rect">
            <a:avLst/>
          </a:prstGeom>
          <a:noFill/>
          <a:ln/>
        </p:spPr>
        <p:txBody>
          <a:bodyPr wrap="square" lIns="0" tIns="0" rIns="0" bIns="0" rtlCol="0" anchor="ctr"/>
          <a:lstStyle/>
          <a:p>
            <a:pPr marL="0" indent="0">
              <a:buNone/>
            </a:pPr>
            <a:r>
              <a:rPr lang="en-US" sz="1250" b="1" dirty="0">
                <a:solidFill>
                  <a:srgbClr val="FFFFFF"/>
                </a:solidFill>
              </a:rPr>
              <a:t>Liveness Detection</a:t>
            </a:r>
            <a:endParaRPr lang="en-US" sz="1250" dirty="0"/>
          </a:p>
        </p:txBody>
      </p:sp>
      <p:sp>
        <p:nvSpPr>
          <p:cNvPr id="21" name="Text 19"/>
          <p:cNvSpPr/>
          <p:nvPr/>
        </p:nvSpPr>
        <p:spPr>
          <a:xfrm>
            <a:off x="841248" y="2798064"/>
            <a:ext cx="3657600" cy="201168"/>
          </a:xfrm>
          <a:prstGeom prst="rect">
            <a:avLst/>
          </a:prstGeom>
          <a:noFill/>
          <a:ln/>
        </p:spPr>
        <p:txBody>
          <a:bodyPr wrap="square" lIns="0" tIns="0" rIns="0" bIns="0" rtlCol="0" anchor="ctr"/>
          <a:lstStyle/>
          <a:p>
            <a:pPr marL="0" indent="0">
              <a:buNone/>
            </a:pPr>
            <a:r>
              <a:rPr lang="en-US" sz="1050" dirty="0">
                <a:solidFill>
                  <a:srgbClr val="6B8BB0"/>
                </a:solidFill>
              </a:rPr>
              <a:t>Blink, smile &amp; head-turn challenges, all landmark-based</a:t>
            </a:r>
            <a:endParaRPr lang="en-US" sz="1050" dirty="0"/>
          </a:p>
        </p:txBody>
      </p:sp>
      <p:sp>
        <p:nvSpPr>
          <p:cNvPr id="22" name="Shape 20"/>
          <p:cNvSpPr/>
          <p:nvPr/>
        </p:nvSpPr>
        <p:spPr>
          <a:xfrm>
            <a:off x="4800600" y="2505456"/>
            <a:ext cx="4251960" cy="530352"/>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23" name="Shape 21"/>
          <p:cNvSpPr/>
          <p:nvPr/>
        </p:nvSpPr>
        <p:spPr>
          <a:xfrm>
            <a:off x="4910328" y="2624328"/>
            <a:ext cx="274320" cy="274320"/>
          </a:xfrm>
          <a:prstGeom prst="ellipse">
            <a:avLst/>
          </a:prstGeom>
          <a:solidFill>
            <a:srgbClr val="00C896"/>
          </a:solidFill>
          <a:ln w="12700">
            <a:solidFill>
              <a:srgbClr val="00C896"/>
            </a:solidFill>
            <a:prstDash val="solid"/>
          </a:ln>
        </p:spPr>
      </p:sp>
      <p:sp>
        <p:nvSpPr>
          <p:cNvPr id="24" name="Text 22"/>
          <p:cNvSpPr/>
          <p:nvPr/>
        </p:nvSpPr>
        <p:spPr>
          <a:xfrm>
            <a:off x="4910328" y="2624328"/>
            <a:ext cx="274320" cy="274320"/>
          </a:xfrm>
          <a:prstGeom prst="rect">
            <a:avLst/>
          </a:prstGeom>
          <a:noFill/>
          <a:ln/>
        </p:spPr>
        <p:txBody>
          <a:bodyPr wrap="square" lIns="0" tIns="0" rIns="0" bIns="0" rtlCol="0" anchor="ctr"/>
          <a:lstStyle/>
          <a:p>
            <a:pPr marL="0" indent="0" algn="ctr">
              <a:buNone/>
            </a:pPr>
            <a:r>
              <a:rPr lang="en-US" sz="1100" b="1" dirty="0">
                <a:solidFill>
                  <a:srgbClr val="0A1628"/>
                </a:solidFill>
              </a:rPr>
              <a:t>✓</a:t>
            </a:r>
            <a:endParaRPr lang="en-US" sz="1100" dirty="0"/>
          </a:p>
        </p:txBody>
      </p:sp>
      <p:sp>
        <p:nvSpPr>
          <p:cNvPr id="25" name="Text 23"/>
          <p:cNvSpPr/>
          <p:nvPr/>
        </p:nvSpPr>
        <p:spPr>
          <a:xfrm>
            <a:off x="5276088" y="2578608"/>
            <a:ext cx="3657600" cy="237744"/>
          </a:xfrm>
          <a:prstGeom prst="rect">
            <a:avLst/>
          </a:prstGeom>
          <a:noFill/>
          <a:ln/>
        </p:spPr>
        <p:txBody>
          <a:bodyPr wrap="square" lIns="0" tIns="0" rIns="0" bIns="0" rtlCol="0" anchor="ctr"/>
          <a:lstStyle/>
          <a:p>
            <a:pPr marL="0" indent="0">
              <a:buNone/>
            </a:pPr>
            <a:r>
              <a:rPr lang="en-US" sz="1250" b="1" dirty="0">
                <a:solidFill>
                  <a:srgbClr val="FFFFFF"/>
                </a:solidFill>
              </a:rPr>
              <a:t>Attendance Tracking</a:t>
            </a:r>
            <a:endParaRPr lang="en-US" sz="1250" dirty="0"/>
          </a:p>
        </p:txBody>
      </p:sp>
      <p:sp>
        <p:nvSpPr>
          <p:cNvPr id="26" name="Text 24"/>
          <p:cNvSpPr/>
          <p:nvPr/>
        </p:nvSpPr>
        <p:spPr>
          <a:xfrm>
            <a:off x="5276088" y="2798064"/>
            <a:ext cx="3657600" cy="201168"/>
          </a:xfrm>
          <a:prstGeom prst="rect">
            <a:avLst/>
          </a:prstGeom>
          <a:noFill/>
          <a:ln/>
        </p:spPr>
        <p:txBody>
          <a:bodyPr wrap="square" lIns="0" tIns="0" rIns="0" bIns="0" rtlCol="0" anchor="ctr"/>
          <a:lstStyle/>
          <a:p>
            <a:pPr marL="0" indent="0">
              <a:buNone/>
            </a:pPr>
            <a:r>
              <a:rPr lang="en-US" sz="1050" dirty="0">
                <a:solidFill>
                  <a:srgbClr val="6B8BB0"/>
                </a:solidFill>
              </a:rPr>
              <a:t>Auto-logs verified entries with deduplication logic</a:t>
            </a:r>
            <a:endParaRPr lang="en-US" sz="1050" dirty="0"/>
          </a:p>
        </p:txBody>
      </p:sp>
      <p:sp>
        <p:nvSpPr>
          <p:cNvPr id="27" name="Shape 25"/>
          <p:cNvSpPr/>
          <p:nvPr/>
        </p:nvSpPr>
        <p:spPr>
          <a:xfrm>
            <a:off x="365760" y="3108960"/>
            <a:ext cx="4251960" cy="530352"/>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28" name="Shape 26"/>
          <p:cNvSpPr/>
          <p:nvPr/>
        </p:nvSpPr>
        <p:spPr>
          <a:xfrm>
            <a:off x="475488" y="3227832"/>
            <a:ext cx="274320" cy="274320"/>
          </a:xfrm>
          <a:prstGeom prst="ellipse">
            <a:avLst/>
          </a:prstGeom>
          <a:solidFill>
            <a:srgbClr val="00C896"/>
          </a:solidFill>
          <a:ln w="12700">
            <a:solidFill>
              <a:srgbClr val="00C896"/>
            </a:solidFill>
            <a:prstDash val="solid"/>
          </a:ln>
        </p:spPr>
      </p:sp>
      <p:sp>
        <p:nvSpPr>
          <p:cNvPr id="29" name="Text 27"/>
          <p:cNvSpPr/>
          <p:nvPr/>
        </p:nvSpPr>
        <p:spPr>
          <a:xfrm>
            <a:off x="475488" y="3227832"/>
            <a:ext cx="274320" cy="274320"/>
          </a:xfrm>
          <a:prstGeom prst="rect">
            <a:avLst/>
          </a:prstGeom>
          <a:noFill/>
          <a:ln/>
        </p:spPr>
        <p:txBody>
          <a:bodyPr wrap="square" lIns="0" tIns="0" rIns="0" bIns="0" rtlCol="0" anchor="ctr"/>
          <a:lstStyle/>
          <a:p>
            <a:pPr marL="0" indent="0" algn="ctr">
              <a:buNone/>
            </a:pPr>
            <a:r>
              <a:rPr lang="en-US" sz="1100" b="1" dirty="0">
                <a:solidFill>
                  <a:srgbClr val="0A1628"/>
                </a:solidFill>
              </a:rPr>
              <a:t>✓</a:t>
            </a:r>
            <a:endParaRPr lang="en-US" sz="1100" dirty="0"/>
          </a:p>
        </p:txBody>
      </p:sp>
      <p:sp>
        <p:nvSpPr>
          <p:cNvPr id="30" name="Text 28"/>
          <p:cNvSpPr/>
          <p:nvPr/>
        </p:nvSpPr>
        <p:spPr>
          <a:xfrm>
            <a:off x="841248" y="3182112"/>
            <a:ext cx="3657600" cy="237744"/>
          </a:xfrm>
          <a:prstGeom prst="rect">
            <a:avLst/>
          </a:prstGeom>
          <a:noFill/>
          <a:ln/>
        </p:spPr>
        <p:txBody>
          <a:bodyPr wrap="square" lIns="0" tIns="0" rIns="0" bIns="0" rtlCol="0" anchor="ctr"/>
          <a:lstStyle/>
          <a:p>
            <a:pPr marL="0" indent="0">
              <a:buNone/>
            </a:pPr>
            <a:r>
              <a:rPr lang="en-US" sz="1250" b="1" dirty="0">
                <a:solidFill>
                  <a:srgbClr val="FFFFFF"/>
                </a:solidFill>
              </a:rPr>
              <a:t>Audit Logging</a:t>
            </a:r>
            <a:endParaRPr lang="en-US" sz="1250" dirty="0"/>
          </a:p>
        </p:txBody>
      </p:sp>
      <p:sp>
        <p:nvSpPr>
          <p:cNvPr id="31" name="Text 29"/>
          <p:cNvSpPr/>
          <p:nvPr/>
        </p:nvSpPr>
        <p:spPr>
          <a:xfrm>
            <a:off x="841248" y="3401568"/>
            <a:ext cx="3657600" cy="201168"/>
          </a:xfrm>
          <a:prstGeom prst="rect">
            <a:avLst/>
          </a:prstGeom>
          <a:noFill/>
          <a:ln/>
        </p:spPr>
        <p:txBody>
          <a:bodyPr wrap="square" lIns="0" tIns="0" rIns="0" bIns="0" rtlCol="0" anchor="ctr"/>
          <a:lstStyle/>
          <a:p>
            <a:pPr marL="0" indent="0">
              <a:buNone/>
            </a:pPr>
            <a:r>
              <a:rPr lang="en-US" sz="1050" dirty="0">
                <a:solidFill>
                  <a:srgbClr val="6B8BB0"/>
                </a:solidFill>
              </a:rPr>
              <a:t>SHA-256 hash-chained tamper-evident event log</a:t>
            </a:r>
            <a:endParaRPr lang="en-US" sz="1050" dirty="0"/>
          </a:p>
        </p:txBody>
      </p:sp>
      <p:sp>
        <p:nvSpPr>
          <p:cNvPr id="32" name="Shape 30"/>
          <p:cNvSpPr/>
          <p:nvPr/>
        </p:nvSpPr>
        <p:spPr>
          <a:xfrm>
            <a:off x="4800600" y="3108960"/>
            <a:ext cx="4251960" cy="530352"/>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33" name="Shape 31"/>
          <p:cNvSpPr/>
          <p:nvPr/>
        </p:nvSpPr>
        <p:spPr>
          <a:xfrm>
            <a:off x="4910328" y="3227832"/>
            <a:ext cx="274320" cy="274320"/>
          </a:xfrm>
          <a:prstGeom prst="ellipse">
            <a:avLst/>
          </a:prstGeom>
          <a:solidFill>
            <a:srgbClr val="00C896"/>
          </a:solidFill>
          <a:ln w="12700">
            <a:solidFill>
              <a:srgbClr val="00C896"/>
            </a:solidFill>
            <a:prstDash val="solid"/>
          </a:ln>
        </p:spPr>
      </p:sp>
      <p:sp>
        <p:nvSpPr>
          <p:cNvPr id="34" name="Text 32"/>
          <p:cNvSpPr/>
          <p:nvPr/>
        </p:nvSpPr>
        <p:spPr>
          <a:xfrm>
            <a:off x="4910328" y="3227832"/>
            <a:ext cx="274320" cy="274320"/>
          </a:xfrm>
          <a:prstGeom prst="rect">
            <a:avLst/>
          </a:prstGeom>
          <a:noFill/>
          <a:ln/>
        </p:spPr>
        <p:txBody>
          <a:bodyPr wrap="square" lIns="0" tIns="0" rIns="0" bIns="0" rtlCol="0" anchor="ctr"/>
          <a:lstStyle/>
          <a:p>
            <a:pPr marL="0" indent="0" algn="ctr">
              <a:buNone/>
            </a:pPr>
            <a:r>
              <a:rPr lang="en-US" sz="1100" b="1" dirty="0">
                <a:solidFill>
                  <a:srgbClr val="0A1628"/>
                </a:solidFill>
              </a:rPr>
              <a:t>✓</a:t>
            </a:r>
            <a:endParaRPr lang="en-US" sz="1100" dirty="0"/>
          </a:p>
        </p:txBody>
      </p:sp>
      <p:sp>
        <p:nvSpPr>
          <p:cNvPr id="35" name="Text 33"/>
          <p:cNvSpPr/>
          <p:nvPr/>
        </p:nvSpPr>
        <p:spPr>
          <a:xfrm>
            <a:off x="5276088" y="3182112"/>
            <a:ext cx="3657600" cy="237744"/>
          </a:xfrm>
          <a:prstGeom prst="rect">
            <a:avLst/>
          </a:prstGeom>
          <a:noFill/>
          <a:ln/>
        </p:spPr>
        <p:txBody>
          <a:bodyPr wrap="square" lIns="0" tIns="0" rIns="0" bIns="0" rtlCol="0" anchor="ctr"/>
          <a:lstStyle/>
          <a:p>
            <a:pPr marL="0" indent="0">
              <a:buNone/>
            </a:pPr>
            <a:r>
              <a:rPr lang="en-US" sz="1250" b="1" dirty="0">
                <a:solidFill>
                  <a:srgbClr val="FFFFFF"/>
                </a:solidFill>
              </a:rPr>
              <a:t>Offline Operation</a:t>
            </a:r>
            <a:endParaRPr lang="en-US" sz="1250" dirty="0"/>
          </a:p>
        </p:txBody>
      </p:sp>
      <p:sp>
        <p:nvSpPr>
          <p:cNvPr id="36" name="Text 34"/>
          <p:cNvSpPr/>
          <p:nvPr/>
        </p:nvSpPr>
        <p:spPr>
          <a:xfrm>
            <a:off x="5276088" y="3401568"/>
            <a:ext cx="3657600" cy="201168"/>
          </a:xfrm>
          <a:prstGeom prst="rect">
            <a:avLst/>
          </a:prstGeom>
          <a:noFill/>
          <a:ln/>
        </p:spPr>
        <p:txBody>
          <a:bodyPr wrap="square" lIns="0" tIns="0" rIns="0" bIns="0" rtlCol="0" anchor="ctr"/>
          <a:lstStyle/>
          <a:p>
            <a:pPr marL="0" indent="0">
              <a:buNone/>
            </a:pPr>
            <a:r>
              <a:rPr lang="en-US" sz="1050" dirty="0">
                <a:solidFill>
                  <a:srgbClr val="6B8BB0"/>
                </a:solidFill>
              </a:rPr>
              <a:t>Zero internet dependency at any processing stage</a:t>
            </a:r>
            <a:endParaRPr lang="en-US" sz="1050" dirty="0"/>
          </a:p>
        </p:txBody>
      </p:sp>
      <p:sp>
        <p:nvSpPr>
          <p:cNvPr id="37" name="Shape 35"/>
          <p:cNvSpPr/>
          <p:nvPr/>
        </p:nvSpPr>
        <p:spPr>
          <a:xfrm>
            <a:off x="365760" y="3712464"/>
            <a:ext cx="4251960" cy="530352"/>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38" name="Shape 36"/>
          <p:cNvSpPr/>
          <p:nvPr/>
        </p:nvSpPr>
        <p:spPr>
          <a:xfrm>
            <a:off x="475488" y="3831336"/>
            <a:ext cx="274320" cy="274320"/>
          </a:xfrm>
          <a:prstGeom prst="ellipse">
            <a:avLst/>
          </a:prstGeom>
          <a:solidFill>
            <a:srgbClr val="00C896"/>
          </a:solidFill>
          <a:ln w="12700">
            <a:solidFill>
              <a:srgbClr val="00C896"/>
            </a:solidFill>
            <a:prstDash val="solid"/>
          </a:ln>
        </p:spPr>
      </p:sp>
      <p:sp>
        <p:nvSpPr>
          <p:cNvPr id="39" name="Text 37"/>
          <p:cNvSpPr/>
          <p:nvPr/>
        </p:nvSpPr>
        <p:spPr>
          <a:xfrm>
            <a:off x="475488" y="3831336"/>
            <a:ext cx="274320" cy="274320"/>
          </a:xfrm>
          <a:prstGeom prst="rect">
            <a:avLst/>
          </a:prstGeom>
          <a:noFill/>
          <a:ln/>
        </p:spPr>
        <p:txBody>
          <a:bodyPr wrap="square" lIns="0" tIns="0" rIns="0" bIns="0" rtlCol="0" anchor="ctr"/>
          <a:lstStyle/>
          <a:p>
            <a:pPr marL="0" indent="0" algn="ctr">
              <a:buNone/>
            </a:pPr>
            <a:r>
              <a:rPr lang="en-US" sz="1100" b="1" dirty="0">
                <a:solidFill>
                  <a:srgbClr val="0A1628"/>
                </a:solidFill>
              </a:rPr>
              <a:t>✓</a:t>
            </a:r>
            <a:endParaRPr lang="en-US" sz="1100" dirty="0"/>
          </a:p>
        </p:txBody>
      </p:sp>
      <p:sp>
        <p:nvSpPr>
          <p:cNvPr id="40" name="Text 38"/>
          <p:cNvSpPr/>
          <p:nvPr/>
        </p:nvSpPr>
        <p:spPr>
          <a:xfrm>
            <a:off x="841248" y="3785616"/>
            <a:ext cx="3657600" cy="237744"/>
          </a:xfrm>
          <a:prstGeom prst="rect">
            <a:avLst/>
          </a:prstGeom>
          <a:noFill/>
          <a:ln/>
        </p:spPr>
        <p:txBody>
          <a:bodyPr wrap="square" lIns="0" tIns="0" rIns="0" bIns="0" rtlCol="0" anchor="ctr"/>
          <a:lstStyle/>
          <a:p>
            <a:pPr marL="0" indent="0">
              <a:buNone/>
            </a:pPr>
            <a:r>
              <a:rPr lang="en-US" sz="1250" b="1" dirty="0">
                <a:solidFill>
                  <a:srgbClr val="FFFFFF"/>
                </a:solidFill>
              </a:rPr>
              <a:t>Confidence Scoring</a:t>
            </a:r>
            <a:endParaRPr lang="en-US" sz="1250" dirty="0"/>
          </a:p>
        </p:txBody>
      </p:sp>
      <p:sp>
        <p:nvSpPr>
          <p:cNvPr id="41" name="Text 39"/>
          <p:cNvSpPr/>
          <p:nvPr/>
        </p:nvSpPr>
        <p:spPr>
          <a:xfrm>
            <a:off x="841248" y="4005072"/>
            <a:ext cx="3657600" cy="201168"/>
          </a:xfrm>
          <a:prstGeom prst="rect">
            <a:avLst/>
          </a:prstGeom>
          <a:noFill/>
          <a:ln/>
        </p:spPr>
        <p:txBody>
          <a:bodyPr wrap="square" lIns="0" tIns="0" rIns="0" bIns="0" rtlCol="0" anchor="ctr"/>
          <a:lstStyle/>
          <a:p>
            <a:pPr marL="0" indent="0">
              <a:buNone/>
            </a:pPr>
            <a:r>
              <a:rPr lang="en-US" sz="1050" dirty="0">
                <a:solidFill>
                  <a:srgbClr val="6B8BB0"/>
                </a:solidFill>
              </a:rPr>
              <a:t>Similarity score shown per recognition attempt</a:t>
            </a:r>
            <a:endParaRPr lang="en-US" sz="1050" dirty="0"/>
          </a:p>
        </p:txBody>
      </p:sp>
      <p:sp>
        <p:nvSpPr>
          <p:cNvPr id="42" name="Shape 40"/>
          <p:cNvSpPr/>
          <p:nvPr/>
        </p:nvSpPr>
        <p:spPr>
          <a:xfrm>
            <a:off x="4800600" y="3712464"/>
            <a:ext cx="4251960" cy="530352"/>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43" name="Shape 41"/>
          <p:cNvSpPr/>
          <p:nvPr/>
        </p:nvSpPr>
        <p:spPr>
          <a:xfrm>
            <a:off x="4910328" y="3831336"/>
            <a:ext cx="274320" cy="274320"/>
          </a:xfrm>
          <a:prstGeom prst="ellipse">
            <a:avLst/>
          </a:prstGeom>
          <a:solidFill>
            <a:srgbClr val="00C896"/>
          </a:solidFill>
          <a:ln w="12700">
            <a:solidFill>
              <a:srgbClr val="00C896"/>
            </a:solidFill>
            <a:prstDash val="solid"/>
          </a:ln>
        </p:spPr>
      </p:sp>
      <p:sp>
        <p:nvSpPr>
          <p:cNvPr id="44" name="Text 42"/>
          <p:cNvSpPr/>
          <p:nvPr/>
        </p:nvSpPr>
        <p:spPr>
          <a:xfrm>
            <a:off x="4910328" y="3831336"/>
            <a:ext cx="274320" cy="274320"/>
          </a:xfrm>
          <a:prstGeom prst="rect">
            <a:avLst/>
          </a:prstGeom>
          <a:noFill/>
          <a:ln/>
        </p:spPr>
        <p:txBody>
          <a:bodyPr wrap="square" lIns="0" tIns="0" rIns="0" bIns="0" rtlCol="0" anchor="ctr"/>
          <a:lstStyle/>
          <a:p>
            <a:pPr marL="0" indent="0" algn="ctr">
              <a:buNone/>
            </a:pPr>
            <a:r>
              <a:rPr lang="en-US" sz="1100" b="1" dirty="0">
                <a:solidFill>
                  <a:srgbClr val="0A1628"/>
                </a:solidFill>
              </a:rPr>
              <a:t>✓</a:t>
            </a:r>
            <a:endParaRPr lang="en-US" sz="1100" dirty="0"/>
          </a:p>
        </p:txBody>
      </p:sp>
      <p:sp>
        <p:nvSpPr>
          <p:cNvPr id="45" name="Text 43"/>
          <p:cNvSpPr/>
          <p:nvPr/>
        </p:nvSpPr>
        <p:spPr>
          <a:xfrm>
            <a:off x="5276088" y="3785616"/>
            <a:ext cx="3657600" cy="237744"/>
          </a:xfrm>
          <a:prstGeom prst="rect">
            <a:avLst/>
          </a:prstGeom>
          <a:noFill/>
          <a:ln/>
        </p:spPr>
        <p:txBody>
          <a:bodyPr wrap="square" lIns="0" tIns="0" rIns="0" bIns="0" rtlCol="0" anchor="ctr"/>
          <a:lstStyle/>
          <a:p>
            <a:pPr marL="0" indent="0">
              <a:buNone/>
            </a:pPr>
            <a:r>
              <a:rPr lang="en-US" sz="1250" b="1" dirty="0">
                <a:solidFill>
                  <a:srgbClr val="FFFFFF"/>
                </a:solidFill>
              </a:rPr>
              <a:t>AWS Sync Queue</a:t>
            </a:r>
            <a:endParaRPr lang="en-US" sz="1250" dirty="0"/>
          </a:p>
        </p:txBody>
      </p:sp>
      <p:sp>
        <p:nvSpPr>
          <p:cNvPr id="46" name="Text 44"/>
          <p:cNvSpPr/>
          <p:nvPr/>
        </p:nvSpPr>
        <p:spPr>
          <a:xfrm>
            <a:off x="5276088" y="4005072"/>
            <a:ext cx="3657600" cy="201168"/>
          </a:xfrm>
          <a:prstGeom prst="rect">
            <a:avLst/>
          </a:prstGeom>
          <a:noFill/>
          <a:ln/>
        </p:spPr>
        <p:txBody>
          <a:bodyPr wrap="square" lIns="0" tIns="0" rIns="0" bIns="0" rtlCol="0" anchor="ctr"/>
          <a:lstStyle/>
          <a:p>
            <a:pPr marL="0" indent="0">
              <a:buNone/>
            </a:pPr>
            <a:r>
              <a:rPr lang="en-US" sz="1050" dirty="0">
                <a:solidFill>
                  <a:srgbClr val="6B8BB0"/>
                </a:solidFill>
              </a:rPr>
              <a:t>Offline queue ready for cloud flush when online</a:t>
            </a:r>
            <a:endParaRPr lang="en-US" sz="1050" dirty="0"/>
          </a:p>
        </p:txBody>
      </p:sp>
      <p:sp>
        <p:nvSpPr>
          <p:cNvPr id="47" name="Shape 45"/>
          <p:cNvSpPr/>
          <p:nvPr/>
        </p:nvSpPr>
        <p:spPr>
          <a:xfrm>
            <a:off x="365760" y="4315968"/>
            <a:ext cx="4251960" cy="530352"/>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48" name="Shape 46"/>
          <p:cNvSpPr/>
          <p:nvPr/>
        </p:nvSpPr>
        <p:spPr>
          <a:xfrm>
            <a:off x="475488" y="4434840"/>
            <a:ext cx="274320" cy="274320"/>
          </a:xfrm>
          <a:prstGeom prst="ellipse">
            <a:avLst/>
          </a:prstGeom>
          <a:solidFill>
            <a:srgbClr val="00C896"/>
          </a:solidFill>
          <a:ln w="12700">
            <a:solidFill>
              <a:srgbClr val="00C896"/>
            </a:solidFill>
            <a:prstDash val="solid"/>
          </a:ln>
        </p:spPr>
      </p:sp>
      <p:sp>
        <p:nvSpPr>
          <p:cNvPr id="49" name="Text 47"/>
          <p:cNvSpPr/>
          <p:nvPr/>
        </p:nvSpPr>
        <p:spPr>
          <a:xfrm>
            <a:off x="475488" y="4434840"/>
            <a:ext cx="274320" cy="274320"/>
          </a:xfrm>
          <a:prstGeom prst="rect">
            <a:avLst/>
          </a:prstGeom>
          <a:noFill/>
          <a:ln/>
        </p:spPr>
        <p:txBody>
          <a:bodyPr wrap="square" lIns="0" tIns="0" rIns="0" bIns="0" rtlCol="0" anchor="ctr"/>
          <a:lstStyle/>
          <a:p>
            <a:pPr marL="0" indent="0" algn="ctr">
              <a:buNone/>
            </a:pPr>
            <a:r>
              <a:rPr lang="en-US" sz="1100" b="1" dirty="0">
                <a:solidFill>
                  <a:srgbClr val="0A1628"/>
                </a:solidFill>
              </a:rPr>
              <a:t>✓</a:t>
            </a:r>
            <a:endParaRPr lang="en-US" sz="1100" dirty="0"/>
          </a:p>
        </p:txBody>
      </p:sp>
      <p:sp>
        <p:nvSpPr>
          <p:cNvPr id="50" name="Text 48"/>
          <p:cNvSpPr/>
          <p:nvPr/>
        </p:nvSpPr>
        <p:spPr>
          <a:xfrm>
            <a:off x="841248" y="4389120"/>
            <a:ext cx="3657600" cy="237744"/>
          </a:xfrm>
          <a:prstGeom prst="rect">
            <a:avLst/>
          </a:prstGeom>
          <a:noFill/>
          <a:ln/>
        </p:spPr>
        <p:txBody>
          <a:bodyPr wrap="square" lIns="0" tIns="0" rIns="0" bIns="0" rtlCol="0" anchor="ctr"/>
          <a:lstStyle/>
          <a:p>
            <a:pPr marL="0" indent="0">
              <a:buNone/>
            </a:pPr>
            <a:r>
              <a:rPr lang="en-US" sz="1250" b="1" dirty="0">
                <a:solidFill>
                  <a:srgbClr val="FFFFFF"/>
                </a:solidFill>
              </a:rPr>
              <a:t>Purge Mechanism</a:t>
            </a:r>
            <a:endParaRPr lang="en-US" sz="1250" dirty="0"/>
          </a:p>
        </p:txBody>
      </p:sp>
      <p:sp>
        <p:nvSpPr>
          <p:cNvPr id="51" name="Text 49"/>
          <p:cNvSpPr/>
          <p:nvPr/>
        </p:nvSpPr>
        <p:spPr>
          <a:xfrm>
            <a:off x="841248" y="4608576"/>
            <a:ext cx="3657600" cy="201168"/>
          </a:xfrm>
          <a:prstGeom prst="rect">
            <a:avLst/>
          </a:prstGeom>
          <a:noFill/>
          <a:ln/>
        </p:spPr>
        <p:txBody>
          <a:bodyPr wrap="square" lIns="0" tIns="0" rIns="0" bIns="0" rtlCol="0" anchor="ctr"/>
          <a:lstStyle/>
          <a:p>
            <a:pPr marL="0" indent="0">
              <a:buNone/>
            </a:pPr>
            <a:r>
              <a:rPr lang="en-US" sz="1050" dirty="0">
                <a:solidFill>
                  <a:srgbClr val="6B8BB0"/>
                </a:solidFill>
              </a:rPr>
              <a:t>Clears synced local records to manage storage</a:t>
            </a:r>
            <a:endParaRPr lang="en-US" sz="1050" dirty="0"/>
          </a:p>
        </p:txBody>
      </p:sp>
      <p:sp>
        <p:nvSpPr>
          <p:cNvPr id="52" name="Shape 50"/>
          <p:cNvSpPr/>
          <p:nvPr/>
        </p:nvSpPr>
        <p:spPr>
          <a:xfrm>
            <a:off x="4800600" y="4315968"/>
            <a:ext cx="4251960" cy="530352"/>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53" name="Shape 51"/>
          <p:cNvSpPr/>
          <p:nvPr/>
        </p:nvSpPr>
        <p:spPr>
          <a:xfrm>
            <a:off x="4910328" y="4434840"/>
            <a:ext cx="274320" cy="274320"/>
          </a:xfrm>
          <a:prstGeom prst="ellipse">
            <a:avLst/>
          </a:prstGeom>
          <a:solidFill>
            <a:srgbClr val="00C896"/>
          </a:solidFill>
          <a:ln w="12700">
            <a:solidFill>
              <a:srgbClr val="00C896"/>
            </a:solidFill>
            <a:prstDash val="solid"/>
          </a:ln>
        </p:spPr>
      </p:sp>
      <p:sp>
        <p:nvSpPr>
          <p:cNvPr id="54" name="Text 52"/>
          <p:cNvSpPr/>
          <p:nvPr/>
        </p:nvSpPr>
        <p:spPr>
          <a:xfrm>
            <a:off x="4910328" y="4434840"/>
            <a:ext cx="274320" cy="274320"/>
          </a:xfrm>
          <a:prstGeom prst="rect">
            <a:avLst/>
          </a:prstGeom>
          <a:noFill/>
          <a:ln/>
        </p:spPr>
        <p:txBody>
          <a:bodyPr wrap="square" lIns="0" tIns="0" rIns="0" bIns="0" rtlCol="0" anchor="ctr"/>
          <a:lstStyle/>
          <a:p>
            <a:pPr marL="0" indent="0" algn="ctr">
              <a:buNone/>
            </a:pPr>
            <a:r>
              <a:rPr lang="en-US" sz="1100" b="1" dirty="0">
                <a:solidFill>
                  <a:srgbClr val="0A1628"/>
                </a:solidFill>
              </a:rPr>
              <a:t>✓</a:t>
            </a:r>
            <a:endParaRPr lang="en-US" sz="1100" dirty="0"/>
          </a:p>
        </p:txBody>
      </p:sp>
      <p:sp>
        <p:nvSpPr>
          <p:cNvPr id="55" name="Text 53"/>
          <p:cNvSpPr/>
          <p:nvPr/>
        </p:nvSpPr>
        <p:spPr>
          <a:xfrm>
            <a:off x="5276088" y="4389120"/>
            <a:ext cx="3657600" cy="237744"/>
          </a:xfrm>
          <a:prstGeom prst="rect">
            <a:avLst/>
          </a:prstGeom>
          <a:noFill/>
          <a:ln/>
        </p:spPr>
        <p:txBody>
          <a:bodyPr wrap="square" lIns="0" tIns="0" rIns="0" bIns="0" rtlCol="0" anchor="ctr"/>
          <a:lstStyle/>
          <a:p>
            <a:pPr marL="0" indent="0">
              <a:buNone/>
            </a:pPr>
            <a:r>
              <a:rPr lang="en-US" sz="1250" b="1" dirty="0">
                <a:solidFill>
                  <a:srgbClr val="FFFFFF"/>
                </a:solidFill>
              </a:rPr>
              <a:t>Encrypted Vault</a:t>
            </a:r>
            <a:endParaRPr lang="en-US" sz="1250" dirty="0"/>
          </a:p>
        </p:txBody>
      </p:sp>
      <p:sp>
        <p:nvSpPr>
          <p:cNvPr id="56" name="Text 54"/>
          <p:cNvSpPr/>
          <p:nvPr/>
        </p:nvSpPr>
        <p:spPr>
          <a:xfrm>
            <a:off x="5276088" y="4608576"/>
            <a:ext cx="3657600" cy="201168"/>
          </a:xfrm>
          <a:prstGeom prst="rect">
            <a:avLst/>
          </a:prstGeom>
          <a:noFill/>
          <a:ln/>
        </p:spPr>
        <p:txBody>
          <a:bodyPr wrap="square" lIns="0" tIns="0" rIns="0" bIns="0" rtlCol="0" anchor="ctr"/>
          <a:lstStyle/>
          <a:p>
            <a:pPr marL="0" indent="0">
              <a:buNone/>
            </a:pPr>
            <a:r>
              <a:rPr lang="en-US" sz="1050" dirty="0">
                <a:solidFill>
                  <a:srgbClr val="6B8BB0"/>
                </a:solidFill>
              </a:rPr>
              <a:t>AES-GCM 256-bit local identity storage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65760" y="256032"/>
            <a:ext cx="50292" cy="868680"/>
          </a:xfrm>
          <a:prstGeom prst="rect">
            <a:avLst/>
          </a:prstGeom>
          <a:solidFill>
            <a:srgbClr val="00D4AA"/>
          </a:solidFill>
          <a:ln w="12700">
            <a:solidFill>
              <a:srgbClr val="00D4AA"/>
            </a:solidFill>
            <a:prstDash val="solid"/>
          </a:ln>
        </p:spPr>
      </p:sp>
      <p:sp>
        <p:nvSpPr>
          <p:cNvPr id="3" name="Text 1"/>
          <p:cNvSpPr/>
          <p:nvPr/>
        </p:nvSpPr>
        <p:spPr>
          <a:xfrm>
            <a:off x="548640" y="237744"/>
            <a:ext cx="8229600" cy="320040"/>
          </a:xfrm>
          <a:prstGeom prst="rect">
            <a:avLst/>
          </a:prstGeom>
          <a:noFill/>
          <a:ln/>
        </p:spPr>
        <p:txBody>
          <a:bodyPr wrap="square" lIns="0" tIns="0" rIns="0" bIns="0" rtlCol="0" anchor="ctr"/>
          <a:lstStyle/>
          <a:p>
            <a:pPr marL="0" indent="0">
              <a:buNone/>
            </a:pPr>
            <a:r>
              <a:rPr lang="en-US" sz="1050" b="1" dirty="0">
                <a:solidFill>
                  <a:srgbClr val="00D4AA"/>
                </a:solidFill>
              </a:rPr>
              <a:t>Testing &amp; Results</a:t>
            </a:r>
            <a:endParaRPr lang="en-US" sz="1050" dirty="0"/>
          </a:p>
        </p:txBody>
      </p:sp>
      <p:sp>
        <p:nvSpPr>
          <p:cNvPr id="4" name="Text 2"/>
          <p:cNvSpPr/>
          <p:nvPr/>
        </p:nvSpPr>
        <p:spPr>
          <a:xfrm>
            <a:off x="548640" y="530352"/>
            <a:ext cx="8321040" cy="566928"/>
          </a:xfrm>
          <a:prstGeom prst="rect">
            <a:avLst/>
          </a:prstGeom>
          <a:noFill/>
          <a:ln/>
        </p:spPr>
        <p:txBody>
          <a:bodyPr wrap="square" lIns="0" tIns="0" rIns="0" bIns="0"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Functional Testing &amp; Performance</a:t>
            </a:r>
            <a:endParaRPr lang="en-US" sz="2500" dirty="0"/>
          </a:p>
        </p:txBody>
      </p:sp>
      <p:sp>
        <p:nvSpPr>
          <p:cNvPr id="5" name="Shape 3"/>
          <p:cNvSpPr/>
          <p:nvPr/>
        </p:nvSpPr>
        <p:spPr>
          <a:xfrm>
            <a:off x="365760" y="1216152"/>
            <a:ext cx="8412480" cy="566928"/>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6" name="Text 4"/>
          <p:cNvSpPr/>
          <p:nvPr/>
        </p:nvSpPr>
        <p:spPr>
          <a:xfrm>
            <a:off x="411480" y="1243584"/>
            <a:ext cx="8321040" cy="512064"/>
          </a:xfrm>
          <a:prstGeom prst="rect">
            <a:avLst/>
          </a:prstGeom>
          <a:noFill/>
          <a:ln/>
        </p:spPr>
        <p:txBody>
          <a:bodyPr wrap="square" lIns="76200" tIns="76200" rIns="76200" bIns="76200" rtlCol="0" anchor="t"/>
          <a:lstStyle/>
          <a:p>
            <a:pPr marL="0" indent="0" algn="l">
              <a:buNone/>
            </a:pPr>
            <a:r>
              <a:rPr lang="en-US" sz="1150" dirty="0">
                <a:solidFill>
                  <a:srgbClr val="C8DCF5"/>
                </a:solidFill>
                <a:latin typeface="Calibri" pitchFamily="34" charset="0"/>
                <a:ea typeface="Calibri" pitchFamily="34" charset="-122"/>
                <a:cs typeface="Calibri" pitchFamily="34" charset="-120"/>
              </a:rPr>
              <a:t>Each feature was tested independently against known-good inputs and edge cases. The face recognition model runs entirely on CPU with no GPU requirement, making it deployable on commodity hardware. Total model size stays under 20 MB — compact enough for resource-constrained environments.</a:t>
            </a:r>
            <a:endParaRPr lang="en-US" sz="11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920240"/>
          <a:ext cx="5303520" cy="2706624"/>
        </p:xfrm>
        <a:graphic>
          <a:graphicData uri="http://schemas.openxmlformats.org/drawingml/2006/table">
            <a:tbl>
              <a:tblPr/>
              <a:tblGrid>
                <a:gridCol w="16002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38328">
                <a:tc>
                  <a:txBody>
                    <a:bodyPr/>
                    <a:lstStyle/>
                    <a:p>
                      <a:pPr marL="0" indent="0" algn="ctr">
                        <a:buNone/>
                      </a:pPr>
                      <a:r>
                        <a:rPr lang="en-US" sz="1150" b="1" dirty="0">
                          <a:solidFill>
                            <a:srgbClr val="FFFFFF"/>
                          </a:solidFill>
                        </a:rPr>
                        <a:t>Test</a:t>
                      </a:r>
                      <a:endParaRPr lang="en-US" sz="115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E35"/>
                    </a:solidFill>
                  </a:tcPr>
                </a:tc>
                <a:tc>
                  <a:txBody>
                    <a:bodyPr/>
                    <a:lstStyle/>
                    <a:p>
                      <a:pPr marL="0" indent="0" algn="ctr">
                        <a:buNone/>
                      </a:pPr>
                      <a:r>
                        <a:rPr lang="en-US" sz="1150" b="1" dirty="0">
                          <a:solidFill>
                            <a:srgbClr val="FFFFFF"/>
                          </a:solidFill>
                        </a:rPr>
                        <a:t>Component</a:t>
                      </a:r>
                      <a:endParaRPr lang="en-US" sz="115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E35"/>
                    </a:solidFill>
                  </a:tcPr>
                </a:tc>
                <a:tc>
                  <a:txBody>
                    <a:bodyPr/>
                    <a:lstStyle/>
                    <a:p>
                      <a:pPr marL="0" indent="0" algn="ctr">
                        <a:buNone/>
                      </a:pPr>
                      <a:r>
                        <a:rPr lang="en-US" sz="1150" b="1" dirty="0">
                          <a:solidFill>
                            <a:srgbClr val="FFFFFF"/>
                          </a:solidFill>
                        </a:rPr>
                        <a:t>Result</a:t>
                      </a:r>
                      <a:endParaRPr lang="en-US" sz="115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E35"/>
                    </a:solidFill>
                  </a:tcPr>
                </a:tc>
                <a:extLst>
                  <a:ext uri="{0D108BD9-81ED-4DB2-BD59-A6C34878D82A}">
                    <a16:rowId xmlns:a16="http://schemas.microsoft.com/office/drawing/2014/main" val="10000"/>
                  </a:ext>
                </a:extLst>
              </a:tr>
              <a:tr h="338328">
                <a:tc>
                  <a:txBody>
                    <a:bodyPr/>
                    <a:lstStyle/>
                    <a:p>
                      <a:pPr marL="0" indent="0" algn="ctr">
                        <a:buNone/>
                      </a:pPr>
                      <a:r>
                        <a:rPr lang="en-US" sz="1150" dirty="0">
                          <a:solidFill>
                            <a:srgbClr val="B8D0F0"/>
                          </a:solidFill>
                        </a:rPr>
                        <a:t>Enrollment</a:t>
                      </a:r>
                      <a:endParaRPr lang="en-US" sz="115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62B4A"/>
                    </a:solidFill>
                  </a:tcPr>
                </a:tc>
                <a:tc>
                  <a:txBody>
                    <a:bodyPr/>
                    <a:lstStyle/>
                    <a:p>
                      <a:pPr marL="0" indent="0" algn="ctr">
                        <a:buNone/>
                      </a:pPr>
                      <a:r>
                        <a:rPr lang="en-US" sz="1150" dirty="0">
                          <a:solidFill>
                            <a:srgbClr val="B8D0F0"/>
                          </a:solidFill>
                        </a:rPr>
                        <a:t>Multi-Sample Capture</a:t>
                      </a:r>
                      <a:endParaRPr lang="en-US" sz="115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62B4A"/>
                    </a:solidFill>
                  </a:tcPr>
                </a:tc>
                <a:tc>
                  <a:txBody>
                    <a:bodyPr/>
                    <a:lstStyle/>
                    <a:p>
                      <a:pPr marL="0" indent="0" algn="ctr">
                        <a:buNone/>
                      </a:pPr>
                      <a:r>
                        <a:rPr lang="en-US" sz="1150" b="1" dirty="0">
                          <a:solidFill>
                            <a:srgbClr val="00C896"/>
                          </a:solidFill>
                        </a:rPr>
                        <a:t>✅ PASS</a:t>
                      </a:r>
                      <a:endParaRPr lang="en-US" sz="115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62B4A"/>
                    </a:solidFill>
                  </a:tcPr>
                </a:tc>
                <a:extLst>
                  <a:ext uri="{0D108BD9-81ED-4DB2-BD59-A6C34878D82A}">
                    <a16:rowId xmlns:a16="http://schemas.microsoft.com/office/drawing/2014/main" val="10001"/>
                  </a:ext>
                </a:extLst>
              </a:tr>
              <a:tr h="338328">
                <a:tc>
                  <a:txBody>
                    <a:bodyPr/>
                    <a:lstStyle/>
                    <a:p>
                      <a:pPr marL="0" indent="0" algn="ctr">
                        <a:buNone/>
                      </a:pPr>
                      <a:r>
                        <a:rPr lang="en-US" sz="1150" dirty="0">
                          <a:solidFill>
                            <a:srgbClr val="B8D0F0"/>
                          </a:solidFill>
                        </a:rPr>
                        <a:t>Face Recognition</a:t>
                      </a:r>
                      <a:endParaRPr lang="en-US" sz="115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62B4A"/>
                    </a:solidFill>
                  </a:tcPr>
                </a:tc>
                <a:tc>
                  <a:txBody>
                    <a:bodyPr/>
                    <a:lstStyle/>
                    <a:p>
                      <a:pPr marL="0" indent="0" algn="ctr">
                        <a:buNone/>
                      </a:pPr>
                      <a:r>
                        <a:rPr lang="en-US" sz="1150" dirty="0">
                          <a:solidFill>
                            <a:srgbClr val="B8D0F0"/>
                          </a:solidFill>
                        </a:rPr>
                        <a:t>Embedding Similarity</a:t>
                      </a:r>
                      <a:endParaRPr lang="en-US" sz="115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62B4A"/>
                    </a:solidFill>
                  </a:tcPr>
                </a:tc>
                <a:tc>
                  <a:txBody>
                    <a:bodyPr/>
                    <a:lstStyle/>
                    <a:p>
                      <a:pPr marL="0" indent="0" algn="ctr">
                        <a:buNone/>
                      </a:pPr>
                      <a:r>
                        <a:rPr lang="en-US" sz="1150" b="1" dirty="0">
                          <a:solidFill>
                            <a:srgbClr val="00C896"/>
                          </a:solidFill>
                        </a:rPr>
                        <a:t>✅ PASS</a:t>
                      </a:r>
                      <a:endParaRPr lang="en-US" sz="115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62B4A"/>
                    </a:solidFill>
                  </a:tcPr>
                </a:tc>
                <a:extLst>
                  <a:ext uri="{0D108BD9-81ED-4DB2-BD59-A6C34878D82A}">
                    <a16:rowId xmlns:a16="http://schemas.microsoft.com/office/drawing/2014/main" val="10002"/>
                  </a:ext>
                </a:extLst>
              </a:tr>
              <a:tr h="338328">
                <a:tc>
                  <a:txBody>
                    <a:bodyPr/>
                    <a:lstStyle/>
                    <a:p>
                      <a:pPr marL="0" indent="0" algn="ctr">
                        <a:buNone/>
                      </a:pPr>
                      <a:r>
                        <a:rPr lang="en-US" sz="1150" dirty="0">
                          <a:solidFill>
                            <a:srgbClr val="B8D0F0"/>
                          </a:solidFill>
                        </a:rPr>
                        <a:t>Blink Detection</a:t>
                      </a:r>
                      <a:endParaRPr lang="en-US" sz="115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62B4A"/>
                    </a:solidFill>
                  </a:tcPr>
                </a:tc>
                <a:tc>
                  <a:txBody>
                    <a:bodyPr/>
                    <a:lstStyle/>
                    <a:p>
                      <a:pPr marL="0" indent="0" algn="ctr">
                        <a:buNone/>
                      </a:pPr>
                      <a:r>
                        <a:rPr lang="en-US" sz="1150" dirty="0">
                          <a:solidFill>
                            <a:srgbClr val="B8D0F0"/>
                          </a:solidFill>
                        </a:rPr>
                        <a:t>Eye Aspect Ratio</a:t>
                      </a:r>
                      <a:endParaRPr lang="en-US" sz="115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62B4A"/>
                    </a:solidFill>
                  </a:tcPr>
                </a:tc>
                <a:tc>
                  <a:txBody>
                    <a:bodyPr/>
                    <a:lstStyle/>
                    <a:p>
                      <a:pPr marL="0" indent="0" algn="ctr">
                        <a:buNone/>
                      </a:pPr>
                      <a:r>
                        <a:rPr lang="en-US" sz="1150" b="1" dirty="0">
                          <a:solidFill>
                            <a:srgbClr val="00C896"/>
                          </a:solidFill>
                        </a:rPr>
                        <a:t>✅ PASS</a:t>
                      </a:r>
                      <a:endParaRPr lang="en-US" sz="115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62B4A"/>
                    </a:solidFill>
                  </a:tcPr>
                </a:tc>
                <a:extLst>
                  <a:ext uri="{0D108BD9-81ED-4DB2-BD59-A6C34878D82A}">
                    <a16:rowId xmlns:a16="http://schemas.microsoft.com/office/drawing/2014/main" val="10003"/>
                  </a:ext>
                </a:extLst>
              </a:tr>
              <a:tr h="338328">
                <a:tc>
                  <a:txBody>
                    <a:bodyPr/>
                    <a:lstStyle/>
                    <a:p>
                      <a:pPr marL="0" indent="0" algn="ctr">
                        <a:buNone/>
                      </a:pPr>
                      <a:r>
                        <a:rPr lang="en-US" sz="1150" dirty="0">
                          <a:solidFill>
                            <a:srgbClr val="B8D0F0"/>
                          </a:solidFill>
                        </a:rPr>
                        <a:t>Smile Detection</a:t>
                      </a:r>
                      <a:endParaRPr lang="en-US" sz="115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62B4A"/>
                    </a:solidFill>
                  </a:tcPr>
                </a:tc>
                <a:tc>
                  <a:txBody>
                    <a:bodyPr/>
                    <a:lstStyle/>
                    <a:p>
                      <a:pPr marL="0" indent="0" algn="ctr">
                        <a:buNone/>
                      </a:pPr>
                      <a:r>
                        <a:rPr lang="en-US" sz="1150" dirty="0">
                          <a:solidFill>
                            <a:srgbClr val="B8D0F0"/>
                          </a:solidFill>
                        </a:rPr>
                        <a:t>Mouth Geometry</a:t>
                      </a:r>
                      <a:endParaRPr lang="en-US" sz="115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62B4A"/>
                    </a:solidFill>
                  </a:tcPr>
                </a:tc>
                <a:tc>
                  <a:txBody>
                    <a:bodyPr/>
                    <a:lstStyle/>
                    <a:p>
                      <a:pPr marL="0" indent="0" algn="ctr">
                        <a:buNone/>
                      </a:pPr>
                      <a:r>
                        <a:rPr lang="en-US" sz="1150" b="1" dirty="0">
                          <a:solidFill>
                            <a:srgbClr val="00C896"/>
                          </a:solidFill>
                        </a:rPr>
                        <a:t>✅ PASS</a:t>
                      </a:r>
                      <a:endParaRPr lang="en-US" sz="115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62B4A"/>
                    </a:solidFill>
                  </a:tcPr>
                </a:tc>
                <a:extLst>
                  <a:ext uri="{0D108BD9-81ED-4DB2-BD59-A6C34878D82A}">
                    <a16:rowId xmlns:a16="http://schemas.microsoft.com/office/drawing/2014/main" val="10004"/>
                  </a:ext>
                </a:extLst>
              </a:tr>
              <a:tr h="338328">
                <a:tc>
                  <a:txBody>
                    <a:bodyPr/>
                    <a:lstStyle/>
                    <a:p>
                      <a:pPr marL="0" indent="0" algn="ctr">
                        <a:buNone/>
                      </a:pPr>
                      <a:r>
                        <a:rPr lang="en-US" sz="1150" dirty="0">
                          <a:solidFill>
                            <a:srgbClr val="B8D0F0"/>
                          </a:solidFill>
                        </a:rPr>
                        <a:t>Head Turn</a:t>
                      </a:r>
                      <a:endParaRPr lang="en-US" sz="115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62B4A"/>
                    </a:solidFill>
                  </a:tcPr>
                </a:tc>
                <a:tc>
                  <a:txBody>
                    <a:bodyPr/>
                    <a:lstStyle/>
                    <a:p>
                      <a:pPr marL="0" indent="0" algn="ctr">
                        <a:buNone/>
                      </a:pPr>
                      <a:r>
                        <a:rPr lang="en-US" sz="1150" dirty="0">
                          <a:solidFill>
                            <a:srgbClr val="B8D0F0"/>
                          </a:solidFill>
                        </a:rPr>
                        <a:t>Nose Displacement</a:t>
                      </a:r>
                      <a:endParaRPr lang="en-US" sz="115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62B4A"/>
                    </a:solidFill>
                  </a:tcPr>
                </a:tc>
                <a:tc>
                  <a:txBody>
                    <a:bodyPr/>
                    <a:lstStyle/>
                    <a:p>
                      <a:pPr marL="0" indent="0" algn="ctr">
                        <a:buNone/>
                      </a:pPr>
                      <a:r>
                        <a:rPr lang="en-US" sz="1150" b="1" dirty="0">
                          <a:solidFill>
                            <a:srgbClr val="00C896"/>
                          </a:solidFill>
                        </a:rPr>
                        <a:t>✅ PASS</a:t>
                      </a:r>
                      <a:endParaRPr lang="en-US" sz="115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62B4A"/>
                    </a:solidFill>
                  </a:tcPr>
                </a:tc>
                <a:extLst>
                  <a:ext uri="{0D108BD9-81ED-4DB2-BD59-A6C34878D82A}">
                    <a16:rowId xmlns:a16="http://schemas.microsoft.com/office/drawing/2014/main" val="10005"/>
                  </a:ext>
                </a:extLst>
              </a:tr>
              <a:tr h="338328">
                <a:tc>
                  <a:txBody>
                    <a:bodyPr/>
                    <a:lstStyle/>
                    <a:p>
                      <a:pPr marL="0" indent="0" algn="ctr">
                        <a:buNone/>
                      </a:pPr>
                      <a:r>
                        <a:rPr lang="en-US" sz="1150" dirty="0">
                          <a:solidFill>
                            <a:srgbClr val="B8D0F0"/>
                          </a:solidFill>
                        </a:rPr>
                        <a:t>Attendance</a:t>
                      </a:r>
                      <a:endParaRPr lang="en-US" sz="115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62B4A"/>
                    </a:solidFill>
                  </a:tcPr>
                </a:tc>
                <a:tc>
                  <a:txBody>
                    <a:bodyPr/>
                    <a:lstStyle/>
                    <a:p>
                      <a:pPr marL="0" indent="0" algn="ctr">
                        <a:buNone/>
                      </a:pPr>
                      <a:r>
                        <a:rPr lang="en-US" sz="1150" dirty="0">
                          <a:solidFill>
                            <a:srgbClr val="B8D0F0"/>
                          </a:solidFill>
                        </a:rPr>
                        <a:t>Auto-Logging &amp; Dedup</a:t>
                      </a:r>
                      <a:endParaRPr lang="en-US" sz="115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62B4A"/>
                    </a:solidFill>
                  </a:tcPr>
                </a:tc>
                <a:tc>
                  <a:txBody>
                    <a:bodyPr/>
                    <a:lstStyle/>
                    <a:p>
                      <a:pPr marL="0" indent="0" algn="ctr">
                        <a:buNone/>
                      </a:pPr>
                      <a:r>
                        <a:rPr lang="en-US" sz="1150" b="1" dirty="0">
                          <a:solidFill>
                            <a:srgbClr val="00C896"/>
                          </a:solidFill>
                        </a:rPr>
                        <a:t>✅ PASS</a:t>
                      </a:r>
                      <a:endParaRPr lang="en-US" sz="115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62B4A"/>
                    </a:solidFill>
                  </a:tcPr>
                </a:tc>
                <a:extLst>
                  <a:ext uri="{0D108BD9-81ED-4DB2-BD59-A6C34878D82A}">
                    <a16:rowId xmlns:a16="http://schemas.microsoft.com/office/drawing/2014/main" val="10006"/>
                  </a:ext>
                </a:extLst>
              </a:tr>
              <a:tr h="338328">
                <a:tc>
                  <a:txBody>
                    <a:bodyPr/>
                    <a:lstStyle/>
                    <a:p>
                      <a:pPr marL="0" indent="0" algn="ctr">
                        <a:buNone/>
                      </a:pPr>
                      <a:r>
                        <a:rPr lang="en-US" sz="1150" dirty="0">
                          <a:solidFill>
                            <a:srgbClr val="B8D0F0"/>
                          </a:solidFill>
                        </a:rPr>
                        <a:t>AWS Sync Queue</a:t>
                      </a:r>
                      <a:endParaRPr lang="en-US" sz="115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62B4A"/>
                    </a:solidFill>
                  </a:tcPr>
                </a:tc>
                <a:tc>
                  <a:txBody>
                    <a:bodyPr/>
                    <a:lstStyle/>
                    <a:p>
                      <a:pPr marL="0" indent="0" algn="ctr">
                        <a:buNone/>
                      </a:pPr>
                      <a:r>
                        <a:rPr lang="en-US" sz="1150" dirty="0">
                          <a:solidFill>
                            <a:srgbClr val="B8D0F0"/>
                          </a:solidFill>
                        </a:rPr>
                        <a:t>Offline Queue Manager</a:t>
                      </a:r>
                      <a:endParaRPr lang="en-US" sz="115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62B4A"/>
                    </a:solidFill>
                  </a:tcPr>
                </a:tc>
                <a:tc>
                  <a:txBody>
                    <a:bodyPr/>
                    <a:lstStyle/>
                    <a:p>
                      <a:pPr marL="0" indent="0" algn="ctr">
                        <a:buNone/>
                      </a:pPr>
                      <a:r>
                        <a:rPr lang="en-US" sz="1150" b="1" dirty="0">
                          <a:solidFill>
                            <a:srgbClr val="00C896"/>
                          </a:solidFill>
                        </a:rPr>
                        <a:t>✅ PASS</a:t>
                      </a:r>
                      <a:endParaRPr lang="en-US" sz="115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62B4A"/>
                    </a:solidFill>
                  </a:tcPr>
                </a:tc>
                <a:extLst>
                  <a:ext uri="{0D108BD9-81ED-4DB2-BD59-A6C34878D82A}">
                    <a16:rowId xmlns:a16="http://schemas.microsoft.com/office/drawing/2014/main" val="10007"/>
                  </a:ext>
                </a:extLst>
              </a:tr>
            </a:tbl>
          </a:graphicData>
        </a:graphic>
      </p:graphicFrame>
      <p:sp>
        <p:nvSpPr>
          <p:cNvPr id="8" name="Shape 5"/>
          <p:cNvSpPr/>
          <p:nvPr/>
        </p:nvSpPr>
        <p:spPr>
          <a:xfrm>
            <a:off x="5943600" y="1920240"/>
            <a:ext cx="2834640" cy="2868070"/>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9" name="Shape 6"/>
          <p:cNvSpPr/>
          <p:nvPr/>
        </p:nvSpPr>
        <p:spPr>
          <a:xfrm>
            <a:off x="5943600" y="1920240"/>
            <a:ext cx="45719" cy="2868070"/>
          </a:xfrm>
          <a:prstGeom prst="rect">
            <a:avLst/>
          </a:prstGeom>
          <a:solidFill>
            <a:srgbClr val="4A9EFF"/>
          </a:solidFill>
          <a:ln w="12700">
            <a:solidFill>
              <a:srgbClr val="4A9EFF"/>
            </a:solidFill>
            <a:prstDash val="solid"/>
          </a:ln>
        </p:spPr>
      </p:sp>
      <p:sp>
        <p:nvSpPr>
          <p:cNvPr id="10" name="Text 7"/>
          <p:cNvSpPr/>
          <p:nvPr/>
        </p:nvSpPr>
        <p:spPr>
          <a:xfrm>
            <a:off x="6108192" y="1928204"/>
            <a:ext cx="2560320" cy="274320"/>
          </a:xfrm>
          <a:prstGeom prst="rect">
            <a:avLst/>
          </a:prstGeom>
          <a:noFill/>
          <a:ln/>
        </p:spPr>
        <p:txBody>
          <a:bodyPr wrap="square" lIns="0" tIns="0" rIns="0" bIns="0" rtlCol="0" anchor="ctr"/>
          <a:lstStyle/>
          <a:p>
            <a:pPr marL="0" indent="0">
              <a:buNone/>
            </a:pPr>
            <a:r>
              <a:rPr lang="en-US" sz="1300" b="1" dirty="0">
                <a:solidFill>
                  <a:srgbClr val="4A9EFF"/>
                </a:solidFill>
              </a:rPr>
              <a:t>Performance</a:t>
            </a:r>
            <a:endParaRPr lang="en-US" sz="1300" dirty="0"/>
          </a:p>
        </p:txBody>
      </p:sp>
      <p:sp>
        <p:nvSpPr>
          <p:cNvPr id="7" name="Text 8"/>
          <p:cNvSpPr/>
          <p:nvPr/>
        </p:nvSpPr>
        <p:spPr>
          <a:xfrm>
            <a:off x="6071616" y="2134092"/>
            <a:ext cx="2578608" cy="475488"/>
          </a:xfrm>
          <a:prstGeom prst="rect">
            <a:avLst/>
          </a:prstGeom>
          <a:noFill/>
          <a:ln/>
        </p:spPr>
        <p:txBody>
          <a:bodyPr wrap="square" lIns="76200" tIns="76200" rIns="76200" bIns="76200" rtlCol="0" anchor="t"/>
          <a:lstStyle/>
          <a:p>
            <a:pPr marL="0" indent="0" algn="l">
              <a:buNone/>
            </a:pPr>
            <a:r>
              <a:rPr lang="en-US" sz="1150" dirty="0">
                <a:solidFill>
                  <a:srgbClr val="C8DCF5"/>
                </a:solidFill>
                <a:latin typeface="Calibri" pitchFamily="34" charset="0"/>
                <a:ea typeface="Calibri" pitchFamily="34" charset="-122"/>
                <a:cs typeface="Calibri" pitchFamily="34" charset="-120"/>
              </a:rPr>
              <a:t>Designed for deployment on edge devices and standard laptops with no GPU required.</a:t>
            </a:r>
            <a:endParaRPr lang="en-US" sz="1150" dirty="0"/>
          </a:p>
        </p:txBody>
      </p:sp>
      <p:sp>
        <p:nvSpPr>
          <p:cNvPr id="12" name="Shape 9"/>
          <p:cNvSpPr/>
          <p:nvPr/>
        </p:nvSpPr>
        <p:spPr>
          <a:xfrm>
            <a:off x="6071616" y="2768616"/>
            <a:ext cx="2560320" cy="398355"/>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13" name="Text 10"/>
          <p:cNvSpPr/>
          <p:nvPr/>
        </p:nvSpPr>
        <p:spPr>
          <a:xfrm>
            <a:off x="6108192" y="2764635"/>
            <a:ext cx="1005840" cy="493776"/>
          </a:xfrm>
          <a:prstGeom prst="rect">
            <a:avLst/>
          </a:prstGeom>
          <a:noFill/>
          <a:ln/>
        </p:spPr>
        <p:txBody>
          <a:bodyPr wrap="square" lIns="0" tIns="0" rIns="0" bIns="0" rtlCol="0" anchor="ctr"/>
          <a:lstStyle/>
          <a:p>
            <a:pPr marL="0" indent="0" algn="ctr">
              <a:buNone/>
            </a:pPr>
            <a:r>
              <a:rPr lang="en-US" sz="2000" b="1" dirty="0">
                <a:solidFill>
                  <a:srgbClr val="00D4AA"/>
                </a:solidFill>
              </a:rPr>
              <a:t>&lt;20MB</a:t>
            </a:r>
            <a:endParaRPr lang="en-US" sz="2000" dirty="0"/>
          </a:p>
        </p:txBody>
      </p:sp>
      <p:sp>
        <p:nvSpPr>
          <p:cNvPr id="14" name="Text 11"/>
          <p:cNvSpPr/>
          <p:nvPr/>
        </p:nvSpPr>
        <p:spPr>
          <a:xfrm>
            <a:off x="7114032" y="2856075"/>
            <a:ext cx="1444752" cy="310896"/>
          </a:xfrm>
          <a:prstGeom prst="rect">
            <a:avLst/>
          </a:prstGeom>
          <a:noFill/>
          <a:ln/>
        </p:spPr>
        <p:txBody>
          <a:bodyPr wrap="square" lIns="0" tIns="0" rIns="0" bIns="0" rtlCol="0" anchor="ctr"/>
          <a:lstStyle/>
          <a:p>
            <a:pPr marL="0" indent="0">
              <a:buNone/>
            </a:pPr>
            <a:r>
              <a:rPr lang="en-US" sz="1100" dirty="0">
                <a:solidFill>
                  <a:srgbClr val="B8D0F0"/>
                </a:solidFill>
              </a:rPr>
              <a:t>Total Model Size</a:t>
            </a:r>
            <a:endParaRPr lang="en-US" sz="1100" dirty="0"/>
          </a:p>
        </p:txBody>
      </p:sp>
      <p:sp>
        <p:nvSpPr>
          <p:cNvPr id="15" name="Shape 12"/>
          <p:cNvSpPr/>
          <p:nvPr/>
        </p:nvSpPr>
        <p:spPr>
          <a:xfrm>
            <a:off x="6080760" y="3235255"/>
            <a:ext cx="2560320" cy="417625"/>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16" name="Text 13"/>
          <p:cNvSpPr/>
          <p:nvPr/>
        </p:nvSpPr>
        <p:spPr>
          <a:xfrm>
            <a:off x="6108192" y="3197179"/>
            <a:ext cx="1005840" cy="493776"/>
          </a:xfrm>
          <a:prstGeom prst="rect">
            <a:avLst/>
          </a:prstGeom>
          <a:noFill/>
          <a:ln/>
        </p:spPr>
        <p:txBody>
          <a:bodyPr wrap="square" lIns="0" tIns="0" rIns="0" bIns="0" rtlCol="0" anchor="ctr"/>
          <a:lstStyle/>
          <a:p>
            <a:pPr marL="0" indent="0" algn="ctr">
              <a:buNone/>
            </a:pPr>
            <a:r>
              <a:rPr lang="en-US" sz="2000" b="1" dirty="0">
                <a:solidFill>
                  <a:srgbClr val="00D4AA"/>
                </a:solidFill>
              </a:rPr>
              <a:t>100%</a:t>
            </a:r>
            <a:endParaRPr lang="en-US" sz="2000" dirty="0"/>
          </a:p>
        </p:txBody>
      </p:sp>
      <p:sp>
        <p:nvSpPr>
          <p:cNvPr id="17" name="Text 14"/>
          <p:cNvSpPr/>
          <p:nvPr/>
        </p:nvSpPr>
        <p:spPr>
          <a:xfrm>
            <a:off x="7114032" y="3335913"/>
            <a:ext cx="1444752" cy="310896"/>
          </a:xfrm>
          <a:prstGeom prst="rect">
            <a:avLst/>
          </a:prstGeom>
          <a:noFill/>
          <a:ln/>
        </p:spPr>
        <p:txBody>
          <a:bodyPr wrap="square" lIns="0" tIns="0" rIns="0" bIns="0" rtlCol="0" anchor="ctr"/>
          <a:lstStyle/>
          <a:p>
            <a:pPr marL="0" indent="0">
              <a:buNone/>
            </a:pPr>
            <a:r>
              <a:rPr lang="en-US" sz="1100" dirty="0">
                <a:solidFill>
                  <a:srgbClr val="B8D0F0"/>
                </a:solidFill>
              </a:rPr>
              <a:t>Offline Ready</a:t>
            </a:r>
            <a:endParaRPr lang="en-US" sz="1100" dirty="0"/>
          </a:p>
        </p:txBody>
      </p:sp>
      <p:sp>
        <p:nvSpPr>
          <p:cNvPr id="18" name="Shape 15"/>
          <p:cNvSpPr/>
          <p:nvPr/>
        </p:nvSpPr>
        <p:spPr>
          <a:xfrm>
            <a:off x="6071616" y="3733701"/>
            <a:ext cx="2560320" cy="455750"/>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19" name="Text 16"/>
          <p:cNvSpPr/>
          <p:nvPr/>
        </p:nvSpPr>
        <p:spPr>
          <a:xfrm>
            <a:off x="6108192" y="3745967"/>
            <a:ext cx="1005840" cy="493776"/>
          </a:xfrm>
          <a:prstGeom prst="rect">
            <a:avLst/>
          </a:prstGeom>
          <a:noFill/>
          <a:ln/>
        </p:spPr>
        <p:txBody>
          <a:bodyPr wrap="square" lIns="0" tIns="0" rIns="0" bIns="0" rtlCol="0" anchor="ctr"/>
          <a:lstStyle/>
          <a:p>
            <a:pPr marL="0" indent="0" algn="ctr">
              <a:buNone/>
            </a:pPr>
            <a:r>
              <a:rPr lang="en-US" sz="2000" b="1" dirty="0">
                <a:solidFill>
                  <a:srgbClr val="00D4AA"/>
                </a:solidFill>
              </a:rPr>
              <a:t>CPU</a:t>
            </a:r>
            <a:endParaRPr lang="en-US" sz="2000" dirty="0"/>
          </a:p>
        </p:txBody>
      </p:sp>
      <p:sp>
        <p:nvSpPr>
          <p:cNvPr id="20" name="Text 17"/>
          <p:cNvSpPr/>
          <p:nvPr/>
        </p:nvSpPr>
        <p:spPr>
          <a:xfrm>
            <a:off x="7114032" y="3806128"/>
            <a:ext cx="1444752" cy="310896"/>
          </a:xfrm>
          <a:prstGeom prst="rect">
            <a:avLst/>
          </a:prstGeom>
          <a:noFill/>
          <a:ln/>
        </p:spPr>
        <p:txBody>
          <a:bodyPr wrap="square" lIns="0" tIns="0" rIns="0" bIns="0" rtlCol="0" anchor="ctr"/>
          <a:lstStyle/>
          <a:p>
            <a:pPr marL="0" indent="0">
              <a:buNone/>
            </a:pPr>
            <a:r>
              <a:rPr lang="en-US" sz="1100" dirty="0">
                <a:solidFill>
                  <a:srgbClr val="B8D0F0"/>
                </a:solidFill>
              </a:rPr>
              <a:t>Only — No GPU</a:t>
            </a:r>
            <a:endParaRPr lang="en-US" sz="1100" dirty="0"/>
          </a:p>
        </p:txBody>
      </p:sp>
      <p:sp>
        <p:nvSpPr>
          <p:cNvPr id="21" name="Shape 18"/>
          <p:cNvSpPr/>
          <p:nvPr/>
        </p:nvSpPr>
        <p:spPr>
          <a:xfrm>
            <a:off x="6080760" y="4260453"/>
            <a:ext cx="2560320" cy="421275"/>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22" name="Text 19"/>
          <p:cNvSpPr/>
          <p:nvPr/>
        </p:nvSpPr>
        <p:spPr>
          <a:xfrm>
            <a:off x="6108192" y="4216195"/>
            <a:ext cx="1005840" cy="465852"/>
          </a:xfrm>
          <a:prstGeom prst="rect">
            <a:avLst/>
          </a:prstGeom>
          <a:noFill/>
          <a:ln/>
        </p:spPr>
        <p:txBody>
          <a:bodyPr wrap="square" lIns="0" tIns="0" rIns="0" bIns="0" rtlCol="0" anchor="ctr"/>
          <a:lstStyle/>
          <a:p>
            <a:pPr marL="0" indent="0" algn="ctr">
              <a:buNone/>
            </a:pPr>
            <a:r>
              <a:rPr lang="en-US" sz="2000" b="1" dirty="0">
                <a:solidFill>
                  <a:srgbClr val="00D4AA"/>
                </a:solidFill>
              </a:rPr>
              <a:t>&lt;1s</a:t>
            </a:r>
            <a:endParaRPr lang="en-US" sz="2000" dirty="0"/>
          </a:p>
        </p:txBody>
      </p:sp>
      <p:sp>
        <p:nvSpPr>
          <p:cNvPr id="23" name="Text 20"/>
          <p:cNvSpPr/>
          <p:nvPr/>
        </p:nvSpPr>
        <p:spPr>
          <a:xfrm>
            <a:off x="7114032" y="4298528"/>
            <a:ext cx="1444752" cy="310896"/>
          </a:xfrm>
          <a:prstGeom prst="rect">
            <a:avLst/>
          </a:prstGeom>
          <a:noFill/>
          <a:ln/>
        </p:spPr>
        <p:txBody>
          <a:bodyPr wrap="square" lIns="0" tIns="0" rIns="0" bIns="0" rtlCol="0" anchor="ctr"/>
          <a:lstStyle/>
          <a:p>
            <a:pPr marL="0" indent="0">
              <a:buNone/>
            </a:pPr>
            <a:r>
              <a:rPr lang="en-US" sz="1100" dirty="0">
                <a:solidFill>
                  <a:srgbClr val="B8D0F0"/>
                </a:solidFill>
              </a:rPr>
              <a:t>Auth Time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2240"/>
        </a:solidFill>
        <a:effectLst/>
      </p:bgPr>
    </p:bg>
    <p:spTree>
      <p:nvGrpSpPr>
        <p:cNvPr id="1" name=""/>
        <p:cNvGrpSpPr/>
        <p:nvPr/>
      </p:nvGrpSpPr>
      <p:grpSpPr>
        <a:xfrm>
          <a:off x="0" y="0"/>
          <a:ext cx="0" cy="0"/>
          <a:chOff x="0" y="0"/>
          <a:chExt cx="0" cy="0"/>
        </a:xfrm>
      </p:grpSpPr>
      <p:sp>
        <p:nvSpPr>
          <p:cNvPr id="2" name="Shape 0"/>
          <p:cNvSpPr/>
          <p:nvPr/>
        </p:nvSpPr>
        <p:spPr>
          <a:xfrm>
            <a:off x="365760" y="256032"/>
            <a:ext cx="50292" cy="868680"/>
          </a:xfrm>
          <a:prstGeom prst="rect">
            <a:avLst/>
          </a:prstGeom>
          <a:solidFill>
            <a:srgbClr val="4A9EFF"/>
          </a:solidFill>
          <a:ln w="12700">
            <a:solidFill>
              <a:srgbClr val="4A9EFF"/>
            </a:solidFill>
            <a:prstDash val="solid"/>
          </a:ln>
        </p:spPr>
      </p:sp>
      <p:sp>
        <p:nvSpPr>
          <p:cNvPr id="3" name="Text 1"/>
          <p:cNvSpPr/>
          <p:nvPr/>
        </p:nvSpPr>
        <p:spPr>
          <a:xfrm>
            <a:off x="548640" y="237744"/>
            <a:ext cx="8229600" cy="320040"/>
          </a:xfrm>
          <a:prstGeom prst="rect">
            <a:avLst/>
          </a:prstGeom>
          <a:noFill/>
          <a:ln/>
        </p:spPr>
        <p:txBody>
          <a:bodyPr wrap="square" lIns="0" tIns="0" rIns="0" bIns="0" rtlCol="0" anchor="ctr"/>
          <a:lstStyle/>
          <a:p>
            <a:pPr marL="0" indent="0">
              <a:buNone/>
            </a:pPr>
            <a:r>
              <a:rPr lang="en-US" sz="1050" b="1" dirty="0">
                <a:solidFill>
                  <a:srgbClr val="4A9EFF"/>
                </a:solidFill>
              </a:rPr>
              <a:t>Future Enhancements</a:t>
            </a:r>
            <a:endParaRPr lang="en-US" sz="1050" dirty="0"/>
          </a:p>
        </p:txBody>
      </p:sp>
      <p:sp>
        <p:nvSpPr>
          <p:cNvPr id="4" name="Text 2"/>
          <p:cNvSpPr/>
          <p:nvPr/>
        </p:nvSpPr>
        <p:spPr>
          <a:xfrm>
            <a:off x="548640" y="530352"/>
            <a:ext cx="8321040" cy="566928"/>
          </a:xfrm>
          <a:prstGeom prst="rect">
            <a:avLst/>
          </a:prstGeom>
          <a:noFill/>
          <a:ln/>
        </p:spPr>
        <p:txBody>
          <a:bodyPr wrap="square" lIns="0" tIns="0" rIns="0" bIns="0"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Roadmap &amp; Next Steps</a:t>
            </a:r>
            <a:endParaRPr lang="en-US" sz="2500" dirty="0"/>
          </a:p>
        </p:txBody>
      </p:sp>
      <p:sp>
        <p:nvSpPr>
          <p:cNvPr id="5" name="Shape 3"/>
          <p:cNvSpPr/>
          <p:nvPr/>
        </p:nvSpPr>
        <p:spPr>
          <a:xfrm>
            <a:off x="365760" y="1216152"/>
            <a:ext cx="8412480" cy="621792"/>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6" name="Text 4"/>
          <p:cNvSpPr/>
          <p:nvPr/>
        </p:nvSpPr>
        <p:spPr>
          <a:xfrm>
            <a:off x="411480" y="1174463"/>
            <a:ext cx="8321040" cy="566928"/>
          </a:xfrm>
          <a:prstGeom prst="rect">
            <a:avLst/>
          </a:prstGeom>
          <a:noFill/>
          <a:ln/>
        </p:spPr>
        <p:txBody>
          <a:bodyPr wrap="square" lIns="76200" tIns="76200" rIns="76200" bIns="76200" rtlCol="0" anchor="t"/>
          <a:lstStyle/>
          <a:p>
            <a:pPr marL="0" indent="0" algn="l">
              <a:buNone/>
            </a:pPr>
            <a:r>
              <a:rPr lang="en-US" sz="1150" dirty="0">
                <a:solidFill>
                  <a:srgbClr val="C8DCF5"/>
                </a:solidFill>
                <a:latin typeface="Calibri" pitchFamily="34" charset="0"/>
                <a:ea typeface="Calibri" pitchFamily="34" charset="-122"/>
                <a:cs typeface="Calibri" pitchFamily="34" charset="-120"/>
              </a:rPr>
              <a:t>Datalake 3.0 is built as a prototype, but its architecture is designed for production scale. The roadmap focuses on three pillars: expanding to mobile platforms, completing the AWS cloud integration already partially implemented, and advancing the AI pipeline with more robust anti-spoofing and enterprise-grade user management.</a:t>
            </a:r>
            <a:endParaRPr lang="en-US" sz="1150" dirty="0"/>
          </a:p>
        </p:txBody>
      </p:sp>
      <p:sp>
        <p:nvSpPr>
          <p:cNvPr id="7" name="Shape 5"/>
          <p:cNvSpPr/>
          <p:nvPr/>
        </p:nvSpPr>
        <p:spPr>
          <a:xfrm>
            <a:off x="320040" y="1965960"/>
            <a:ext cx="2743200" cy="3058324"/>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8" name="Shape 6"/>
          <p:cNvSpPr/>
          <p:nvPr/>
        </p:nvSpPr>
        <p:spPr>
          <a:xfrm>
            <a:off x="1325880" y="2103120"/>
            <a:ext cx="713232" cy="713232"/>
          </a:xfrm>
          <a:prstGeom prst="ellipse">
            <a:avLst/>
          </a:prstGeom>
          <a:solidFill>
            <a:srgbClr val="00D4AA">
              <a:alpha val="22000"/>
            </a:srgbClr>
          </a:solidFill>
          <a:ln w="19050">
            <a:solidFill>
              <a:srgbClr val="00D4AA"/>
            </a:solidFill>
            <a:prstDash val="solid"/>
          </a:ln>
        </p:spPr>
      </p:sp>
      <p:sp>
        <p:nvSpPr>
          <p:cNvPr id="9" name="Text 7"/>
          <p:cNvSpPr/>
          <p:nvPr/>
        </p:nvSpPr>
        <p:spPr>
          <a:xfrm>
            <a:off x="1325880" y="2103120"/>
            <a:ext cx="713232" cy="713232"/>
          </a:xfrm>
          <a:prstGeom prst="rect">
            <a:avLst/>
          </a:prstGeom>
          <a:noFill/>
          <a:ln/>
        </p:spPr>
        <p:txBody>
          <a:bodyPr wrap="square" lIns="0" tIns="0" rIns="0" bIns="0" rtlCol="0" anchor="ctr"/>
          <a:lstStyle/>
          <a:p>
            <a:pPr marL="0" indent="0" algn="ctr">
              <a:buNone/>
            </a:pPr>
            <a:r>
              <a:rPr lang="en-US" sz="2500" dirty="0">
                <a:solidFill>
                  <a:srgbClr val="000000"/>
                </a:solidFill>
              </a:rPr>
              <a:t>📱</a:t>
            </a:r>
            <a:endParaRPr lang="en-US" sz="2500" dirty="0"/>
          </a:p>
        </p:txBody>
      </p:sp>
      <p:sp>
        <p:nvSpPr>
          <p:cNvPr id="10" name="Text 8"/>
          <p:cNvSpPr/>
          <p:nvPr/>
        </p:nvSpPr>
        <p:spPr>
          <a:xfrm>
            <a:off x="411480" y="2827979"/>
            <a:ext cx="2560320" cy="301752"/>
          </a:xfrm>
          <a:prstGeom prst="rect">
            <a:avLst/>
          </a:prstGeom>
          <a:noFill/>
          <a:ln/>
        </p:spPr>
        <p:txBody>
          <a:bodyPr wrap="square" lIns="0" tIns="0" rIns="0" bIns="0" rtlCol="0" anchor="ctr"/>
          <a:lstStyle/>
          <a:p>
            <a:pPr marL="0" indent="0" algn="ctr">
              <a:buNone/>
            </a:pPr>
            <a:r>
              <a:rPr lang="en-US" sz="1350" b="1" dirty="0">
                <a:solidFill>
                  <a:srgbClr val="00D4AA"/>
                </a:solidFill>
              </a:rPr>
              <a:t>Mobile Deployment</a:t>
            </a:r>
            <a:endParaRPr lang="en-US" sz="1350" dirty="0"/>
          </a:p>
        </p:txBody>
      </p:sp>
      <p:sp>
        <p:nvSpPr>
          <p:cNvPr id="11" name="Text 9"/>
          <p:cNvSpPr/>
          <p:nvPr/>
        </p:nvSpPr>
        <p:spPr>
          <a:xfrm>
            <a:off x="411480" y="3124618"/>
            <a:ext cx="2560320" cy="914400"/>
          </a:xfrm>
          <a:prstGeom prst="rect">
            <a:avLst/>
          </a:prstGeom>
          <a:noFill/>
          <a:ln/>
        </p:spPr>
        <p:txBody>
          <a:bodyPr wrap="square" lIns="76200" tIns="76200" rIns="76200" bIns="76200" rtlCol="0" anchor="t"/>
          <a:lstStyle/>
          <a:p>
            <a:pPr marL="0" indent="0" algn="l">
              <a:buNone/>
            </a:pPr>
            <a:r>
              <a:rPr lang="en-US" sz="1150" dirty="0">
                <a:solidFill>
                  <a:srgbClr val="B8D0F0"/>
                </a:solidFill>
                <a:latin typeface="Calibri" pitchFamily="34" charset="0"/>
                <a:ea typeface="Calibri" pitchFamily="34" charset="-122"/>
                <a:cs typeface="Calibri" pitchFamily="34" charset="-120"/>
              </a:rPr>
              <a:t>Extend the platform to mobile devices through React Native, enabling Android and iOS deployments for field workers and remote teams who need portable, offline biometric authentication.</a:t>
            </a:r>
            <a:endParaRPr lang="en-US" sz="1150" dirty="0"/>
          </a:p>
        </p:txBody>
      </p:sp>
      <p:sp>
        <p:nvSpPr>
          <p:cNvPr id="12" name="Shape 10"/>
          <p:cNvSpPr/>
          <p:nvPr/>
        </p:nvSpPr>
        <p:spPr>
          <a:xfrm>
            <a:off x="457200" y="4251960"/>
            <a:ext cx="2468880" cy="210312"/>
          </a:xfrm>
          <a:prstGeom prst="rect">
            <a:avLst/>
          </a:prstGeom>
          <a:solidFill>
            <a:srgbClr val="0A1E35"/>
          </a:solidFill>
          <a:ln w="12700">
            <a:solidFill>
              <a:srgbClr val="00D4AA"/>
            </a:solidFill>
            <a:prstDash val="solid"/>
          </a:ln>
        </p:spPr>
      </p:sp>
      <p:sp>
        <p:nvSpPr>
          <p:cNvPr id="13" name="Text 11"/>
          <p:cNvSpPr/>
          <p:nvPr/>
        </p:nvSpPr>
        <p:spPr>
          <a:xfrm>
            <a:off x="457200" y="4251960"/>
            <a:ext cx="2468880" cy="210312"/>
          </a:xfrm>
          <a:prstGeom prst="rect">
            <a:avLst/>
          </a:prstGeom>
          <a:noFill/>
          <a:ln/>
        </p:spPr>
        <p:txBody>
          <a:bodyPr wrap="square" lIns="0" tIns="0" rIns="0" bIns="0" rtlCol="0" anchor="ctr"/>
          <a:lstStyle/>
          <a:p>
            <a:pPr marL="0" indent="0" algn="ctr">
              <a:buNone/>
            </a:pPr>
            <a:r>
              <a:rPr lang="en-US" sz="1050" dirty="0">
                <a:solidFill>
                  <a:srgbClr val="FFFFFF"/>
                </a:solidFill>
              </a:rPr>
              <a:t>React Native App</a:t>
            </a:r>
            <a:endParaRPr lang="en-US" sz="1050" dirty="0"/>
          </a:p>
        </p:txBody>
      </p:sp>
      <p:sp>
        <p:nvSpPr>
          <p:cNvPr id="14" name="Shape 12"/>
          <p:cNvSpPr/>
          <p:nvPr/>
        </p:nvSpPr>
        <p:spPr>
          <a:xfrm>
            <a:off x="457200" y="4489704"/>
            <a:ext cx="2468880" cy="210312"/>
          </a:xfrm>
          <a:prstGeom prst="rect">
            <a:avLst/>
          </a:prstGeom>
          <a:solidFill>
            <a:srgbClr val="0A1E35"/>
          </a:solidFill>
          <a:ln w="12700">
            <a:solidFill>
              <a:srgbClr val="00D4AA"/>
            </a:solidFill>
            <a:prstDash val="solid"/>
          </a:ln>
        </p:spPr>
      </p:sp>
      <p:sp>
        <p:nvSpPr>
          <p:cNvPr id="15" name="Text 13"/>
          <p:cNvSpPr/>
          <p:nvPr/>
        </p:nvSpPr>
        <p:spPr>
          <a:xfrm>
            <a:off x="457200" y="4489704"/>
            <a:ext cx="2468880" cy="210312"/>
          </a:xfrm>
          <a:prstGeom prst="rect">
            <a:avLst/>
          </a:prstGeom>
          <a:noFill/>
          <a:ln/>
        </p:spPr>
        <p:txBody>
          <a:bodyPr wrap="square" lIns="0" tIns="0" rIns="0" bIns="0" rtlCol="0" anchor="ctr"/>
          <a:lstStyle/>
          <a:p>
            <a:pPr marL="0" indent="0" algn="ctr">
              <a:buNone/>
            </a:pPr>
            <a:r>
              <a:rPr lang="en-US" sz="1050" dirty="0">
                <a:solidFill>
                  <a:srgbClr val="FFFFFF"/>
                </a:solidFill>
              </a:rPr>
              <a:t>Android Support</a:t>
            </a:r>
            <a:endParaRPr lang="en-US" sz="1050" dirty="0"/>
          </a:p>
        </p:txBody>
      </p:sp>
      <p:sp>
        <p:nvSpPr>
          <p:cNvPr id="16" name="Shape 14"/>
          <p:cNvSpPr/>
          <p:nvPr/>
        </p:nvSpPr>
        <p:spPr>
          <a:xfrm>
            <a:off x="457200" y="4727448"/>
            <a:ext cx="2468880" cy="210312"/>
          </a:xfrm>
          <a:prstGeom prst="rect">
            <a:avLst/>
          </a:prstGeom>
          <a:solidFill>
            <a:srgbClr val="0A1E35"/>
          </a:solidFill>
          <a:ln w="12700">
            <a:solidFill>
              <a:srgbClr val="00D4AA"/>
            </a:solidFill>
            <a:prstDash val="solid"/>
          </a:ln>
        </p:spPr>
      </p:sp>
      <p:sp>
        <p:nvSpPr>
          <p:cNvPr id="17" name="Text 15"/>
          <p:cNvSpPr/>
          <p:nvPr/>
        </p:nvSpPr>
        <p:spPr>
          <a:xfrm>
            <a:off x="457200" y="4727448"/>
            <a:ext cx="2468880" cy="210312"/>
          </a:xfrm>
          <a:prstGeom prst="rect">
            <a:avLst/>
          </a:prstGeom>
          <a:noFill/>
          <a:ln/>
        </p:spPr>
        <p:txBody>
          <a:bodyPr wrap="square" lIns="0" tIns="0" rIns="0" bIns="0" rtlCol="0" anchor="ctr"/>
          <a:lstStyle/>
          <a:p>
            <a:pPr marL="0" indent="0" algn="ctr">
              <a:buNone/>
            </a:pPr>
            <a:r>
              <a:rPr lang="en-US" sz="1050" dirty="0">
                <a:solidFill>
                  <a:srgbClr val="FFFFFF"/>
                </a:solidFill>
              </a:rPr>
              <a:t>iOS Support</a:t>
            </a:r>
            <a:endParaRPr lang="en-US" sz="1050" dirty="0"/>
          </a:p>
        </p:txBody>
      </p:sp>
      <p:sp>
        <p:nvSpPr>
          <p:cNvPr id="18" name="Shape 16"/>
          <p:cNvSpPr/>
          <p:nvPr/>
        </p:nvSpPr>
        <p:spPr>
          <a:xfrm>
            <a:off x="3291840" y="1965960"/>
            <a:ext cx="2743200" cy="3058324"/>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19" name="Shape 17"/>
          <p:cNvSpPr/>
          <p:nvPr/>
        </p:nvSpPr>
        <p:spPr>
          <a:xfrm>
            <a:off x="4297680" y="2103120"/>
            <a:ext cx="713232" cy="713232"/>
          </a:xfrm>
          <a:prstGeom prst="ellipse">
            <a:avLst/>
          </a:prstGeom>
          <a:solidFill>
            <a:srgbClr val="4A9EFF">
              <a:alpha val="22000"/>
            </a:srgbClr>
          </a:solidFill>
          <a:ln w="19050">
            <a:solidFill>
              <a:srgbClr val="4A9EFF"/>
            </a:solidFill>
            <a:prstDash val="solid"/>
          </a:ln>
        </p:spPr>
      </p:sp>
      <p:sp>
        <p:nvSpPr>
          <p:cNvPr id="20" name="Text 18"/>
          <p:cNvSpPr/>
          <p:nvPr/>
        </p:nvSpPr>
        <p:spPr>
          <a:xfrm>
            <a:off x="4297680" y="2103120"/>
            <a:ext cx="713232" cy="713232"/>
          </a:xfrm>
          <a:prstGeom prst="rect">
            <a:avLst/>
          </a:prstGeom>
          <a:noFill/>
          <a:ln/>
        </p:spPr>
        <p:txBody>
          <a:bodyPr wrap="square" lIns="0" tIns="0" rIns="0" bIns="0" rtlCol="0" anchor="ctr"/>
          <a:lstStyle/>
          <a:p>
            <a:pPr marL="0" indent="0" algn="ctr">
              <a:buNone/>
            </a:pPr>
            <a:r>
              <a:rPr lang="en-US" sz="2500" dirty="0">
                <a:solidFill>
                  <a:srgbClr val="000000"/>
                </a:solidFill>
              </a:rPr>
              <a:t>☁️</a:t>
            </a:r>
            <a:endParaRPr lang="en-US" sz="2500" dirty="0"/>
          </a:p>
        </p:txBody>
      </p:sp>
      <p:sp>
        <p:nvSpPr>
          <p:cNvPr id="21" name="Text 19"/>
          <p:cNvSpPr/>
          <p:nvPr/>
        </p:nvSpPr>
        <p:spPr>
          <a:xfrm>
            <a:off x="3383280" y="2822768"/>
            <a:ext cx="2560320" cy="301752"/>
          </a:xfrm>
          <a:prstGeom prst="rect">
            <a:avLst/>
          </a:prstGeom>
          <a:noFill/>
          <a:ln/>
        </p:spPr>
        <p:txBody>
          <a:bodyPr wrap="square" lIns="0" tIns="0" rIns="0" bIns="0" rtlCol="0" anchor="ctr"/>
          <a:lstStyle/>
          <a:p>
            <a:pPr marL="0" indent="0" algn="ctr">
              <a:buNone/>
            </a:pPr>
            <a:r>
              <a:rPr lang="en-US" sz="1350" b="1" dirty="0">
                <a:solidFill>
                  <a:srgbClr val="4A9EFF"/>
                </a:solidFill>
              </a:rPr>
              <a:t>Cloud Integration</a:t>
            </a:r>
            <a:endParaRPr lang="en-US" sz="1350" dirty="0"/>
          </a:p>
        </p:txBody>
      </p:sp>
      <p:sp>
        <p:nvSpPr>
          <p:cNvPr id="22" name="Text 20"/>
          <p:cNvSpPr/>
          <p:nvPr/>
        </p:nvSpPr>
        <p:spPr>
          <a:xfrm>
            <a:off x="3383280" y="3064790"/>
            <a:ext cx="2560320" cy="914400"/>
          </a:xfrm>
          <a:prstGeom prst="rect">
            <a:avLst/>
          </a:prstGeom>
          <a:noFill/>
          <a:ln/>
        </p:spPr>
        <p:txBody>
          <a:bodyPr wrap="square" lIns="76200" tIns="76200" rIns="76200" bIns="76200" rtlCol="0" anchor="t"/>
          <a:lstStyle/>
          <a:p>
            <a:pPr marL="0" indent="0" algn="l">
              <a:buNone/>
            </a:pPr>
            <a:r>
              <a:rPr lang="en-US" sz="1150" dirty="0">
                <a:solidFill>
                  <a:srgbClr val="B8D0F0"/>
                </a:solidFill>
                <a:latin typeface="Calibri" pitchFamily="34" charset="0"/>
                <a:ea typeface="Calibri" pitchFamily="34" charset="-122"/>
                <a:cs typeface="Calibri" pitchFamily="34" charset="-120"/>
              </a:rPr>
              <a:t>Complete the AWS backend integration by wiring the existing sync queue to production Lambda functions, API Gateway endpoints, and DynamoDB tables for centralized record management.</a:t>
            </a:r>
            <a:endParaRPr lang="en-US" sz="1150" dirty="0"/>
          </a:p>
        </p:txBody>
      </p:sp>
      <p:sp>
        <p:nvSpPr>
          <p:cNvPr id="23" name="Shape 21"/>
          <p:cNvSpPr/>
          <p:nvPr/>
        </p:nvSpPr>
        <p:spPr>
          <a:xfrm>
            <a:off x="3429000" y="4251960"/>
            <a:ext cx="2468880" cy="210312"/>
          </a:xfrm>
          <a:prstGeom prst="rect">
            <a:avLst/>
          </a:prstGeom>
          <a:solidFill>
            <a:srgbClr val="0A1E35"/>
          </a:solidFill>
          <a:ln w="12700">
            <a:solidFill>
              <a:srgbClr val="4A9EFF"/>
            </a:solidFill>
            <a:prstDash val="solid"/>
          </a:ln>
        </p:spPr>
      </p:sp>
      <p:sp>
        <p:nvSpPr>
          <p:cNvPr id="24" name="Text 22"/>
          <p:cNvSpPr/>
          <p:nvPr/>
        </p:nvSpPr>
        <p:spPr>
          <a:xfrm>
            <a:off x="3429000" y="4251960"/>
            <a:ext cx="2468880" cy="210312"/>
          </a:xfrm>
          <a:prstGeom prst="rect">
            <a:avLst/>
          </a:prstGeom>
          <a:noFill/>
          <a:ln/>
        </p:spPr>
        <p:txBody>
          <a:bodyPr wrap="square" lIns="0" tIns="0" rIns="0" bIns="0" rtlCol="0" anchor="ctr"/>
          <a:lstStyle/>
          <a:p>
            <a:pPr marL="0" indent="0" algn="ctr">
              <a:buNone/>
            </a:pPr>
            <a:r>
              <a:rPr lang="en-US" sz="1050" dirty="0">
                <a:solidFill>
                  <a:srgbClr val="FFFFFF"/>
                </a:solidFill>
              </a:rPr>
              <a:t>AWS Lambda Functions</a:t>
            </a:r>
            <a:endParaRPr lang="en-US" sz="1050" dirty="0"/>
          </a:p>
        </p:txBody>
      </p:sp>
      <p:sp>
        <p:nvSpPr>
          <p:cNvPr id="25" name="Shape 23"/>
          <p:cNvSpPr/>
          <p:nvPr/>
        </p:nvSpPr>
        <p:spPr>
          <a:xfrm>
            <a:off x="3429000" y="4489704"/>
            <a:ext cx="2468880" cy="210312"/>
          </a:xfrm>
          <a:prstGeom prst="rect">
            <a:avLst/>
          </a:prstGeom>
          <a:solidFill>
            <a:srgbClr val="0A1E35"/>
          </a:solidFill>
          <a:ln w="12700">
            <a:solidFill>
              <a:srgbClr val="4A9EFF"/>
            </a:solidFill>
            <a:prstDash val="solid"/>
          </a:ln>
        </p:spPr>
      </p:sp>
      <p:sp>
        <p:nvSpPr>
          <p:cNvPr id="26" name="Text 24"/>
          <p:cNvSpPr/>
          <p:nvPr/>
        </p:nvSpPr>
        <p:spPr>
          <a:xfrm>
            <a:off x="3429000" y="4489704"/>
            <a:ext cx="2468880" cy="210312"/>
          </a:xfrm>
          <a:prstGeom prst="rect">
            <a:avLst/>
          </a:prstGeom>
          <a:noFill/>
          <a:ln/>
        </p:spPr>
        <p:txBody>
          <a:bodyPr wrap="square" lIns="0" tIns="0" rIns="0" bIns="0" rtlCol="0" anchor="ctr"/>
          <a:lstStyle/>
          <a:p>
            <a:pPr marL="0" indent="0" algn="ctr">
              <a:buNone/>
            </a:pPr>
            <a:r>
              <a:rPr lang="en-US" sz="1050" dirty="0">
                <a:solidFill>
                  <a:srgbClr val="FFFFFF"/>
                </a:solidFill>
              </a:rPr>
              <a:t>DynamoDB Storage</a:t>
            </a:r>
            <a:endParaRPr lang="en-US" sz="1050" dirty="0"/>
          </a:p>
        </p:txBody>
      </p:sp>
      <p:sp>
        <p:nvSpPr>
          <p:cNvPr id="27" name="Shape 25"/>
          <p:cNvSpPr/>
          <p:nvPr/>
        </p:nvSpPr>
        <p:spPr>
          <a:xfrm>
            <a:off x="3429000" y="4727448"/>
            <a:ext cx="2468880" cy="210312"/>
          </a:xfrm>
          <a:prstGeom prst="rect">
            <a:avLst/>
          </a:prstGeom>
          <a:solidFill>
            <a:srgbClr val="0A1E35"/>
          </a:solidFill>
          <a:ln w="12700">
            <a:solidFill>
              <a:srgbClr val="4A9EFF"/>
            </a:solidFill>
            <a:prstDash val="solid"/>
          </a:ln>
        </p:spPr>
      </p:sp>
      <p:sp>
        <p:nvSpPr>
          <p:cNvPr id="28" name="Text 26"/>
          <p:cNvSpPr/>
          <p:nvPr/>
        </p:nvSpPr>
        <p:spPr>
          <a:xfrm>
            <a:off x="3429000" y="4727448"/>
            <a:ext cx="2468880" cy="210312"/>
          </a:xfrm>
          <a:prstGeom prst="rect">
            <a:avLst/>
          </a:prstGeom>
          <a:noFill/>
          <a:ln/>
        </p:spPr>
        <p:txBody>
          <a:bodyPr wrap="square" lIns="0" tIns="0" rIns="0" bIns="0" rtlCol="0" anchor="ctr"/>
          <a:lstStyle/>
          <a:p>
            <a:pPr marL="0" indent="0" algn="ctr">
              <a:buNone/>
            </a:pPr>
            <a:r>
              <a:rPr lang="en-US" sz="1050" dirty="0">
                <a:solidFill>
                  <a:srgbClr val="FFFFFF"/>
                </a:solidFill>
              </a:rPr>
              <a:t>Secure Sync API</a:t>
            </a:r>
            <a:endParaRPr lang="en-US" sz="1050" dirty="0"/>
          </a:p>
        </p:txBody>
      </p:sp>
      <p:sp>
        <p:nvSpPr>
          <p:cNvPr id="29" name="Shape 27"/>
          <p:cNvSpPr/>
          <p:nvPr/>
        </p:nvSpPr>
        <p:spPr>
          <a:xfrm>
            <a:off x="6254496" y="1903180"/>
            <a:ext cx="2743200" cy="3121103"/>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30" name="Shape 28"/>
          <p:cNvSpPr/>
          <p:nvPr/>
        </p:nvSpPr>
        <p:spPr>
          <a:xfrm>
            <a:off x="7269480" y="2103120"/>
            <a:ext cx="713232" cy="713232"/>
          </a:xfrm>
          <a:prstGeom prst="ellipse">
            <a:avLst/>
          </a:prstGeom>
          <a:solidFill>
            <a:srgbClr val="FF6B6B">
              <a:alpha val="22000"/>
            </a:srgbClr>
          </a:solidFill>
          <a:ln w="19050">
            <a:solidFill>
              <a:srgbClr val="FF6B6B"/>
            </a:solidFill>
            <a:prstDash val="solid"/>
          </a:ln>
        </p:spPr>
      </p:sp>
      <p:sp>
        <p:nvSpPr>
          <p:cNvPr id="31" name="Text 29"/>
          <p:cNvSpPr/>
          <p:nvPr/>
        </p:nvSpPr>
        <p:spPr>
          <a:xfrm>
            <a:off x="7269480" y="2103120"/>
            <a:ext cx="713232" cy="713232"/>
          </a:xfrm>
          <a:prstGeom prst="rect">
            <a:avLst/>
          </a:prstGeom>
          <a:noFill/>
          <a:ln/>
        </p:spPr>
        <p:txBody>
          <a:bodyPr wrap="square" lIns="0" tIns="0" rIns="0" bIns="0" rtlCol="0" anchor="ctr"/>
          <a:lstStyle/>
          <a:p>
            <a:pPr marL="0" indent="0" algn="ctr">
              <a:buNone/>
            </a:pPr>
            <a:r>
              <a:rPr lang="en-US" sz="2500" dirty="0">
                <a:solidFill>
                  <a:srgbClr val="000000"/>
                </a:solidFill>
              </a:rPr>
              <a:t>🧠</a:t>
            </a:r>
            <a:endParaRPr lang="en-US" sz="2500" dirty="0"/>
          </a:p>
        </p:txBody>
      </p:sp>
      <p:sp>
        <p:nvSpPr>
          <p:cNvPr id="32" name="Text 30"/>
          <p:cNvSpPr/>
          <p:nvPr/>
        </p:nvSpPr>
        <p:spPr>
          <a:xfrm>
            <a:off x="6355080" y="2848677"/>
            <a:ext cx="2560320" cy="301752"/>
          </a:xfrm>
          <a:prstGeom prst="rect">
            <a:avLst/>
          </a:prstGeom>
          <a:noFill/>
          <a:ln/>
        </p:spPr>
        <p:txBody>
          <a:bodyPr wrap="square" lIns="0" tIns="0" rIns="0" bIns="0" rtlCol="0" anchor="ctr"/>
          <a:lstStyle/>
          <a:p>
            <a:pPr marL="0" indent="0" algn="ctr">
              <a:buNone/>
            </a:pPr>
            <a:r>
              <a:rPr lang="en-US" sz="1350" b="1" dirty="0">
                <a:solidFill>
                  <a:srgbClr val="FF6B6B"/>
                </a:solidFill>
              </a:rPr>
              <a:t>AI Improvements</a:t>
            </a:r>
            <a:endParaRPr lang="en-US" sz="1350" dirty="0"/>
          </a:p>
        </p:txBody>
      </p:sp>
      <p:sp>
        <p:nvSpPr>
          <p:cNvPr id="33" name="Text 31"/>
          <p:cNvSpPr/>
          <p:nvPr/>
        </p:nvSpPr>
        <p:spPr>
          <a:xfrm>
            <a:off x="6345936" y="3064790"/>
            <a:ext cx="2560320" cy="914400"/>
          </a:xfrm>
          <a:prstGeom prst="rect">
            <a:avLst/>
          </a:prstGeom>
          <a:noFill/>
          <a:ln/>
        </p:spPr>
        <p:txBody>
          <a:bodyPr wrap="square" lIns="76200" tIns="76200" rIns="76200" bIns="76200" rtlCol="0" anchor="t"/>
          <a:lstStyle/>
          <a:p>
            <a:pPr marL="0" indent="0" algn="l">
              <a:buNone/>
            </a:pPr>
            <a:r>
              <a:rPr lang="en-US" sz="1150" dirty="0">
                <a:solidFill>
                  <a:srgbClr val="B8D0F0"/>
                </a:solidFill>
                <a:latin typeface="Calibri" pitchFamily="34" charset="0"/>
                <a:ea typeface="Calibri" pitchFamily="34" charset="-122"/>
                <a:cs typeface="Calibri" pitchFamily="34" charset="-120"/>
              </a:rPr>
              <a:t>Randomize liveness challenge sequences to prevent replay-based attacks, optimize models with TensorFlow Lite for faster inference, and add enterprise user roles and management features.</a:t>
            </a:r>
            <a:endParaRPr lang="en-US" sz="1150" dirty="0"/>
          </a:p>
        </p:txBody>
      </p:sp>
      <p:sp>
        <p:nvSpPr>
          <p:cNvPr id="34" name="Shape 32"/>
          <p:cNvSpPr/>
          <p:nvPr/>
        </p:nvSpPr>
        <p:spPr>
          <a:xfrm>
            <a:off x="6400800" y="4251960"/>
            <a:ext cx="2468880" cy="210312"/>
          </a:xfrm>
          <a:prstGeom prst="rect">
            <a:avLst/>
          </a:prstGeom>
          <a:solidFill>
            <a:srgbClr val="0A1E35"/>
          </a:solidFill>
          <a:ln w="12700">
            <a:solidFill>
              <a:srgbClr val="FF6B6B"/>
            </a:solidFill>
            <a:prstDash val="solid"/>
          </a:ln>
        </p:spPr>
      </p:sp>
      <p:sp>
        <p:nvSpPr>
          <p:cNvPr id="35" name="Text 33"/>
          <p:cNvSpPr/>
          <p:nvPr/>
        </p:nvSpPr>
        <p:spPr>
          <a:xfrm>
            <a:off x="6400800" y="4251960"/>
            <a:ext cx="2468880" cy="210312"/>
          </a:xfrm>
          <a:prstGeom prst="rect">
            <a:avLst/>
          </a:prstGeom>
          <a:noFill/>
          <a:ln/>
        </p:spPr>
        <p:txBody>
          <a:bodyPr wrap="square" lIns="0" tIns="0" rIns="0" bIns="0" rtlCol="0" anchor="ctr"/>
          <a:lstStyle/>
          <a:p>
            <a:pPr marL="0" indent="0" algn="ctr">
              <a:buNone/>
            </a:pPr>
            <a:r>
              <a:rPr lang="en-US" sz="1050" dirty="0">
                <a:solidFill>
                  <a:srgbClr val="FFFFFF"/>
                </a:solidFill>
              </a:rPr>
              <a:t>Randomized Challenges</a:t>
            </a:r>
            <a:endParaRPr lang="en-US" sz="1050" dirty="0"/>
          </a:p>
        </p:txBody>
      </p:sp>
      <p:sp>
        <p:nvSpPr>
          <p:cNvPr id="36" name="Shape 34"/>
          <p:cNvSpPr/>
          <p:nvPr/>
        </p:nvSpPr>
        <p:spPr>
          <a:xfrm>
            <a:off x="6400800" y="4489704"/>
            <a:ext cx="2468880" cy="210312"/>
          </a:xfrm>
          <a:prstGeom prst="rect">
            <a:avLst/>
          </a:prstGeom>
          <a:solidFill>
            <a:srgbClr val="0A1E35"/>
          </a:solidFill>
          <a:ln w="12700">
            <a:solidFill>
              <a:srgbClr val="FF6B6B"/>
            </a:solidFill>
            <a:prstDash val="solid"/>
          </a:ln>
        </p:spPr>
      </p:sp>
      <p:sp>
        <p:nvSpPr>
          <p:cNvPr id="37" name="Text 35"/>
          <p:cNvSpPr/>
          <p:nvPr/>
        </p:nvSpPr>
        <p:spPr>
          <a:xfrm>
            <a:off x="6400800" y="4489704"/>
            <a:ext cx="2468880" cy="210312"/>
          </a:xfrm>
          <a:prstGeom prst="rect">
            <a:avLst/>
          </a:prstGeom>
          <a:noFill/>
          <a:ln/>
        </p:spPr>
        <p:txBody>
          <a:bodyPr wrap="square" lIns="0" tIns="0" rIns="0" bIns="0" rtlCol="0" anchor="ctr"/>
          <a:lstStyle/>
          <a:p>
            <a:pPr marL="0" indent="0" algn="ctr">
              <a:buNone/>
            </a:pPr>
            <a:r>
              <a:rPr lang="en-US" sz="1050" dirty="0">
                <a:solidFill>
                  <a:srgbClr val="FFFFFF"/>
                </a:solidFill>
              </a:rPr>
              <a:t>TFLite Optimization</a:t>
            </a:r>
            <a:endParaRPr lang="en-US" sz="1050" dirty="0"/>
          </a:p>
        </p:txBody>
      </p:sp>
      <p:sp>
        <p:nvSpPr>
          <p:cNvPr id="38" name="Shape 36"/>
          <p:cNvSpPr/>
          <p:nvPr/>
        </p:nvSpPr>
        <p:spPr>
          <a:xfrm>
            <a:off x="6400800" y="4727448"/>
            <a:ext cx="2468880" cy="210312"/>
          </a:xfrm>
          <a:prstGeom prst="rect">
            <a:avLst/>
          </a:prstGeom>
          <a:solidFill>
            <a:srgbClr val="0A1E35"/>
          </a:solidFill>
          <a:ln w="12700">
            <a:solidFill>
              <a:srgbClr val="FF6B6B"/>
            </a:solidFill>
            <a:prstDash val="solid"/>
          </a:ln>
        </p:spPr>
      </p:sp>
      <p:sp>
        <p:nvSpPr>
          <p:cNvPr id="39" name="Text 37"/>
          <p:cNvSpPr/>
          <p:nvPr/>
        </p:nvSpPr>
        <p:spPr>
          <a:xfrm>
            <a:off x="6400800" y="4727448"/>
            <a:ext cx="2468880" cy="210312"/>
          </a:xfrm>
          <a:prstGeom prst="rect">
            <a:avLst/>
          </a:prstGeom>
          <a:noFill/>
          <a:ln/>
        </p:spPr>
        <p:txBody>
          <a:bodyPr wrap="square" lIns="0" tIns="0" rIns="0" bIns="0" rtlCol="0" anchor="ctr"/>
          <a:lstStyle/>
          <a:p>
            <a:pPr marL="0" indent="0" algn="ctr">
              <a:buNone/>
            </a:pPr>
            <a:r>
              <a:rPr lang="en-US" sz="1050" dirty="0">
                <a:solidFill>
                  <a:srgbClr val="FFFFFF"/>
                </a:solidFill>
              </a:rPr>
              <a:t>Enterprise Management</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548640" y="3108960"/>
            <a:ext cx="3108960" cy="3108960"/>
          </a:xfrm>
          <a:prstGeom prst="ellipse">
            <a:avLst/>
          </a:prstGeom>
          <a:solidFill>
            <a:srgbClr val="00D4AA">
              <a:alpha val="8000"/>
            </a:srgbClr>
          </a:solidFill>
          <a:ln w="12700">
            <a:solidFill>
              <a:srgbClr val="00D4AA">
                <a:alpha val="30000"/>
              </a:srgbClr>
            </a:solidFill>
            <a:prstDash val="solid"/>
          </a:ln>
        </p:spPr>
      </p:sp>
      <p:sp>
        <p:nvSpPr>
          <p:cNvPr id="3" name="Shape 1"/>
          <p:cNvSpPr/>
          <p:nvPr/>
        </p:nvSpPr>
        <p:spPr>
          <a:xfrm>
            <a:off x="7223760" y="-1005840"/>
            <a:ext cx="3108960" cy="3108960"/>
          </a:xfrm>
          <a:prstGeom prst="ellipse">
            <a:avLst/>
          </a:prstGeom>
          <a:solidFill>
            <a:srgbClr val="4A9EFF">
              <a:alpha val="8000"/>
            </a:srgbClr>
          </a:solidFill>
          <a:ln w="12700">
            <a:solidFill>
              <a:srgbClr val="4A9EFF">
                <a:alpha val="30000"/>
              </a:srgbClr>
            </a:solidFill>
            <a:prstDash val="solid"/>
          </a:ln>
        </p:spPr>
      </p:sp>
      <p:sp>
        <p:nvSpPr>
          <p:cNvPr id="4" name="Text 2"/>
          <p:cNvSpPr/>
          <p:nvPr/>
        </p:nvSpPr>
        <p:spPr>
          <a:xfrm>
            <a:off x="457200" y="384048"/>
            <a:ext cx="8229600" cy="822960"/>
          </a:xfrm>
          <a:prstGeom prst="rect">
            <a:avLst/>
          </a:prstGeom>
          <a:noFill/>
          <a:ln/>
        </p:spPr>
        <p:txBody>
          <a:bodyPr wrap="square" lIns="0" tIns="0" rIns="0" bIns="0" rtlCol="0" anchor="ctr"/>
          <a:lstStyle/>
          <a:p>
            <a:pPr marL="0" indent="0" algn="ctr">
              <a:buNone/>
            </a:pPr>
            <a:r>
              <a:rPr lang="en-US" sz="4600" b="1" dirty="0">
                <a:solidFill>
                  <a:srgbClr val="FFFFFF"/>
                </a:solidFill>
                <a:latin typeface="Calibri" pitchFamily="34" charset="0"/>
                <a:ea typeface="Calibri" pitchFamily="34" charset="-122"/>
                <a:cs typeface="Calibri" pitchFamily="34" charset="-120"/>
              </a:rPr>
              <a:t>Datalake 3.0</a:t>
            </a:r>
            <a:endParaRPr lang="en-US" sz="4600" dirty="0"/>
          </a:p>
        </p:txBody>
      </p:sp>
      <p:sp>
        <p:nvSpPr>
          <p:cNvPr id="5" name="Text 3"/>
          <p:cNvSpPr/>
          <p:nvPr/>
        </p:nvSpPr>
        <p:spPr>
          <a:xfrm>
            <a:off x="457200" y="1188720"/>
            <a:ext cx="8229600" cy="329184"/>
          </a:xfrm>
          <a:prstGeom prst="rect">
            <a:avLst/>
          </a:prstGeom>
          <a:noFill/>
          <a:ln/>
        </p:spPr>
        <p:txBody>
          <a:bodyPr wrap="square" lIns="0" tIns="0" rIns="0" bIns="0" rtlCol="0" anchor="ctr"/>
          <a:lstStyle/>
          <a:p>
            <a:pPr marL="0" indent="0" algn="ctr">
              <a:buNone/>
            </a:pPr>
            <a:r>
              <a:rPr lang="en-US" sz="1600" dirty="0">
                <a:solidFill>
                  <a:srgbClr val="00D4AA"/>
                </a:solidFill>
              </a:rPr>
              <a:t>An offline-first facial authentication platform</a:t>
            </a:r>
            <a:endParaRPr lang="en-US" sz="1600" dirty="0"/>
          </a:p>
        </p:txBody>
      </p:sp>
      <p:sp>
        <p:nvSpPr>
          <p:cNvPr id="6" name="Shape 4"/>
          <p:cNvSpPr/>
          <p:nvPr/>
        </p:nvSpPr>
        <p:spPr>
          <a:xfrm>
            <a:off x="1097280" y="1664208"/>
            <a:ext cx="6949440" cy="804672"/>
          </a:xfrm>
          <a:prstGeom prst="rect">
            <a:avLst/>
          </a:prstGeom>
          <a:solidFill>
            <a:srgbClr val="162B4A"/>
          </a:solidFill>
          <a:ln w="12700">
            <a:solidFill>
              <a:srgbClr val="1E3A5F"/>
            </a:solidFill>
            <a:prstDash val="solid"/>
          </a:ln>
          <a:effectLst>
            <a:outerShdw blurRad="101600" dist="25400" dir="8100000" algn="bl" rotWithShape="0">
              <a:srgbClr val="000000">
                <a:alpha val="30000"/>
              </a:srgbClr>
            </a:outerShdw>
          </a:effectLst>
        </p:spPr>
      </p:sp>
      <p:sp>
        <p:nvSpPr>
          <p:cNvPr id="7" name="Text 5"/>
          <p:cNvSpPr/>
          <p:nvPr/>
        </p:nvSpPr>
        <p:spPr>
          <a:xfrm>
            <a:off x="1170432" y="1639332"/>
            <a:ext cx="6821424" cy="731520"/>
          </a:xfrm>
          <a:prstGeom prst="rect">
            <a:avLst/>
          </a:prstGeom>
          <a:noFill/>
          <a:ln/>
        </p:spPr>
        <p:txBody>
          <a:bodyPr wrap="square" lIns="76200" tIns="76200" rIns="76200" bIns="76200" rtlCol="0" anchor="t"/>
          <a:lstStyle/>
          <a:p>
            <a:pPr marL="0" indent="0" algn="l">
              <a:buNone/>
            </a:pPr>
            <a:r>
              <a:rPr lang="en-US" sz="1150" dirty="0">
                <a:solidFill>
                  <a:srgbClr val="C8DCF5"/>
                </a:solidFill>
                <a:latin typeface="Calibri" pitchFamily="34" charset="0"/>
                <a:ea typeface="Calibri" pitchFamily="34" charset="-122"/>
                <a:cs typeface="Calibri" pitchFamily="34" charset="-120"/>
              </a:rPr>
              <a:t>Datalake 3.0 proves that robust, multi-factor biometric authentication does not require cloud infrastructure. By combining face recognition, real-time liveness detection, encrypted local storage, and a tamper-evident audit trail, it delivers enterprise-grade security for zero-network environments — from remote industrial sites to disaster recovery operations.</a:t>
            </a:r>
            <a:endParaRPr lang="en-US" sz="1150" dirty="0"/>
          </a:p>
        </p:txBody>
      </p:sp>
      <p:sp>
        <p:nvSpPr>
          <p:cNvPr id="8" name="Shape 6"/>
          <p:cNvSpPr/>
          <p:nvPr/>
        </p:nvSpPr>
        <p:spPr>
          <a:xfrm>
            <a:off x="1188720" y="2633472"/>
            <a:ext cx="2148840" cy="274320"/>
          </a:xfrm>
          <a:prstGeom prst="roundRect">
            <a:avLst>
              <a:gd name="adj" fmla="val 23333"/>
            </a:avLst>
          </a:prstGeom>
          <a:solidFill>
            <a:srgbClr val="00D4AA"/>
          </a:solidFill>
          <a:ln w="12700">
            <a:solidFill>
              <a:srgbClr val="00D4AA"/>
            </a:solidFill>
            <a:prstDash val="solid"/>
          </a:ln>
        </p:spPr>
      </p:sp>
      <p:sp>
        <p:nvSpPr>
          <p:cNvPr id="9" name="Text 7"/>
          <p:cNvSpPr/>
          <p:nvPr/>
        </p:nvSpPr>
        <p:spPr>
          <a:xfrm>
            <a:off x="1188720" y="2633472"/>
            <a:ext cx="2148840" cy="274320"/>
          </a:xfrm>
          <a:prstGeom prst="rect">
            <a:avLst/>
          </a:prstGeom>
          <a:noFill/>
          <a:ln/>
        </p:spPr>
        <p:txBody>
          <a:bodyPr wrap="square" lIns="0" tIns="0" rIns="0" bIns="0" rtlCol="0" anchor="ctr"/>
          <a:lstStyle/>
          <a:p>
            <a:pPr marL="0" indent="0" algn="ctr">
              <a:buNone/>
            </a:pPr>
            <a:r>
              <a:rPr lang="en-US" sz="950" b="1" dirty="0">
                <a:solidFill>
                  <a:srgbClr val="0A1628"/>
                </a:solidFill>
              </a:rPr>
              <a:t>Face Recognition</a:t>
            </a:r>
            <a:endParaRPr lang="en-US" sz="950" dirty="0"/>
          </a:p>
        </p:txBody>
      </p:sp>
      <p:sp>
        <p:nvSpPr>
          <p:cNvPr id="10" name="Shape 8"/>
          <p:cNvSpPr/>
          <p:nvPr/>
        </p:nvSpPr>
        <p:spPr>
          <a:xfrm>
            <a:off x="3520440" y="2633472"/>
            <a:ext cx="2148840" cy="274320"/>
          </a:xfrm>
          <a:prstGeom prst="roundRect">
            <a:avLst>
              <a:gd name="adj" fmla="val 23333"/>
            </a:avLst>
          </a:prstGeom>
          <a:solidFill>
            <a:srgbClr val="4A9EFF"/>
          </a:solidFill>
          <a:ln w="12700">
            <a:solidFill>
              <a:srgbClr val="4A9EFF"/>
            </a:solidFill>
            <a:prstDash val="solid"/>
          </a:ln>
        </p:spPr>
      </p:sp>
      <p:sp>
        <p:nvSpPr>
          <p:cNvPr id="11" name="Text 9"/>
          <p:cNvSpPr/>
          <p:nvPr/>
        </p:nvSpPr>
        <p:spPr>
          <a:xfrm>
            <a:off x="3520440" y="2633472"/>
            <a:ext cx="2148840" cy="274320"/>
          </a:xfrm>
          <a:prstGeom prst="rect">
            <a:avLst/>
          </a:prstGeom>
          <a:noFill/>
          <a:ln/>
        </p:spPr>
        <p:txBody>
          <a:bodyPr wrap="square" lIns="0" tIns="0" rIns="0" bIns="0" rtlCol="0" anchor="ctr"/>
          <a:lstStyle/>
          <a:p>
            <a:pPr marL="0" indent="0" algn="ctr">
              <a:buNone/>
            </a:pPr>
            <a:r>
              <a:rPr lang="en-US" sz="950" b="1" dirty="0">
                <a:solidFill>
                  <a:srgbClr val="0A1628"/>
                </a:solidFill>
              </a:rPr>
              <a:t>Liveness Detection</a:t>
            </a:r>
            <a:endParaRPr lang="en-US" sz="950" dirty="0"/>
          </a:p>
        </p:txBody>
      </p:sp>
      <p:sp>
        <p:nvSpPr>
          <p:cNvPr id="12" name="Shape 10"/>
          <p:cNvSpPr/>
          <p:nvPr/>
        </p:nvSpPr>
        <p:spPr>
          <a:xfrm>
            <a:off x="5852160" y="2633472"/>
            <a:ext cx="2148840" cy="274320"/>
          </a:xfrm>
          <a:prstGeom prst="roundRect">
            <a:avLst>
              <a:gd name="adj" fmla="val 23333"/>
            </a:avLst>
          </a:prstGeom>
          <a:solidFill>
            <a:srgbClr val="00D4AA"/>
          </a:solidFill>
          <a:ln w="12700">
            <a:solidFill>
              <a:srgbClr val="00D4AA"/>
            </a:solidFill>
            <a:prstDash val="solid"/>
          </a:ln>
        </p:spPr>
      </p:sp>
      <p:sp>
        <p:nvSpPr>
          <p:cNvPr id="13" name="Text 11"/>
          <p:cNvSpPr/>
          <p:nvPr/>
        </p:nvSpPr>
        <p:spPr>
          <a:xfrm>
            <a:off x="5852160" y="2633472"/>
            <a:ext cx="2148840" cy="274320"/>
          </a:xfrm>
          <a:prstGeom prst="rect">
            <a:avLst/>
          </a:prstGeom>
          <a:noFill/>
          <a:ln/>
        </p:spPr>
        <p:txBody>
          <a:bodyPr wrap="square" lIns="0" tIns="0" rIns="0" bIns="0" rtlCol="0" anchor="ctr"/>
          <a:lstStyle/>
          <a:p>
            <a:pPr marL="0" indent="0" algn="ctr">
              <a:buNone/>
            </a:pPr>
            <a:r>
              <a:rPr lang="en-US" sz="950" b="1" dirty="0">
                <a:solidFill>
                  <a:srgbClr val="0A1628"/>
                </a:solidFill>
              </a:rPr>
              <a:t>Attendance Management</a:t>
            </a:r>
            <a:endParaRPr lang="en-US" sz="950" dirty="0"/>
          </a:p>
        </p:txBody>
      </p:sp>
      <p:sp>
        <p:nvSpPr>
          <p:cNvPr id="14" name="Shape 12"/>
          <p:cNvSpPr/>
          <p:nvPr/>
        </p:nvSpPr>
        <p:spPr>
          <a:xfrm>
            <a:off x="1188720" y="3044952"/>
            <a:ext cx="2148840" cy="274320"/>
          </a:xfrm>
          <a:prstGeom prst="roundRect">
            <a:avLst>
              <a:gd name="adj" fmla="val 23333"/>
            </a:avLst>
          </a:prstGeom>
          <a:solidFill>
            <a:srgbClr val="4A9EFF"/>
          </a:solidFill>
          <a:ln w="12700">
            <a:solidFill>
              <a:srgbClr val="4A9EFF"/>
            </a:solidFill>
            <a:prstDash val="solid"/>
          </a:ln>
        </p:spPr>
      </p:sp>
      <p:sp>
        <p:nvSpPr>
          <p:cNvPr id="15" name="Text 13"/>
          <p:cNvSpPr/>
          <p:nvPr/>
        </p:nvSpPr>
        <p:spPr>
          <a:xfrm>
            <a:off x="1188720" y="3044952"/>
            <a:ext cx="2148840" cy="274320"/>
          </a:xfrm>
          <a:prstGeom prst="rect">
            <a:avLst/>
          </a:prstGeom>
          <a:noFill/>
          <a:ln/>
        </p:spPr>
        <p:txBody>
          <a:bodyPr wrap="square" lIns="0" tIns="0" rIns="0" bIns="0" rtlCol="0" anchor="ctr"/>
          <a:lstStyle/>
          <a:p>
            <a:pPr marL="0" indent="0" algn="ctr">
              <a:buNone/>
            </a:pPr>
            <a:r>
              <a:rPr lang="en-US" sz="950" b="1" dirty="0">
                <a:solidFill>
                  <a:srgbClr val="0A1628"/>
                </a:solidFill>
              </a:rPr>
              <a:t>Secure Vault</a:t>
            </a:r>
            <a:endParaRPr lang="en-US" sz="950" dirty="0"/>
          </a:p>
        </p:txBody>
      </p:sp>
      <p:sp>
        <p:nvSpPr>
          <p:cNvPr id="16" name="Shape 14"/>
          <p:cNvSpPr/>
          <p:nvPr/>
        </p:nvSpPr>
        <p:spPr>
          <a:xfrm>
            <a:off x="3520440" y="3044952"/>
            <a:ext cx="2148840" cy="274320"/>
          </a:xfrm>
          <a:prstGeom prst="roundRect">
            <a:avLst>
              <a:gd name="adj" fmla="val 23333"/>
            </a:avLst>
          </a:prstGeom>
          <a:solidFill>
            <a:srgbClr val="00D4AA"/>
          </a:solidFill>
          <a:ln w="12700">
            <a:solidFill>
              <a:srgbClr val="00D4AA"/>
            </a:solidFill>
            <a:prstDash val="solid"/>
          </a:ln>
        </p:spPr>
      </p:sp>
      <p:sp>
        <p:nvSpPr>
          <p:cNvPr id="17" name="Text 15"/>
          <p:cNvSpPr/>
          <p:nvPr/>
        </p:nvSpPr>
        <p:spPr>
          <a:xfrm>
            <a:off x="3520440" y="3044952"/>
            <a:ext cx="2148840" cy="274320"/>
          </a:xfrm>
          <a:prstGeom prst="rect">
            <a:avLst/>
          </a:prstGeom>
          <a:noFill/>
          <a:ln/>
        </p:spPr>
        <p:txBody>
          <a:bodyPr wrap="square" lIns="0" tIns="0" rIns="0" bIns="0" rtlCol="0" anchor="ctr"/>
          <a:lstStyle/>
          <a:p>
            <a:pPr marL="0" indent="0" algn="ctr">
              <a:buNone/>
            </a:pPr>
            <a:r>
              <a:rPr lang="en-US" sz="950" b="1" dirty="0">
                <a:solidFill>
                  <a:srgbClr val="0A1628"/>
                </a:solidFill>
              </a:rPr>
              <a:t>Audit Logging</a:t>
            </a:r>
            <a:endParaRPr lang="en-US" sz="950" dirty="0"/>
          </a:p>
        </p:txBody>
      </p:sp>
      <p:sp>
        <p:nvSpPr>
          <p:cNvPr id="18" name="Shape 16"/>
          <p:cNvSpPr/>
          <p:nvPr/>
        </p:nvSpPr>
        <p:spPr>
          <a:xfrm>
            <a:off x="5852160" y="3044952"/>
            <a:ext cx="2148840" cy="274320"/>
          </a:xfrm>
          <a:prstGeom prst="roundRect">
            <a:avLst>
              <a:gd name="adj" fmla="val 23333"/>
            </a:avLst>
          </a:prstGeom>
          <a:solidFill>
            <a:srgbClr val="4A9EFF"/>
          </a:solidFill>
          <a:ln w="12700">
            <a:solidFill>
              <a:srgbClr val="4A9EFF"/>
            </a:solidFill>
            <a:prstDash val="solid"/>
          </a:ln>
        </p:spPr>
      </p:sp>
      <p:sp>
        <p:nvSpPr>
          <p:cNvPr id="19" name="Text 17"/>
          <p:cNvSpPr/>
          <p:nvPr/>
        </p:nvSpPr>
        <p:spPr>
          <a:xfrm>
            <a:off x="5852160" y="3044952"/>
            <a:ext cx="2148840" cy="274320"/>
          </a:xfrm>
          <a:prstGeom prst="rect">
            <a:avLst/>
          </a:prstGeom>
          <a:noFill/>
          <a:ln/>
        </p:spPr>
        <p:txBody>
          <a:bodyPr wrap="square" lIns="0" tIns="0" rIns="0" bIns="0" rtlCol="0" anchor="ctr"/>
          <a:lstStyle/>
          <a:p>
            <a:pPr marL="0" indent="0" algn="ctr">
              <a:buNone/>
            </a:pPr>
            <a:r>
              <a:rPr lang="en-US" sz="950" b="1" dirty="0">
                <a:solidFill>
                  <a:srgbClr val="0A1628"/>
                </a:solidFill>
              </a:rPr>
              <a:t>AWS-Ready Sync</a:t>
            </a:r>
            <a:endParaRPr lang="en-US" sz="950" dirty="0"/>
          </a:p>
        </p:txBody>
      </p:sp>
      <p:sp>
        <p:nvSpPr>
          <p:cNvPr id="20" name="Shape 18"/>
          <p:cNvSpPr/>
          <p:nvPr/>
        </p:nvSpPr>
        <p:spPr>
          <a:xfrm>
            <a:off x="1645920" y="3547872"/>
            <a:ext cx="5852160" cy="45720"/>
          </a:xfrm>
          <a:prstGeom prst="rect">
            <a:avLst/>
          </a:prstGeom>
          <a:solidFill>
            <a:srgbClr val="00D4AA">
              <a:alpha val="45000"/>
            </a:srgbClr>
          </a:solidFill>
          <a:ln w="12700">
            <a:solidFill>
              <a:srgbClr val="00D4AA"/>
            </a:solidFill>
            <a:prstDash val="solid"/>
          </a:ln>
        </p:spPr>
      </p:sp>
      <p:sp>
        <p:nvSpPr>
          <p:cNvPr id="21" name="Text 19"/>
          <p:cNvSpPr/>
          <p:nvPr/>
        </p:nvSpPr>
        <p:spPr>
          <a:xfrm>
            <a:off x="457200" y="3703320"/>
            <a:ext cx="8229600" cy="68580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Thank You</a:t>
            </a:r>
            <a:endParaRPr lang="en-US" sz="4000" dirty="0"/>
          </a:p>
        </p:txBody>
      </p:sp>
      <p:sp>
        <p:nvSpPr>
          <p:cNvPr id="22" name="Text 20"/>
          <p:cNvSpPr/>
          <p:nvPr/>
        </p:nvSpPr>
        <p:spPr>
          <a:xfrm>
            <a:off x="457200" y="4407408"/>
            <a:ext cx="8229600" cy="329184"/>
          </a:xfrm>
          <a:prstGeom prst="rect">
            <a:avLst/>
          </a:prstGeom>
          <a:noFill/>
          <a:ln/>
        </p:spPr>
        <p:txBody>
          <a:bodyPr wrap="square" lIns="0" tIns="0" rIns="0" bIns="0" rtlCol="0" anchor="ctr"/>
          <a:lstStyle/>
          <a:p>
            <a:pPr marL="0" indent="0" algn="ctr">
              <a:buNone/>
            </a:pPr>
            <a:r>
              <a:rPr lang="en-US" sz="1350" i="1" dirty="0">
                <a:solidFill>
                  <a:srgbClr val="6B8BB0"/>
                </a:solidFill>
              </a:rPr>
              <a:t>"Secure Authentication in Zero-Network Environments"</a:t>
            </a:r>
            <a:endParaRPr lang="en-US" sz="1350" dirty="0"/>
          </a:p>
        </p:txBody>
      </p:sp>
      <p:sp>
        <p:nvSpPr>
          <p:cNvPr id="23" name="Text 21"/>
          <p:cNvSpPr/>
          <p:nvPr/>
        </p:nvSpPr>
        <p:spPr>
          <a:xfrm>
            <a:off x="457200" y="4754880"/>
            <a:ext cx="8229600" cy="274320"/>
          </a:xfrm>
          <a:prstGeom prst="rect">
            <a:avLst/>
          </a:prstGeom>
          <a:noFill/>
          <a:ln/>
        </p:spPr>
        <p:txBody>
          <a:bodyPr wrap="square" lIns="0" tIns="0" rIns="0" bIns="0" rtlCol="0" anchor="ctr"/>
          <a:lstStyle/>
          <a:p>
            <a:pPr marL="0" indent="0" algn="ctr">
              <a:buNone/>
            </a:pPr>
            <a:r>
              <a:rPr lang="en-US" sz="1150" dirty="0">
                <a:solidFill>
                  <a:srgbClr val="6B8BB0"/>
                </a:solidFill>
              </a:rPr>
              <a:t>Hackathon 7.0  •  Datalake 3.0 Team</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TotalTime>
  <Words>1797</Words>
  <Application>Microsoft Office PowerPoint</Application>
  <PresentationFormat>On-screen Show (16:9)</PresentationFormat>
  <Paragraphs>291</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Datalake 3.0 – Offline Facial Recognition &amp; Liveness Detection</dc:title>
  <dc:subject>PptxGenJS Presentation</dc:subject>
  <dc:creator>PptxGenJS</dc:creator>
  <cp:lastModifiedBy>HASINI V-[BL.SC.U4CSE24221]</cp:lastModifiedBy>
  <cp:revision>14</cp:revision>
  <dcterms:created xsi:type="dcterms:W3CDTF">2026-06-05T07:44:15Z</dcterms:created>
  <dcterms:modified xsi:type="dcterms:W3CDTF">2026-06-05T10:02:53Z</dcterms:modified>
</cp:coreProperties>
</file>